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40" r:id="rId83"/>
    <p:sldId id="341" r:id="rId84"/>
    <p:sldId id="342" r:id="rId85"/>
    <p:sldId id="343" r:id="rId86"/>
    <p:sldId id="348" r:id="rId87"/>
    <p:sldId id="349" r:id="rId88"/>
    <p:sldId id="344" r:id="rId89"/>
    <p:sldId id="345" r:id="rId90"/>
    <p:sldId id="346" r:id="rId91"/>
    <p:sldId id="347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89" r:id="rId132"/>
    <p:sldId id="390" r:id="rId133"/>
    <p:sldId id="391" r:id="rId134"/>
    <p:sldId id="392" r:id="rId135"/>
    <p:sldId id="394" r:id="rId136"/>
    <p:sldId id="395" r:id="rId137"/>
    <p:sldId id="396" r:id="rId138"/>
    <p:sldId id="397" r:id="rId139"/>
    <p:sldId id="398" r:id="rId140"/>
    <p:sldId id="399" r:id="rId141"/>
    <p:sldId id="400" r:id="rId142"/>
    <p:sldId id="401" r:id="rId143"/>
    <p:sldId id="402" r:id="rId144"/>
    <p:sldId id="403" r:id="rId145"/>
    <p:sldId id="404" r:id="rId146"/>
    <p:sldId id="405" r:id="rId147"/>
    <p:sldId id="406" r:id="rId148"/>
    <p:sldId id="407" r:id="rId149"/>
    <p:sldId id="408" r:id="rId150"/>
    <p:sldId id="409" r:id="rId151"/>
    <p:sldId id="410" r:id="rId152"/>
    <p:sldId id="411" r:id="rId153"/>
    <p:sldId id="412" r:id="rId154"/>
    <p:sldId id="413" r:id="rId155"/>
    <p:sldId id="414" r:id="rId156"/>
    <p:sldId id="415" r:id="rId157"/>
    <p:sldId id="417" r:id="rId158"/>
    <p:sldId id="418" r:id="rId159"/>
    <p:sldId id="416" r:id="rId160"/>
    <p:sldId id="419" r:id="rId161"/>
    <p:sldId id="420" r:id="rId162"/>
    <p:sldId id="422" r:id="rId163"/>
    <p:sldId id="421" r:id="rId164"/>
    <p:sldId id="423" r:id="rId165"/>
    <p:sldId id="424" r:id="rId166"/>
    <p:sldId id="425" r:id="rId167"/>
    <p:sldId id="426" r:id="rId168"/>
    <p:sldId id="427" r:id="rId169"/>
    <p:sldId id="428" r:id="rId170"/>
    <p:sldId id="429" r:id="rId171"/>
    <p:sldId id="430" r:id="rId172"/>
    <p:sldId id="431" r:id="rId173"/>
    <p:sldId id="432" r:id="rId174"/>
    <p:sldId id="433" r:id="rId175"/>
    <p:sldId id="434" r:id="rId176"/>
    <p:sldId id="435" r:id="rId177"/>
    <p:sldId id="436" r:id="rId178"/>
    <p:sldId id="437" r:id="rId179"/>
    <p:sldId id="438" r:id="rId180"/>
    <p:sldId id="439" r:id="rId181"/>
    <p:sldId id="440" r:id="rId182"/>
    <p:sldId id="441" r:id="rId183"/>
    <p:sldId id="442" r:id="rId184"/>
    <p:sldId id="443" r:id="rId185"/>
    <p:sldId id="444" r:id="rId186"/>
    <p:sldId id="445" r:id="rId187"/>
    <p:sldId id="446" r:id="rId188"/>
    <p:sldId id="447" r:id="rId189"/>
    <p:sldId id="448" r:id="rId190"/>
    <p:sldId id="449" r:id="rId191"/>
    <p:sldId id="450" r:id="rId192"/>
    <p:sldId id="451" r:id="rId193"/>
    <p:sldId id="452" r:id="rId194"/>
    <p:sldId id="453" r:id="rId195"/>
    <p:sldId id="454" r:id="rId196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4660"/>
  </p:normalViewPr>
  <p:slideViewPr>
    <p:cSldViewPr snapToGrid="0">
      <p:cViewPr varScale="1">
        <p:scale>
          <a:sx n="93" d="100"/>
          <a:sy n="93" d="100"/>
        </p:scale>
        <p:origin x="6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viewProps" Target="view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AD444CC-39C9-4318-A44A-B896ABC58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CF6CFA7-8367-428D-8C9D-1A3D433E2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329CEC7-AE0A-44A9-B933-07218D16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37C4765-FF37-4599-A5FA-102B32FA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341F93B8-4443-4864-872A-9E8FC64D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0489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68619BD-70A2-4E3D-A9EC-B30EC2A9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1BF14AF-268C-44AE-8ADA-5F636E007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6634894-7088-43FD-9FF5-54CEB6BD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4FEAEE3-D842-4251-BF48-70E094C3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31C2339-7998-4415-8C6C-C91B462A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4898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A6A10F5-5A2F-4B64-ABE4-F62D565A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D8C36533-E78C-4B3C-8712-ACEC713E9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93E66B86-0CE0-4CB6-B1E8-898FEF5F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59A2231-AB0A-4505-882A-0D3880EA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13916E71-A7C6-4824-ADFA-AA9F387C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339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97E2485-C013-4037-8209-FF66A625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6CCF36F3-B8AA-4297-8C6B-8DDB95574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9BD1B638-4513-4C0B-986E-24A5EEBBC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2C420DD6-99E6-411D-BE9B-E1C25E09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355C03DA-AA48-4C9F-8B58-7D343B62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5D5EF92C-94F5-49B7-B129-6770792D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5155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732205A-DE2A-4786-A224-E5BDB500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E66D7250-88AA-45B8-A79C-BFC74D61F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B946EB6F-C277-4FDC-BA57-C6D9B3363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EA4B6A98-E6A9-4634-AA45-F8772A392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798B15DE-5ABC-4CDC-BE7A-8FCDBFEE9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BD06EE27-176A-41AC-BCB4-7D2A21F0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211081B8-3AE5-4CBE-AF7F-2AF0C1AF3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6EA8D4FA-BF82-4A89-9FB8-33B36E54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1409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04A1957-2B14-4426-A73E-0205ECC6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61E8D67A-4AD3-4666-B066-B950E3EA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880397EE-214C-4138-8F97-03E52FE83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E10840F5-A1EC-495A-B9F6-1B632DC0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4103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8C7A7386-E918-4A89-B466-FA6B992B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253E5FA1-6420-4BBC-9402-1B3553BE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EB6D2143-567B-42A9-832D-2C95D52F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1228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B571B5-28FD-49DA-99CA-D707485C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C32FD43-37E6-4E83-96F2-C654DFFE9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2BC47782-AB20-4B36-B4CB-6A05ACB80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A4FEE96A-D4FD-4602-812D-DC950F2C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6EA412E2-998B-4FE5-BD02-F19438EE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DED10DFB-9BC6-4D69-A696-7EDFE59D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18687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58A3768-1D92-4F2B-826E-E7207FC8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18E5282D-A889-4047-AFC2-1A6B85433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9D5471AE-74F4-4B8A-9805-64F566611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F04F45AB-68CA-4C8B-844E-52E239BC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0EE804DF-F54E-43CA-81C5-3D1F9A68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07826F2-B1AC-4C46-81CE-F97F15A3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7496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E45140B-6584-4684-8C10-8641062D3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472471B-01E3-41DE-A133-970A22BF4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EC8AA06-B0F8-44F0-B8BF-52D73E7C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3909FD8-68DF-47B3-99B6-061C464B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35A530ED-7EBC-4223-94FF-0CAA41DC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9047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DF673CDA-9878-49DB-9A83-E6A1EC256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1E2A4BD1-CE63-4949-B6C0-E9169D0FE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99BBFA38-6A62-46D3-8E19-B3228FFB9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B70D30ED-A145-4D5E-B909-BA1C2708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0F54C75-BD58-4A30-82C8-482AB97E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85664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B0798258-21CF-4ABC-8AE9-F12FAEF9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4663FA2-B23D-40A3-82E2-135E2DD9C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0DCEA17-4AED-488E-9DD9-2F6D74F5B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06B96-47BD-4A2F-AD12-1D4B02055209}" type="datetimeFigureOut">
              <a:rPr lang="sl-SI" smtClean="0"/>
              <a:t>1. 09. 2026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0861027-AEB2-4528-AF06-6F36E1266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E4A5236-F1F6-4E0C-8F8F-16F3EFD84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0C65D-5BB3-438C-8FA2-053C91B285A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4621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8C1BCA-247F-4480-B78C-924FEBA5C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605FF4B-76B3-40CC-8EF9-AE86238EA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4655" y="993913"/>
            <a:ext cx="4013877" cy="4021637"/>
          </a:xfrm>
        </p:spPr>
        <p:txBody>
          <a:bodyPr>
            <a:normAutofit/>
          </a:bodyPr>
          <a:lstStyle/>
          <a:p>
            <a:pPr algn="l"/>
            <a:r>
              <a:rPr lang="sl-SI" sz="6800"/>
              <a:t>Spoznajmo Python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F8D30F62-646C-4EAE-8F70-4727C2583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4" y="5015551"/>
            <a:ext cx="4013872" cy="1069441"/>
          </a:xfrm>
        </p:spPr>
        <p:txBody>
          <a:bodyPr anchor="t">
            <a:normAutofit/>
          </a:bodyPr>
          <a:lstStyle/>
          <a:p>
            <a:pPr algn="l"/>
            <a:r>
              <a:rPr lang="sl-SI"/>
              <a:t>Predavatelj: </a:t>
            </a:r>
            <a:r>
              <a:rPr lang="sl-SI" dirty="0"/>
              <a:t>Boštjan Lubej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8E37057-BDB6-4452-836A-27973D54F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71106" cy="4631426"/>
          </a:xfrm>
          <a:custGeom>
            <a:avLst/>
            <a:gdLst>
              <a:gd name="connsiteX0" fmla="*/ 0 w 5471106"/>
              <a:gd name="connsiteY0" fmla="*/ 3301451 h 4631426"/>
              <a:gd name="connsiteX1" fmla="*/ 125703 w 5471106"/>
              <a:gd name="connsiteY1" fmla="*/ 3469551 h 4631426"/>
              <a:gd name="connsiteX2" fmla="*/ 584138 w 5471106"/>
              <a:gd name="connsiteY2" fmla="*/ 3917166 h 4631426"/>
              <a:gd name="connsiteX3" fmla="*/ 716463 w 5471106"/>
              <a:gd name="connsiteY3" fmla="*/ 4010064 h 4631426"/>
              <a:gd name="connsiteX4" fmla="*/ 705202 w 5471106"/>
              <a:gd name="connsiteY4" fmla="*/ 4016176 h 4631426"/>
              <a:gd name="connsiteX5" fmla="*/ 671370 w 5471106"/>
              <a:gd name="connsiteY5" fmla="*/ 4044091 h 4631426"/>
              <a:gd name="connsiteX6" fmla="*/ 656526 w 5471106"/>
              <a:gd name="connsiteY6" fmla="*/ 4066106 h 4631426"/>
              <a:gd name="connsiteX7" fmla="*/ 534490 w 5471106"/>
              <a:gd name="connsiteY7" fmla="*/ 3980431 h 4631426"/>
              <a:gd name="connsiteX8" fmla="*/ 63650 w 5471106"/>
              <a:gd name="connsiteY8" fmla="*/ 3520703 h 4631426"/>
              <a:gd name="connsiteX9" fmla="*/ 0 w 5471106"/>
              <a:gd name="connsiteY9" fmla="*/ 3435586 h 4631426"/>
              <a:gd name="connsiteX10" fmla="*/ 4933182 w 5471106"/>
              <a:gd name="connsiteY10" fmla="*/ 0 h 4631426"/>
              <a:gd name="connsiteX11" fmla="*/ 5027180 w 5471106"/>
              <a:gd name="connsiteY11" fmla="*/ 0 h 4631426"/>
              <a:gd name="connsiteX12" fmla="*/ 5102720 w 5471106"/>
              <a:gd name="connsiteY12" fmla="*/ 124342 h 4631426"/>
              <a:gd name="connsiteX13" fmla="*/ 5471106 w 5471106"/>
              <a:gd name="connsiteY13" fmla="*/ 1579210 h 4631426"/>
              <a:gd name="connsiteX14" fmla="*/ 2418889 w 5471106"/>
              <a:gd name="connsiteY14" fmla="*/ 4631426 h 4631426"/>
              <a:gd name="connsiteX15" fmla="*/ 1095627 w 5471106"/>
              <a:gd name="connsiteY15" fmla="*/ 4330445 h 4631426"/>
              <a:gd name="connsiteX16" fmla="*/ 1039194 w 5471106"/>
              <a:gd name="connsiteY16" fmla="*/ 4301325 h 4631426"/>
              <a:gd name="connsiteX17" fmla="*/ 1043650 w 5471106"/>
              <a:gd name="connsiteY17" fmla="*/ 4294717 h 4631426"/>
              <a:gd name="connsiteX18" fmla="*/ 1056970 w 5471106"/>
              <a:gd name="connsiteY18" fmla="*/ 4251806 h 4631426"/>
              <a:gd name="connsiteX19" fmla="*/ 1060016 w 5471106"/>
              <a:gd name="connsiteY19" fmla="*/ 4221593 h 4631426"/>
              <a:gd name="connsiteX20" fmla="*/ 1130491 w 5471106"/>
              <a:gd name="connsiteY20" fmla="*/ 4257958 h 4631426"/>
              <a:gd name="connsiteX21" fmla="*/ 2418889 w 5471106"/>
              <a:gd name="connsiteY21" fmla="*/ 4551009 h 4631426"/>
              <a:gd name="connsiteX22" fmla="*/ 5390689 w 5471106"/>
              <a:gd name="connsiteY22" fmla="*/ 1579210 h 4631426"/>
              <a:gd name="connsiteX23" fmla="*/ 5032009 w 5471106"/>
              <a:gd name="connsiteY23" fmla="*/ 162673 h 463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471106" h="4631426">
                <a:moveTo>
                  <a:pt x="0" y="3301451"/>
                </a:moveTo>
                <a:lnTo>
                  <a:pt x="125703" y="3469551"/>
                </a:lnTo>
                <a:cubicBezTo>
                  <a:pt x="261971" y="3634670"/>
                  <a:pt x="415728" y="3784820"/>
                  <a:pt x="584138" y="3917166"/>
                </a:cubicBezTo>
                <a:lnTo>
                  <a:pt x="716463" y="4010064"/>
                </a:lnTo>
                <a:lnTo>
                  <a:pt x="705202" y="4016176"/>
                </a:lnTo>
                <a:cubicBezTo>
                  <a:pt x="693040" y="4024393"/>
                  <a:pt x="681712" y="4033748"/>
                  <a:pt x="671370" y="4044091"/>
                </a:cubicBezTo>
                <a:lnTo>
                  <a:pt x="656526" y="4066106"/>
                </a:lnTo>
                <a:lnTo>
                  <a:pt x="534490" y="3980431"/>
                </a:lnTo>
                <a:cubicBezTo>
                  <a:pt x="361523" y="3844503"/>
                  <a:pt x="203605" y="3690290"/>
                  <a:pt x="63650" y="3520703"/>
                </a:cubicBezTo>
                <a:lnTo>
                  <a:pt x="0" y="3435586"/>
                </a:lnTo>
                <a:close/>
                <a:moveTo>
                  <a:pt x="4933182" y="0"/>
                </a:moveTo>
                <a:lnTo>
                  <a:pt x="5027180" y="0"/>
                </a:lnTo>
                <a:lnTo>
                  <a:pt x="5102720" y="124342"/>
                </a:lnTo>
                <a:cubicBezTo>
                  <a:pt x="5337656" y="556821"/>
                  <a:pt x="5471106" y="1052431"/>
                  <a:pt x="5471106" y="1579210"/>
                </a:cubicBezTo>
                <a:cubicBezTo>
                  <a:pt x="5471106" y="3264903"/>
                  <a:pt x="4104582" y="4631426"/>
                  <a:pt x="2418889" y="4631426"/>
                </a:cubicBezTo>
                <a:cubicBezTo>
                  <a:pt x="1944788" y="4631426"/>
                  <a:pt x="1495934" y="4523332"/>
                  <a:pt x="1095627" y="4330445"/>
                </a:cubicBezTo>
                <a:lnTo>
                  <a:pt x="1039194" y="4301325"/>
                </a:lnTo>
                <a:lnTo>
                  <a:pt x="1043650" y="4294717"/>
                </a:lnTo>
                <a:cubicBezTo>
                  <a:pt x="1049433" y="4281042"/>
                  <a:pt x="1053925" y="4266687"/>
                  <a:pt x="1056970" y="4251806"/>
                </a:cubicBezTo>
                <a:lnTo>
                  <a:pt x="1060016" y="4221593"/>
                </a:lnTo>
                <a:lnTo>
                  <a:pt x="1130491" y="4257958"/>
                </a:lnTo>
                <a:cubicBezTo>
                  <a:pt x="1520251" y="4445763"/>
                  <a:pt x="1957279" y="4551009"/>
                  <a:pt x="2418889" y="4551009"/>
                </a:cubicBezTo>
                <a:cubicBezTo>
                  <a:pt x="4060169" y="4551009"/>
                  <a:pt x="5390689" y="3220490"/>
                  <a:pt x="5390689" y="1579210"/>
                </a:cubicBezTo>
                <a:cubicBezTo>
                  <a:pt x="5390689" y="1066310"/>
                  <a:pt x="5260755" y="583758"/>
                  <a:pt x="5032009" y="16267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1A3A707-72D6-4BAB-8187-F8204F4ED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8530" y="1774620"/>
            <a:ext cx="3780042" cy="3780042"/>
          </a:xfrm>
          <a:custGeom>
            <a:avLst/>
            <a:gdLst>
              <a:gd name="connsiteX0" fmla="*/ 2054781 w 4109561"/>
              <a:gd name="connsiteY0" fmla="*/ 0 h 4109561"/>
              <a:gd name="connsiteX1" fmla="*/ 4109561 w 4109561"/>
              <a:gd name="connsiteY1" fmla="*/ 2054781 h 4109561"/>
              <a:gd name="connsiteX2" fmla="*/ 2054781 w 4109561"/>
              <a:gd name="connsiteY2" fmla="*/ 4109561 h 4109561"/>
              <a:gd name="connsiteX3" fmla="*/ 0 w 4109561"/>
              <a:gd name="connsiteY3" fmla="*/ 2054781 h 4109561"/>
              <a:gd name="connsiteX4" fmla="*/ 2054781 w 4109561"/>
              <a:gd name="connsiteY4" fmla="*/ 0 h 410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9561" h="4109561">
                <a:moveTo>
                  <a:pt x="2054781" y="0"/>
                </a:moveTo>
                <a:cubicBezTo>
                  <a:pt x="3189605" y="0"/>
                  <a:pt x="4109561" y="919957"/>
                  <a:pt x="4109561" y="2054781"/>
                </a:cubicBezTo>
                <a:cubicBezTo>
                  <a:pt x="4109561" y="3189605"/>
                  <a:pt x="3189605" y="4109561"/>
                  <a:pt x="2054781" y="4109561"/>
                </a:cubicBezTo>
                <a:cubicBezTo>
                  <a:pt x="919957" y="4109561"/>
                  <a:pt x="0" y="3189605"/>
                  <a:pt x="0" y="2054781"/>
                </a:cubicBezTo>
                <a:cubicBezTo>
                  <a:pt x="0" y="919957"/>
                  <a:pt x="919957" y="0"/>
                  <a:pt x="2054781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83411D-901F-4574-9926-33415AA92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3450" y="1713004"/>
            <a:ext cx="365760" cy="365760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34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Kaj je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/>
              <a:t>Python</a:t>
            </a:r>
            <a:r>
              <a:rPr lang="sl-SI" dirty="0"/>
              <a:t> je priljubljen programski jezik. Ustvaril ga je </a:t>
            </a:r>
            <a:r>
              <a:rPr lang="sl-SI" dirty="0" err="1"/>
              <a:t>Guido</a:t>
            </a:r>
            <a:r>
              <a:rPr lang="sl-SI" dirty="0"/>
              <a:t> van </a:t>
            </a:r>
            <a:r>
              <a:rPr lang="sl-SI" dirty="0" err="1"/>
              <a:t>Rossum</a:t>
            </a:r>
            <a:r>
              <a:rPr lang="sl-SI" dirty="0"/>
              <a:t>.</a:t>
            </a:r>
          </a:p>
          <a:p>
            <a:r>
              <a:rPr lang="sl-SI" dirty="0"/>
              <a:t>Uporablja se za:</a:t>
            </a:r>
          </a:p>
          <a:p>
            <a:endParaRPr lang="sl-SI" dirty="0"/>
          </a:p>
          <a:p>
            <a:r>
              <a:rPr lang="sl-SI" dirty="0"/>
              <a:t>    spletni razvoj (na strani strežnika),</a:t>
            </a:r>
          </a:p>
          <a:p>
            <a:r>
              <a:rPr lang="sl-SI" dirty="0"/>
              <a:t>    razvoj programske opreme,</a:t>
            </a:r>
          </a:p>
          <a:p>
            <a:r>
              <a:rPr lang="sl-SI" dirty="0"/>
              <a:t>    matematiko,</a:t>
            </a:r>
          </a:p>
          <a:p>
            <a:r>
              <a:rPr lang="sl-SI" dirty="0"/>
              <a:t>    pisanje sistemskih skript.</a:t>
            </a: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04644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Kaj zna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sl-SI" altLang="sl-SI" dirty="0"/>
          </a:p>
          <a:p>
            <a:r>
              <a:rPr lang="sl-SI" dirty="0" err="1"/>
              <a:t>Python</a:t>
            </a:r>
            <a:r>
              <a:rPr lang="sl-SI" dirty="0"/>
              <a:t> lahko uporabljate v strežniku za ustvarjanje spletnih aplikacij. </a:t>
            </a:r>
          </a:p>
          <a:p>
            <a:r>
              <a:rPr lang="sl-SI" dirty="0" err="1"/>
              <a:t>Python</a:t>
            </a:r>
            <a:r>
              <a:rPr lang="sl-SI" dirty="0"/>
              <a:t> se lahko uporablja skupaj s programsko opremo za ustvarjanje delovnih postopkov.    </a:t>
            </a:r>
          </a:p>
          <a:p>
            <a:r>
              <a:rPr lang="sl-SI" dirty="0" err="1"/>
              <a:t>Python</a:t>
            </a:r>
            <a:r>
              <a:rPr lang="sl-SI" dirty="0"/>
              <a:t> se lahko poveže s sistemi podatkovnih zbirk. Prav tako lahko bere in spreminja datoteke.    </a:t>
            </a:r>
          </a:p>
          <a:p>
            <a:r>
              <a:rPr lang="sl-SI" dirty="0" err="1"/>
              <a:t>Python</a:t>
            </a:r>
            <a:r>
              <a:rPr lang="sl-SI" dirty="0"/>
              <a:t> se lahko uporablja za obdelavo velikih količin podatkov in izvajanje zapletene matematike.    </a:t>
            </a:r>
          </a:p>
          <a:p>
            <a:r>
              <a:rPr lang="sl-SI" dirty="0" err="1"/>
              <a:t>Python</a:t>
            </a:r>
            <a:r>
              <a:rPr lang="sl-SI" dirty="0"/>
              <a:t> se lahko uporablja za hitro izdelavo prototipov ali za razvoj programske opreme, pripravljene za proizvodnjo.</a:t>
            </a:r>
          </a:p>
        </p:txBody>
      </p:sp>
    </p:spTree>
    <p:extLst>
      <p:ext uri="{BB962C8B-B14F-4D97-AF65-F5344CB8AC3E}">
        <p14:creationId xmlns:p14="http://schemas.microsoft.com/office/powerpoint/2010/main" val="242461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Zakaj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sl-SI" dirty="0" err="1"/>
              <a:t>Python</a:t>
            </a:r>
            <a:r>
              <a:rPr lang="sl-SI" dirty="0"/>
              <a:t> deluje na različnih platformah (Windows, Mac, Linux, </a:t>
            </a:r>
            <a:r>
              <a:rPr lang="sl-SI" dirty="0" err="1"/>
              <a:t>Raspberry</a:t>
            </a:r>
            <a:r>
              <a:rPr lang="sl-SI" dirty="0"/>
              <a:t> Pi itd.).    </a:t>
            </a:r>
          </a:p>
          <a:p>
            <a:pPr>
              <a:defRPr/>
            </a:pPr>
            <a:r>
              <a:rPr lang="sl-SI" dirty="0" err="1"/>
              <a:t>Python</a:t>
            </a:r>
            <a:r>
              <a:rPr lang="sl-SI" dirty="0"/>
              <a:t> ima preprosto sintakso, podobno angleščini.    </a:t>
            </a:r>
          </a:p>
          <a:p>
            <a:pPr>
              <a:defRPr/>
            </a:pPr>
            <a:r>
              <a:rPr lang="sl-SI" dirty="0" err="1"/>
              <a:t>Python</a:t>
            </a:r>
            <a:r>
              <a:rPr lang="sl-SI" dirty="0"/>
              <a:t> ima sintakso, ki razvijalcem omogoča pisanje programov z manj vrsticami kot nekateri drugi programski jeziki.    </a:t>
            </a:r>
          </a:p>
          <a:p>
            <a:pPr>
              <a:defRPr/>
            </a:pPr>
            <a:r>
              <a:rPr lang="sl-SI" dirty="0" err="1"/>
              <a:t>Python</a:t>
            </a:r>
            <a:r>
              <a:rPr lang="sl-SI" dirty="0"/>
              <a:t> deluje v sistemu tolmača, kar pomeni, da se lahko koda izvede takoj, ko je napisana. To pomeni, da je lahko izdelava prototipov zelo hitra.    </a:t>
            </a:r>
          </a:p>
          <a:p>
            <a:pPr>
              <a:defRPr/>
            </a:pPr>
            <a:r>
              <a:rPr lang="sl-SI" dirty="0" err="1"/>
              <a:t>Python</a:t>
            </a:r>
            <a:r>
              <a:rPr lang="sl-SI" dirty="0"/>
              <a:t> je mogoče obravnavati na proceduralni, objektno usmerjeni ali funkcionalni način.</a:t>
            </a:r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07550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Dobro je vedeti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l-SI" dirty="0"/>
              <a:t>Najnovejša glavna različica </a:t>
            </a:r>
            <a:r>
              <a:rPr lang="sl-SI" dirty="0" err="1"/>
              <a:t>Pythona</a:t>
            </a:r>
            <a:r>
              <a:rPr lang="sl-SI" dirty="0"/>
              <a:t> je </a:t>
            </a:r>
            <a:r>
              <a:rPr lang="sl-SI" dirty="0" err="1"/>
              <a:t>Python</a:t>
            </a:r>
            <a:r>
              <a:rPr lang="sl-SI" dirty="0"/>
              <a:t> 3. Na predavanju bomo uporabljali </a:t>
            </a:r>
            <a:r>
              <a:rPr lang="sl-SI"/>
              <a:t>različico 3.14</a:t>
            </a:r>
            <a:endParaRPr lang="sl-SI" dirty="0"/>
          </a:p>
          <a:p>
            <a:pPr>
              <a:defRPr/>
            </a:pPr>
            <a:r>
              <a:rPr lang="sl-SI" altLang="sl-SI" dirty="0"/>
              <a:t>Na tem predavanju bo </a:t>
            </a:r>
            <a:r>
              <a:rPr lang="sl-SI" altLang="sl-SI" dirty="0" err="1"/>
              <a:t>Python</a:t>
            </a:r>
            <a:r>
              <a:rPr lang="sl-SI" altLang="sl-SI" dirty="0"/>
              <a:t> napisan v urejevalniku besedil (IDLE).</a:t>
            </a:r>
          </a:p>
          <a:p>
            <a:pPr>
              <a:defRPr/>
            </a:pPr>
            <a:r>
              <a:rPr lang="sl-SI" altLang="sl-SI" dirty="0" err="1"/>
              <a:t>Python</a:t>
            </a:r>
            <a:r>
              <a:rPr lang="sl-SI" altLang="sl-SI" dirty="0"/>
              <a:t> je mogoče pisati tudi v integriranem razvojnem okolju, kot so </a:t>
            </a:r>
            <a:r>
              <a:rPr lang="sl-SI" altLang="sl-SI" dirty="0" err="1"/>
              <a:t>Thonny</a:t>
            </a:r>
            <a:r>
              <a:rPr lang="sl-SI" altLang="sl-SI" dirty="0"/>
              <a:t>, </a:t>
            </a:r>
            <a:r>
              <a:rPr lang="sl-SI" altLang="sl-SI" dirty="0" err="1"/>
              <a:t>Pycharm</a:t>
            </a:r>
            <a:r>
              <a:rPr lang="sl-SI" altLang="sl-SI" dirty="0"/>
              <a:t>, </a:t>
            </a:r>
            <a:r>
              <a:rPr lang="sl-SI" altLang="sl-SI" dirty="0" err="1"/>
              <a:t>Netbeans</a:t>
            </a:r>
            <a:r>
              <a:rPr lang="sl-SI" altLang="sl-SI" dirty="0"/>
              <a:t> ali </a:t>
            </a:r>
            <a:r>
              <a:rPr lang="sl-SI" altLang="sl-SI" dirty="0" err="1"/>
              <a:t>Eclipse</a:t>
            </a:r>
            <a:r>
              <a:rPr lang="sl-SI" altLang="sl-SI" dirty="0"/>
              <a:t>, ki so še posebej uporabni pri upravljanju večjih zbirk datotek </a:t>
            </a:r>
            <a:r>
              <a:rPr lang="sl-SI" altLang="sl-SI" dirty="0" err="1"/>
              <a:t>Python</a:t>
            </a:r>
            <a:r>
              <a:rPr lang="sl-SI" altLang="sl-SI" dirty="0"/>
              <a:t>.</a:t>
            </a:r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69662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</a:rPr>
              <a:t>Sintaksa Pythona v primerjavi z drugimi programskimi jeziki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l-SI" altLang="sl-SI" dirty="0" err="1"/>
              <a:t>Python</a:t>
            </a:r>
            <a:r>
              <a:rPr lang="sl-SI" altLang="sl-SI" dirty="0"/>
              <a:t> je bil zasnovan za berljivost in ima nekaj podobnosti z angleškim jezikom z vplivi matematike.    </a:t>
            </a:r>
          </a:p>
          <a:p>
            <a:pPr eaLnBrk="1" hangingPunct="1">
              <a:lnSpc>
                <a:spcPct val="90000"/>
              </a:lnSpc>
            </a:pPr>
            <a:r>
              <a:rPr lang="sl-SI" altLang="sl-SI" dirty="0"/>
              <a:t>V nasprotju z drugimi programskimi jeziki, ki pogosto uporabljajo podpičje ali oklepaje, </a:t>
            </a:r>
            <a:r>
              <a:rPr lang="sl-SI" altLang="sl-SI" dirty="0" err="1"/>
              <a:t>Python</a:t>
            </a:r>
            <a:r>
              <a:rPr lang="sl-SI" altLang="sl-SI" dirty="0"/>
              <a:t> za dokončanje ukaza uporablja nove vrstice.    </a:t>
            </a:r>
          </a:p>
          <a:p>
            <a:pPr eaLnBrk="1" hangingPunct="1">
              <a:lnSpc>
                <a:spcPct val="90000"/>
              </a:lnSpc>
            </a:pPr>
            <a:r>
              <a:rPr lang="sl-SI" altLang="sl-SI" dirty="0" err="1"/>
              <a:t>Python</a:t>
            </a:r>
            <a:r>
              <a:rPr lang="sl-SI" altLang="sl-SI" dirty="0"/>
              <a:t> se z uporabo presledkov, zamikov zanaša na alineje, s katerimi določa obseg, kot so obseg zank, funkcij in razredov. Drugi programski jeziki v ta namen pogosto uporabljajo oglate ali zavite oklepaje.</a:t>
            </a:r>
            <a:endParaRPr lang="sl-SI" b="1" dirty="0"/>
          </a:p>
          <a:p>
            <a:pPr eaLnBrk="1" hangingPunct="1"/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62519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Namestitev </a:t>
            </a:r>
            <a:r>
              <a:rPr lang="sl-SI" b="1" dirty="0" err="1">
                <a:solidFill>
                  <a:srgbClr val="FF0000"/>
                </a:solidFill>
              </a:rPr>
              <a:t>Pythona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 </a:t>
            </a:r>
            <a:r>
              <a:rPr lang="en-US" dirty="0" err="1"/>
              <a:t>številnih</a:t>
            </a:r>
            <a:r>
              <a:rPr lang="en-US" dirty="0"/>
              <a:t> </a:t>
            </a:r>
            <a:r>
              <a:rPr lang="en-US" dirty="0" err="1"/>
              <a:t>osebnih</a:t>
            </a:r>
            <a:r>
              <a:rPr lang="en-US" dirty="0"/>
              <a:t> </a:t>
            </a:r>
            <a:r>
              <a:rPr lang="en-US" dirty="0" err="1"/>
              <a:t>računalnikih</a:t>
            </a:r>
            <a:r>
              <a:rPr lang="en-US" dirty="0"/>
              <a:t> in </a:t>
            </a:r>
            <a:r>
              <a:rPr lang="en-US" dirty="0" err="1"/>
              <a:t>računalnikih</a:t>
            </a:r>
            <a:r>
              <a:rPr lang="en-US" dirty="0"/>
              <a:t> Mac</a:t>
            </a:r>
            <a:r>
              <a:rPr lang="sl-SI" dirty="0"/>
              <a:t>,</a:t>
            </a:r>
            <a:r>
              <a:rPr lang="en-US" dirty="0"/>
              <a:t> je program python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nameščen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Če</a:t>
            </a:r>
            <a:r>
              <a:rPr lang="en-US" dirty="0"/>
              <a:t> </a:t>
            </a:r>
            <a:r>
              <a:rPr lang="en-US" dirty="0" err="1"/>
              <a:t>želite</a:t>
            </a:r>
            <a:r>
              <a:rPr lang="en-US" dirty="0"/>
              <a:t> </a:t>
            </a:r>
            <a:r>
              <a:rPr lang="en-US" dirty="0" err="1"/>
              <a:t>preveriti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imate</a:t>
            </a:r>
            <a:r>
              <a:rPr lang="en-US" dirty="0"/>
              <a:t> v </a:t>
            </a:r>
            <a:r>
              <a:rPr lang="en-US" dirty="0" err="1"/>
              <a:t>računalniku</a:t>
            </a:r>
            <a:r>
              <a:rPr lang="en-US" dirty="0"/>
              <a:t> z </a:t>
            </a:r>
            <a:r>
              <a:rPr lang="en-US" dirty="0" err="1"/>
              <a:t>operacijskim</a:t>
            </a:r>
            <a:r>
              <a:rPr lang="en-US" dirty="0"/>
              <a:t> </a:t>
            </a:r>
            <a:r>
              <a:rPr lang="en-US" dirty="0" err="1"/>
              <a:t>sistemom</a:t>
            </a:r>
            <a:r>
              <a:rPr lang="en-US" dirty="0"/>
              <a:t> Windows </a:t>
            </a:r>
            <a:r>
              <a:rPr lang="en-US" dirty="0" err="1"/>
              <a:t>nameščen</a:t>
            </a:r>
            <a:r>
              <a:rPr lang="en-US" dirty="0"/>
              <a:t> python, v </a:t>
            </a:r>
            <a:r>
              <a:rPr lang="en-US" dirty="0" err="1"/>
              <a:t>začetni</a:t>
            </a:r>
            <a:r>
              <a:rPr lang="en-US" dirty="0"/>
              <a:t> </a:t>
            </a:r>
            <a:r>
              <a:rPr lang="en-US" dirty="0" err="1"/>
              <a:t>vrstici</a:t>
            </a:r>
            <a:r>
              <a:rPr lang="en-US" dirty="0"/>
              <a:t> </a:t>
            </a:r>
            <a:r>
              <a:rPr lang="en-US" dirty="0" err="1"/>
              <a:t>poiščite</a:t>
            </a:r>
            <a:r>
              <a:rPr lang="en-US" dirty="0"/>
              <a:t> Python </a:t>
            </a:r>
            <a:r>
              <a:rPr lang="en-US" dirty="0" err="1"/>
              <a:t>ali</a:t>
            </a:r>
            <a:r>
              <a:rPr lang="en-US" dirty="0"/>
              <a:t> v </a:t>
            </a:r>
            <a:r>
              <a:rPr lang="en-US" dirty="0" err="1"/>
              <a:t>ukazni</a:t>
            </a:r>
            <a:r>
              <a:rPr lang="en-US" dirty="0"/>
              <a:t> </a:t>
            </a:r>
            <a:r>
              <a:rPr lang="en-US" dirty="0" err="1"/>
              <a:t>vrstici</a:t>
            </a:r>
            <a:r>
              <a:rPr lang="en-US" dirty="0"/>
              <a:t> (cmd.exe) </a:t>
            </a:r>
            <a:r>
              <a:rPr lang="en-US" dirty="0" err="1"/>
              <a:t>zaženite</a:t>
            </a:r>
            <a:r>
              <a:rPr lang="en-US" dirty="0"/>
              <a:t> </a:t>
            </a:r>
            <a:r>
              <a:rPr lang="en-US" dirty="0" err="1"/>
              <a:t>naslednji</a:t>
            </a:r>
            <a:r>
              <a:rPr lang="en-US" dirty="0"/>
              <a:t> </a:t>
            </a:r>
            <a:r>
              <a:rPr lang="en-US" dirty="0" err="1"/>
              <a:t>ukaz</a:t>
            </a:r>
            <a:r>
              <a:rPr lang="sl-SI" dirty="0"/>
              <a:t>:</a:t>
            </a:r>
          </a:p>
          <a:p>
            <a:endParaRPr lang="sl-SI" altLang="sl-SI" sz="1400" dirty="0"/>
          </a:p>
          <a:p>
            <a:pPr marL="0" indent="0">
              <a:buNone/>
            </a:pPr>
            <a:r>
              <a:rPr lang="sl-SI" sz="2000" dirty="0" err="1"/>
              <a:t>python</a:t>
            </a:r>
            <a:r>
              <a:rPr lang="sl-SI" sz="2000" dirty="0"/>
              <a:t> --</a:t>
            </a:r>
            <a:r>
              <a:rPr lang="sl-SI" sz="2000" dirty="0" err="1"/>
              <a:t>version</a:t>
            </a:r>
            <a:r>
              <a:rPr lang="sl-SI" sz="2000" dirty="0"/>
              <a:t> </a:t>
            </a:r>
            <a:endParaRPr lang="sl-SI" altLang="sl-SI" sz="2000" dirty="0"/>
          </a:p>
          <a:p>
            <a:pPr eaLnBrk="1" hangingPunct="1"/>
            <a:endParaRPr lang="sl-SI" altLang="sl-SI" sz="2800" b="1" dirty="0">
              <a:solidFill>
                <a:schemeClr val="accent2"/>
              </a:solidFill>
            </a:endParaRPr>
          </a:p>
          <a:p>
            <a:pPr marL="0" indent="0">
              <a:buNone/>
              <a:defRPr/>
            </a:pPr>
            <a:endParaRPr lang="sl-SI" b="1" dirty="0"/>
          </a:p>
          <a:p>
            <a:pPr eaLnBrk="1" hangingPunct="1"/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116087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Namestitev </a:t>
            </a:r>
            <a:r>
              <a:rPr lang="sl-SI" b="1" dirty="0" err="1">
                <a:solidFill>
                  <a:srgbClr val="FF0000"/>
                </a:solidFill>
              </a:rPr>
              <a:t>Pythona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l-SI" altLang="sl-SI" sz="2800" dirty="0"/>
              <a:t>Če v računalniku nimate nameščenega programa </a:t>
            </a:r>
            <a:r>
              <a:rPr lang="sl-SI" altLang="sl-SI" sz="2800" dirty="0" err="1"/>
              <a:t>python</a:t>
            </a:r>
            <a:r>
              <a:rPr lang="sl-SI" altLang="sl-SI" sz="2800" dirty="0"/>
              <a:t>, ga lahko brezplačno prenesete z naslednjega spletnega mesta:</a:t>
            </a:r>
          </a:p>
          <a:p>
            <a:pPr marL="0" indent="0" eaLnBrk="1" hangingPunct="1">
              <a:buNone/>
            </a:pPr>
            <a:r>
              <a:rPr lang="sl-SI" altLang="sl-SI" sz="2800" dirty="0">
                <a:hlinkClick r:id="rId2"/>
              </a:rPr>
              <a:t>https://www.python.org/</a:t>
            </a:r>
            <a:endParaRPr lang="sl-SI" altLang="sl-SI" sz="2800" dirty="0"/>
          </a:p>
          <a:p>
            <a:pPr eaLnBrk="1" hangingPunct="1"/>
            <a:endParaRPr lang="sl-SI" altLang="sl-SI" sz="2800" dirty="0"/>
          </a:p>
          <a:p>
            <a:pPr marL="0" indent="0">
              <a:buNone/>
              <a:defRPr/>
            </a:pPr>
            <a:endParaRPr lang="sl-SI" b="1" dirty="0"/>
          </a:p>
          <a:p>
            <a:pPr eaLnBrk="1" hangingPunct="1"/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170685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Hitri začetek programa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sl-SI" altLang="sl-SI" dirty="0" err="1"/>
              <a:t>Python</a:t>
            </a:r>
            <a:r>
              <a:rPr lang="sl-SI" altLang="sl-SI" dirty="0"/>
              <a:t> je interpretirani programski jezik, kar pomeni, da kot razvijalec pišete datoteke </a:t>
            </a:r>
            <a:r>
              <a:rPr lang="sl-SI" altLang="sl-SI" dirty="0" err="1"/>
              <a:t>Python</a:t>
            </a:r>
            <a:r>
              <a:rPr lang="sl-SI" altLang="sl-SI" dirty="0"/>
              <a:t> (.</a:t>
            </a:r>
            <a:r>
              <a:rPr lang="sl-SI" altLang="sl-SI" dirty="0" err="1"/>
              <a:t>py</a:t>
            </a:r>
            <a:r>
              <a:rPr lang="sl-SI" altLang="sl-SI" dirty="0"/>
              <a:t>) v urejevalniku besedila in nato te datoteke prenesete v </a:t>
            </a:r>
            <a:r>
              <a:rPr lang="sl-SI" altLang="sl-SI" dirty="0" err="1"/>
              <a:t>interpreter</a:t>
            </a:r>
            <a:r>
              <a:rPr lang="sl-SI" altLang="sl-SI" dirty="0"/>
              <a:t> </a:t>
            </a:r>
            <a:r>
              <a:rPr lang="sl-SI" altLang="sl-SI" dirty="0" err="1"/>
              <a:t>Python</a:t>
            </a:r>
            <a:r>
              <a:rPr lang="sl-SI" altLang="sl-SI" dirty="0"/>
              <a:t>, da se izvedejo.</a:t>
            </a:r>
          </a:p>
          <a:p>
            <a:pPr eaLnBrk="1" hangingPunct="1"/>
            <a:endParaRPr lang="sl-SI" altLang="sl-SI" dirty="0"/>
          </a:p>
          <a:p>
            <a:pPr eaLnBrk="1" hangingPunct="1"/>
            <a:r>
              <a:rPr lang="sl-SI" altLang="sl-SI" dirty="0"/>
              <a:t>Datoteko </a:t>
            </a:r>
            <a:r>
              <a:rPr lang="sl-SI" altLang="sl-SI" dirty="0" err="1"/>
              <a:t>python</a:t>
            </a:r>
            <a:r>
              <a:rPr lang="sl-SI" altLang="sl-SI" dirty="0"/>
              <a:t> ustvarite na naslednji način:</a:t>
            </a:r>
          </a:p>
          <a:p>
            <a:pPr marL="0" indent="0" eaLnBrk="1" hangingPunct="1">
              <a:buNone/>
            </a:pPr>
            <a:r>
              <a:rPr lang="sl-SI" altLang="sl-SI" b="1" dirty="0"/>
              <a:t>Odprete IDLE(</a:t>
            </a:r>
            <a:r>
              <a:rPr lang="sl-SI" altLang="sl-SI" b="1" dirty="0" err="1"/>
              <a:t>Python</a:t>
            </a:r>
            <a:r>
              <a:rPr lang="sl-SI" altLang="sl-SI" b="1" dirty="0"/>
              <a:t>)-&gt;File-&gt;New File-&gt;(napišete program)-&gt;</a:t>
            </a:r>
            <a:r>
              <a:rPr lang="sl-SI" altLang="sl-SI" b="1" dirty="0" err="1"/>
              <a:t>save</a:t>
            </a:r>
            <a:r>
              <a:rPr lang="sl-SI" altLang="sl-SI" b="1" dirty="0"/>
              <a:t>-&gt;poimenujete datoteko</a:t>
            </a:r>
          </a:p>
          <a:p>
            <a:r>
              <a:rPr lang="sl-SI" altLang="sl-SI" dirty="0"/>
              <a:t>Datoteko </a:t>
            </a:r>
            <a:r>
              <a:rPr lang="sl-SI" altLang="sl-SI" dirty="0" err="1"/>
              <a:t>python</a:t>
            </a:r>
            <a:r>
              <a:rPr lang="sl-SI" altLang="sl-SI" dirty="0"/>
              <a:t> odprete na naslednji način:</a:t>
            </a:r>
          </a:p>
          <a:p>
            <a:pPr marL="0" indent="0">
              <a:buNone/>
            </a:pPr>
            <a:r>
              <a:rPr lang="sl-SI" altLang="sl-SI" b="1" dirty="0"/>
              <a:t>Odprete IDLE(</a:t>
            </a:r>
            <a:r>
              <a:rPr lang="sl-SI" altLang="sl-SI" b="1" dirty="0" err="1"/>
              <a:t>Python</a:t>
            </a:r>
            <a:r>
              <a:rPr lang="sl-SI" altLang="sl-SI" b="1" dirty="0"/>
              <a:t>)-&gt;File-&gt;Open-&gt;poiščete in izberete datoteko-&gt;odpri</a:t>
            </a:r>
          </a:p>
          <a:p>
            <a:pPr marL="0" indent="0">
              <a:buNone/>
            </a:pPr>
            <a:endParaRPr lang="sl-SI" altLang="sl-SI" dirty="0"/>
          </a:p>
          <a:p>
            <a:pPr marL="0" indent="0" eaLnBrk="1" hangingPunct="1">
              <a:buNone/>
            </a:pPr>
            <a:endParaRPr lang="sl-SI" altLang="sl-SI" b="1" dirty="0"/>
          </a:p>
          <a:p>
            <a:pPr marL="0" indent="0" eaLnBrk="1" hangingPunct="1">
              <a:buNone/>
            </a:pPr>
            <a:endParaRPr lang="sl-SI" altLang="sl-SI" b="1" dirty="0"/>
          </a:p>
          <a:p>
            <a:pPr marL="0" indent="0" eaLnBrk="1" hangingPunct="1">
              <a:buNone/>
            </a:pPr>
            <a:endParaRPr lang="sl-SI" altLang="sl-SI" b="1" dirty="0"/>
          </a:p>
          <a:p>
            <a:pPr marL="0" indent="0" eaLnBrk="1" hangingPunct="1">
              <a:buNone/>
            </a:pPr>
            <a:endParaRPr lang="sl-SI" altLang="sl-SI" b="1" dirty="0"/>
          </a:p>
          <a:p>
            <a:pPr eaLnBrk="1" hangingPunct="1"/>
            <a:endParaRPr lang="sl-SI" altLang="sl-SI" sz="2800" b="1" dirty="0">
              <a:solidFill>
                <a:schemeClr val="accent2"/>
              </a:solidFill>
            </a:endParaRPr>
          </a:p>
          <a:p>
            <a:pPr marL="0" indent="0">
              <a:buNone/>
              <a:defRPr/>
            </a:pPr>
            <a:endParaRPr lang="sl-SI" b="1" dirty="0"/>
          </a:p>
          <a:p>
            <a:pPr eaLnBrk="1" hangingPunct="1"/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190959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Hitri začetek programa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altLang="sl-SI" dirty="0"/>
              <a:t>Datoteko </a:t>
            </a:r>
            <a:r>
              <a:rPr lang="sl-SI" altLang="sl-SI" dirty="0" err="1"/>
              <a:t>python</a:t>
            </a:r>
            <a:r>
              <a:rPr lang="sl-SI" altLang="sl-SI" dirty="0"/>
              <a:t> poženete na naslednji način:</a:t>
            </a:r>
          </a:p>
          <a:p>
            <a:pPr marL="0" indent="0">
              <a:buNone/>
            </a:pPr>
            <a:r>
              <a:rPr lang="sl-SI" altLang="sl-SI" b="1" dirty="0"/>
              <a:t>Odprete IDLE(</a:t>
            </a:r>
            <a:r>
              <a:rPr lang="sl-SI" altLang="sl-SI" b="1" dirty="0" err="1"/>
              <a:t>Python</a:t>
            </a:r>
            <a:r>
              <a:rPr lang="sl-SI" altLang="sl-SI" b="1" dirty="0"/>
              <a:t>)-&gt;File-&gt;Open-&gt;poiščete in izberete datoteko-&gt;odpri-&gt;Run-&gt;Run Module</a:t>
            </a:r>
          </a:p>
          <a:p>
            <a:pPr marL="0" indent="0">
              <a:buNone/>
            </a:pPr>
            <a:endParaRPr lang="sl-SI" altLang="sl-SI" dirty="0"/>
          </a:p>
          <a:p>
            <a:pPr eaLnBrk="1" hangingPunct="1"/>
            <a:endParaRPr lang="sl-SI" altLang="sl-SI" dirty="0"/>
          </a:p>
          <a:p>
            <a:pPr eaLnBrk="1" hangingPunct="1"/>
            <a:endParaRPr lang="sl-SI" altLang="sl-SI" sz="2800" b="1" dirty="0">
              <a:solidFill>
                <a:schemeClr val="accent2"/>
              </a:solidFill>
            </a:endParaRPr>
          </a:p>
          <a:p>
            <a:pPr marL="0" indent="0">
              <a:buNone/>
              <a:defRPr/>
            </a:pPr>
            <a:endParaRPr lang="sl-SI" b="1" dirty="0"/>
          </a:p>
          <a:p>
            <a:pPr eaLnBrk="1" hangingPunct="1"/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37883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Sintaksa </a:t>
            </a:r>
            <a:r>
              <a:rPr lang="sl-SI" b="1" dirty="0" err="1">
                <a:solidFill>
                  <a:srgbClr val="FF0000"/>
                </a:solidFill>
              </a:rPr>
              <a:t>Pythona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/>
            <a:r>
              <a:rPr lang="en-US" sz="5100" dirty="0" err="1"/>
              <a:t>Kot</a:t>
            </a:r>
            <a:r>
              <a:rPr lang="en-US" sz="5100" dirty="0"/>
              <a:t> </a:t>
            </a:r>
            <a:r>
              <a:rPr lang="en-US" sz="5100" dirty="0" err="1"/>
              <a:t>smo</a:t>
            </a:r>
            <a:r>
              <a:rPr lang="en-US" sz="5100" dirty="0"/>
              <a:t> </a:t>
            </a:r>
            <a:r>
              <a:rPr lang="sl-SI" sz="5100" dirty="0"/>
              <a:t>se </a:t>
            </a:r>
            <a:r>
              <a:rPr lang="en-US" sz="5100" dirty="0" err="1"/>
              <a:t>naučili</a:t>
            </a:r>
            <a:r>
              <a:rPr lang="en-US" sz="5100" dirty="0"/>
              <a:t>, </a:t>
            </a:r>
            <a:r>
              <a:rPr lang="en-US" sz="5100" dirty="0" err="1"/>
              <a:t>lahko</a:t>
            </a:r>
            <a:r>
              <a:rPr lang="en-US" sz="5100" dirty="0"/>
              <a:t> </a:t>
            </a:r>
            <a:r>
              <a:rPr lang="en-US" sz="5100" dirty="0" err="1"/>
              <a:t>sintakso</a:t>
            </a:r>
            <a:r>
              <a:rPr lang="en-US" sz="5100" dirty="0"/>
              <a:t> </a:t>
            </a:r>
            <a:r>
              <a:rPr lang="en-US" sz="5100" dirty="0" err="1"/>
              <a:t>Pythona</a:t>
            </a:r>
            <a:r>
              <a:rPr lang="en-US" sz="5100" dirty="0"/>
              <a:t> </a:t>
            </a:r>
            <a:r>
              <a:rPr lang="en-US" sz="5100" dirty="0" err="1"/>
              <a:t>izvedete</a:t>
            </a:r>
            <a:r>
              <a:rPr lang="en-US" sz="5100" dirty="0"/>
              <a:t> z </a:t>
            </a:r>
            <a:r>
              <a:rPr lang="en-US" sz="5100" dirty="0" err="1"/>
              <a:t>neposrednim</a:t>
            </a:r>
            <a:r>
              <a:rPr lang="en-US" sz="5100" dirty="0"/>
              <a:t> </a:t>
            </a:r>
            <a:r>
              <a:rPr lang="en-US" sz="5100" dirty="0" err="1"/>
              <a:t>pisanjem</a:t>
            </a:r>
            <a:r>
              <a:rPr lang="en-US" sz="5100" dirty="0"/>
              <a:t> v </a:t>
            </a:r>
            <a:r>
              <a:rPr lang="en-US" sz="5100" dirty="0" err="1"/>
              <a:t>ukazno</a:t>
            </a:r>
            <a:r>
              <a:rPr lang="en-US" sz="5100" dirty="0"/>
              <a:t> </a:t>
            </a:r>
            <a:r>
              <a:rPr lang="en-US" sz="5100" dirty="0" err="1"/>
              <a:t>vrstico</a:t>
            </a:r>
            <a:r>
              <a:rPr lang="en-US" sz="5100" dirty="0"/>
              <a:t>:</a:t>
            </a:r>
            <a:endParaRPr lang="sl-SI" sz="5100" dirty="0"/>
          </a:p>
          <a:p>
            <a:pPr eaLnBrk="1" hangingPunct="1"/>
            <a:endParaRPr lang="sl-SI" altLang="sl-SI" b="1" dirty="0">
              <a:solidFill>
                <a:schemeClr val="accent2"/>
              </a:solidFill>
            </a:endParaRPr>
          </a:p>
          <a:p>
            <a:pPr marL="0" indent="0" eaLnBrk="1" hangingPunct="1">
              <a:buNone/>
            </a:pPr>
            <a:r>
              <a:rPr lang="en-US" dirty="0"/>
              <a:t>print(</a:t>
            </a:r>
            <a:r>
              <a:rPr lang="sl-SI" dirty="0"/>
              <a:t>“Dober dan</a:t>
            </a:r>
            <a:r>
              <a:rPr lang="en-US" dirty="0"/>
              <a:t>!")</a:t>
            </a:r>
            <a:br>
              <a:rPr lang="en-US" dirty="0"/>
            </a:br>
            <a:r>
              <a:rPr lang="sl-SI" dirty="0"/>
              <a:t>Dober dan</a:t>
            </a:r>
            <a:r>
              <a:rPr lang="en-US" dirty="0"/>
              <a:t>! </a:t>
            </a:r>
            <a:endParaRPr lang="sl-SI" dirty="0"/>
          </a:p>
          <a:p>
            <a:pPr marL="0" indent="0" eaLnBrk="1" hangingPunct="1">
              <a:buNone/>
            </a:pPr>
            <a:endParaRPr lang="sl-SI" altLang="sl-SI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sl-SI" dirty="0"/>
              <a:t>“8+5</a:t>
            </a:r>
            <a:r>
              <a:rPr lang="en-US" dirty="0"/>
              <a:t>")</a:t>
            </a:r>
            <a:br>
              <a:rPr lang="en-US" dirty="0"/>
            </a:br>
            <a:r>
              <a:rPr lang="sl-SI" dirty="0"/>
              <a:t>8+5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sl-SI" dirty="0"/>
              <a:t>8+5</a:t>
            </a:r>
            <a:r>
              <a:rPr lang="en-US" dirty="0"/>
              <a:t>)</a:t>
            </a:r>
            <a:br>
              <a:rPr lang="en-US" dirty="0"/>
            </a:br>
            <a:r>
              <a:rPr lang="sl-SI" dirty="0"/>
              <a:t>13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sl-SI" dirty="0"/>
              <a:t>8+5</a:t>
            </a:r>
          </a:p>
          <a:p>
            <a:pPr marL="0" indent="0">
              <a:buNone/>
            </a:pPr>
            <a:r>
              <a:rPr lang="sl-SI" dirty="0"/>
              <a:t>13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sl-SI" dirty="0"/>
              <a:t>“Janez“</a:t>
            </a:r>
          </a:p>
          <a:p>
            <a:pPr marL="0" indent="0">
              <a:buNone/>
            </a:pPr>
            <a:r>
              <a:rPr lang="sl-SI" dirty="0"/>
              <a:t>‘Janez‘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endParaRPr lang="sl-SI" dirty="0"/>
          </a:p>
          <a:p>
            <a:pPr marL="0" indent="0" eaLnBrk="1" hangingPunct="1">
              <a:buNone/>
            </a:pPr>
            <a:endParaRPr lang="sl-SI" altLang="sl-SI" b="1" dirty="0">
              <a:solidFill>
                <a:schemeClr val="accent2"/>
              </a:solidFill>
            </a:endParaRPr>
          </a:p>
          <a:p>
            <a:pPr marL="0" indent="0">
              <a:buNone/>
              <a:defRPr/>
            </a:pPr>
            <a:endParaRPr lang="sl-SI" b="1" dirty="0"/>
          </a:p>
          <a:p>
            <a:pPr eaLnBrk="1" hangingPunct="1"/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23081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Odstavek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l-PL" dirty="0"/>
              <a:t>Odmik se nanaša na presledke na začetku vrstice kode.</a:t>
            </a:r>
          </a:p>
          <a:p>
            <a:pPr eaLnBrk="1" hangingPunct="1"/>
            <a:endParaRPr lang="pl-PL" dirty="0"/>
          </a:p>
          <a:p>
            <a:pPr eaLnBrk="1" hangingPunct="1"/>
            <a:r>
              <a:rPr lang="pl-PL" dirty="0"/>
              <a:t>Medtem ko je v drugih programskih jezikih alineja v kodi namenjena le berljivosti, je alineja v Pythonu zelo pomembna.</a:t>
            </a:r>
          </a:p>
          <a:p>
            <a:pPr eaLnBrk="1" hangingPunct="1"/>
            <a:endParaRPr lang="pl-PL" dirty="0"/>
          </a:p>
          <a:p>
            <a:pPr eaLnBrk="1" hangingPunct="1"/>
            <a:r>
              <a:rPr lang="pl-PL" dirty="0"/>
              <a:t>Python uporablja alinejo za označevanje bloka kode.</a:t>
            </a:r>
          </a:p>
          <a:p>
            <a:pPr marL="0" indent="0" eaLnBrk="1" hangingPunct="1">
              <a:buNone/>
            </a:pPr>
            <a:r>
              <a:rPr lang="pl-PL" altLang="sl-SI" b="1" dirty="0"/>
              <a:t>Primer:</a:t>
            </a:r>
          </a:p>
          <a:p>
            <a:pPr marL="0" indent="0" eaLnBrk="1" hangingPunct="1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 &gt; 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5 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od 2!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altLang="sl-SI" b="1" dirty="0"/>
          </a:p>
          <a:p>
            <a:pPr marL="0" indent="0">
              <a:buNone/>
              <a:defRPr/>
            </a:pPr>
            <a:endParaRPr lang="sl-SI" b="1" dirty="0"/>
          </a:p>
          <a:p>
            <a:pPr eaLnBrk="1" hangingPunct="1"/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678700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Odstavek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/>
              <a:t>Python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bo</a:t>
            </a:r>
            <a:r>
              <a:rPr lang="en-US" dirty="0"/>
              <a:t> </a:t>
            </a:r>
            <a:r>
              <a:rPr lang="sl-SI" dirty="0"/>
              <a:t>vrnil</a:t>
            </a:r>
            <a:r>
              <a:rPr lang="en-US" dirty="0"/>
              <a:t> </a:t>
            </a:r>
            <a:r>
              <a:rPr lang="en-US" dirty="0" err="1"/>
              <a:t>napako</a:t>
            </a:r>
            <a:r>
              <a:rPr lang="en-US" dirty="0"/>
              <a:t>, </a:t>
            </a:r>
            <a:r>
              <a:rPr lang="en-US" dirty="0" err="1"/>
              <a:t>če</a:t>
            </a:r>
            <a:r>
              <a:rPr lang="en-US" dirty="0"/>
              <a:t> </a:t>
            </a:r>
            <a:r>
              <a:rPr lang="en-US" dirty="0" err="1"/>
              <a:t>preskočite</a:t>
            </a:r>
            <a:r>
              <a:rPr lang="en-US" dirty="0"/>
              <a:t> </a:t>
            </a:r>
            <a:r>
              <a:rPr lang="en-US" dirty="0" err="1"/>
              <a:t>alinejo</a:t>
            </a:r>
            <a:r>
              <a:rPr lang="en-US" dirty="0"/>
              <a:t>:</a:t>
            </a:r>
            <a:endParaRPr lang="sl-SI" b="1" dirty="0"/>
          </a:p>
          <a:p>
            <a:pPr marL="0" indent="0" eaLnBrk="1" hangingPunct="1">
              <a:buNone/>
            </a:pPr>
            <a:r>
              <a:rPr lang="pl-PL" altLang="sl-SI" b="1" dirty="0"/>
              <a:t>Primer:</a:t>
            </a:r>
          </a:p>
          <a:p>
            <a:pPr marL="0" indent="0" eaLnBrk="1" hangingPunct="1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 &gt; 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5 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od 2!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--</a:t>
            </a:r>
            <a:r>
              <a:rPr lang="sl-SI" dirty="0">
                <a:solidFill>
                  <a:srgbClr val="000000"/>
                </a:solidFill>
                <a:effectLst/>
                <a:sym typeface="Wingdings" panose="05000000000000000000" pitchFamily="2" charset="2"/>
              </a:rPr>
              <a:t> Napaka, ker ni odmika!</a:t>
            </a:r>
          </a:p>
          <a:p>
            <a:pPr marL="0" indent="0" eaLnBrk="1" hangingPunct="1">
              <a:buNone/>
            </a:pPr>
            <a:endParaRPr lang="sl-SI" altLang="sl-SI" b="1" dirty="0"/>
          </a:p>
          <a:p>
            <a:r>
              <a:rPr lang="sl-SI" altLang="sl-SI" dirty="0"/>
              <a:t>Število presledkov je odvisno od vas kot programerja, vendar mora biti vsaj en presledek.</a:t>
            </a:r>
          </a:p>
          <a:p>
            <a:pPr marL="0" indent="0">
              <a:buNone/>
            </a:pPr>
            <a:r>
              <a:rPr lang="sl-SI" b="1" dirty="0"/>
              <a:t>Primer: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 &gt; 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5 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od 2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 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 &gt; 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   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5 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od 2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 </a:t>
            </a:r>
            <a:r>
              <a:rPr lang="sl-SI" dirty="0">
                <a:solidFill>
                  <a:srgbClr val="000000"/>
                </a:solidFill>
                <a:effectLst/>
              </a:rPr>
              <a:t> -&gt;Katerikoli zamik velja, ampak…</a:t>
            </a:r>
            <a:endParaRPr lang="sl-SI" b="1" dirty="0"/>
          </a:p>
        </p:txBody>
      </p:sp>
    </p:spTree>
    <p:extLst>
      <p:ext uri="{BB962C8B-B14F-4D97-AF65-F5344CB8AC3E}">
        <p14:creationId xmlns:p14="http://schemas.microsoft.com/office/powerpoint/2010/main" val="1280262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1F2138-49B4-476C-A60D-8BB60B9C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Odstavek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9122AA-4B99-4135-B7C3-DA99A630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l-SI" altLang="sl-SI" dirty="0"/>
              <a:t>V istem bloku kode morate uporabiti enako število presledkov, sicer vam bo </a:t>
            </a:r>
            <a:r>
              <a:rPr lang="sl-SI" altLang="sl-SI" dirty="0" err="1"/>
              <a:t>Python</a:t>
            </a:r>
            <a:r>
              <a:rPr lang="sl-SI" altLang="sl-SI" dirty="0"/>
              <a:t> sporočil napako:</a:t>
            </a:r>
          </a:p>
          <a:p>
            <a:pPr marL="0" indent="0" eaLnBrk="1" hangingPunct="1">
              <a:buNone/>
            </a:pPr>
            <a:r>
              <a:rPr lang="sl-SI" altLang="sl-SI" b="1" dirty="0"/>
              <a:t>Primer:</a:t>
            </a:r>
          </a:p>
          <a:p>
            <a:pPr marL="0" indent="0" eaLnBrk="1" hangingPunct="1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 &gt; 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5 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od 2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   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5 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od 2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r>
              <a:rPr lang="sl-SI" dirty="0">
                <a:solidFill>
                  <a:srgbClr val="000000"/>
                </a:solidFill>
                <a:effectLst/>
              </a:rPr>
              <a:t>-</a:t>
            </a:r>
            <a:r>
              <a:rPr lang="sl-SI" dirty="0">
                <a:solidFill>
                  <a:srgbClr val="000000"/>
                </a:solidFill>
                <a:effectLst/>
                <a:sym typeface="Wingdings" panose="05000000000000000000" pitchFamily="2" charset="2"/>
              </a:rPr>
              <a:t>Napaka, preveč zamika</a:t>
            </a:r>
            <a:endParaRPr lang="sl-SI" altLang="sl-SI" b="1" dirty="0"/>
          </a:p>
          <a:p>
            <a:pPr marL="0" indent="0">
              <a:buNone/>
            </a:pPr>
            <a:endParaRPr lang="sl-SI" alt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14646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komentarji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Komentarji se lahko uporabljajo za razlago kode </a:t>
            </a:r>
            <a:r>
              <a:rPr lang="sl-SI" dirty="0" err="1"/>
              <a:t>Pythona</a:t>
            </a:r>
            <a:r>
              <a:rPr lang="sl-SI" dirty="0"/>
              <a:t>.</a:t>
            </a:r>
          </a:p>
          <a:p>
            <a:endParaRPr lang="sl-SI" dirty="0"/>
          </a:p>
          <a:p>
            <a:r>
              <a:rPr lang="sl-SI" dirty="0"/>
              <a:t>Komentarji se lahko uporabljajo za izboljšanje berljivosti kode.</a:t>
            </a:r>
          </a:p>
          <a:p>
            <a:endParaRPr lang="sl-SI" dirty="0"/>
          </a:p>
          <a:p>
            <a:r>
              <a:rPr lang="sl-SI" dirty="0"/>
              <a:t>Komentarji se lahko uporabljajo za preprečevanje izvajanja pri testiranju kode.</a:t>
            </a:r>
          </a:p>
        </p:txBody>
      </p:sp>
    </p:spTree>
    <p:extLst>
      <p:ext uri="{BB962C8B-B14F-4D97-AF65-F5344CB8AC3E}">
        <p14:creationId xmlns:p14="http://schemas.microsoft.com/office/powerpoint/2010/main" val="3925200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Ustvarjanje komentarja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/>
              <a:t>Komentarji se začnejo z # in </a:t>
            </a:r>
            <a:r>
              <a:rPr lang="sl-SI" dirty="0" err="1"/>
              <a:t>Python</a:t>
            </a:r>
            <a:r>
              <a:rPr lang="sl-SI" dirty="0"/>
              <a:t> jih ne bo upošteval: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To je komentar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</a:rPr>
              <a:t>“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  <a:effectLst/>
              </a:rPr>
              <a:t>Komentarje lahko postavite na konec vrstice in </a:t>
            </a:r>
            <a:r>
              <a:rPr lang="sl-SI" dirty="0" err="1">
                <a:solidFill>
                  <a:srgbClr val="000000"/>
                </a:solidFill>
                <a:effectLst/>
              </a:rPr>
              <a:t>Python</a:t>
            </a:r>
            <a:r>
              <a:rPr lang="sl-SI" dirty="0">
                <a:solidFill>
                  <a:srgbClr val="000000"/>
                </a:solidFill>
                <a:effectLst/>
              </a:rPr>
              <a:t> ne bo upošteval preostalega dela vrstice: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To je komentar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Komentar ni nujno besedilo, ki pojasnjuje kodo, lahko se uporablja tudi za preprečevanje izvajanja kode v programu </a:t>
            </a:r>
            <a:r>
              <a:rPr lang="sl-SI" dirty="0" err="1">
                <a:solidFill>
                  <a:srgbClr val="000000"/>
                </a:solidFill>
                <a:effectLst/>
              </a:rPr>
              <a:t>Python</a:t>
            </a:r>
            <a:r>
              <a:rPr lang="sl-SI" dirty="0">
                <a:solidFill>
                  <a:srgbClr val="000000"/>
                </a:solidFill>
                <a:effectLst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effectLst/>
              </a:rPr>
              <a:t>#print("</a:t>
            </a:r>
            <a:r>
              <a:rPr lang="sl-SI" dirty="0">
                <a:solidFill>
                  <a:srgbClr val="008000"/>
                </a:solidFill>
                <a:effectLst/>
              </a:rPr>
              <a:t>Dober dan</a:t>
            </a:r>
            <a:r>
              <a:rPr lang="en-US" dirty="0">
                <a:solidFill>
                  <a:srgbClr val="008000"/>
                </a:solidFill>
                <a:effectLst/>
              </a:rPr>
              <a:t>!")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Na zdravje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836070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Več vrstični komentarji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>
                <a:solidFill>
                  <a:srgbClr val="000000"/>
                </a:solidFill>
              </a:rPr>
              <a:t>Python</a:t>
            </a:r>
            <a:r>
              <a:rPr lang="sl-SI" dirty="0">
                <a:solidFill>
                  <a:srgbClr val="000000"/>
                </a:solidFill>
              </a:rPr>
              <a:t> nima sintakse za več vrstične komentarje.</a:t>
            </a:r>
          </a:p>
          <a:p>
            <a:r>
              <a:rPr lang="sl-SI" dirty="0">
                <a:solidFill>
                  <a:srgbClr val="000000"/>
                </a:solidFill>
              </a:rPr>
              <a:t>Če želite dodati več vrstični komentar, lahko za vsako vrstico vstavite #:</a:t>
            </a:r>
          </a:p>
          <a:p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To je komentar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napisan v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več kot eni vrstici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341282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Več vrstični komentarji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Lahko pa uporabite tudi več vrstični niz.</a:t>
            </a:r>
          </a:p>
          <a:p>
            <a:r>
              <a:rPr lang="sl-SI" dirty="0">
                <a:solidFill>
                  <a:srgbClr val="000000"/>
                </a:solidFill>
              </a:rPr>
              <a:t>Ker </a:t>
            </a:r>
            <a:r>
              <a:rPr lang="sl-SI" dirty="0" err="1">
                <a:solidFill>
                  <a:srgbClr val="000000"/>
                </a:solidFill>
              </a:rPr>
              <a:t>Python</a:t>
            </a:r>
            <a:r>
              <a:rPr lang="sl-SI" dirty="0">
                <a:solidFill>
                  <a:srgbClr val="000000"/>
                </a:solidFill>
              </a:rPr>
              <a:t> ne upošteva </a:t>
            </a:r>
            <a:r>
              <a:rPr lang="sl-SI" dirty="0" err="1">
                <a:solidFill>
                  <a:srgbClr val="000000"/>
                </a:solidFill>
              </a:rPr>
              <a:t>literalnih</a:t>
            </a:r>
            <a:r>
              <a:rPr lang="sl-SI" dirty="0">
                <a:solidFill>
                  <a:srgbClr val="000000"/>
                </a:solidFill>
              </a:rPr>
              <a:t> nizov, ki niso dodeljeni spremenljivki, lahko v kodo dodate več vrstični niz (trojne narekovaje) in vanj vstavite komentar:</a:t>
            </a:r>
          </a:p>
          <a:p>
            <a:r>
              <a:rPr lang="en-US" dirty="0">
                <a:solidFill>
                  <a:srgbClr val="A52A2A"/>
                </a:solidFill>
                <a:effectLst/>
              </a:rPr>
              <a:t>"""</a:t>
            </a:r>
            <a:br>
              <a:rPr lang="en-US" dirty="0">
                <a:solidFill>
                  <a:srgbClr val="A52A2A"/>
                </a:solidFill>
                <a:effectLst/>
              </a:rPr>
            </a:br>
            <a:r>
              <a:rPr lang="sl-SI" dirty="0">
                <a:solidFill>
                  <a:srgbClr val="A52A2A"/>
                </a:solidFill>
                <a:effectLst/>
              </a:rPr>
              <a:t>To je komentar</a:t>
            </a:r>
            <a:br>
              <a:rPr lang="en-US" dirty="0">
                <a:solidFill>
                  <a:srgbClr val="A52A2A"/>
                </a:solidFill>
                <a:effectLst/>
              </a:rPr>
            </a:br>
            <a:r>
              <a:rPr lang="sl-SI" dirty="0">
                <a:solidFill>
                  <a:srgbClr val="A52A2A"/>
                </a:solidFill>
                <a:effectLst/>
              </a:rPr>
              <a:t>napisan v </a:t>
            </a:r>
            <a:br>
              <a:rPr lang="en-US" dirty="0">
                <a:solidFill>
                  <a:srgbClr val="A52A2A"/>
                </a:solidFill>
                <a:effectLst/>
              </a:rPr>
            </a:br>
            <a:r>
              <a:rPr lang="sl-SI" dirty="0">
                <a:solidFill>
                  <a:srgbClr val="A52A2A"/>
                </a:solidFill>
                <a:effectLst/>
              </a:rPr>
              <a:t>več kot eni vrstici</a:t>
            </a:r>
            <a:br>
              <a:rPr lang="en-US" dirty="0">
                <a:solidFill>
                  <a:srgbClr val="A52A2A"/>
                </a:solidFill>
                <a:effectLst/>
              </a:rPr>
            </a:br>
            <a:r>
              <a:rPr lang="en-US" dirty="0">
                <a:solidFill>
                  <a:srgbClr val="A52A2A"/>
                </a:solidFill>
                <a:effectLst/>
              </a:rPr>
              <a:t>"""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Dokler niz ni dodeljen spremenljivki, bo </a:t>
            </a:r>
            <a:r>
              <a:rPr lang="sl-SI" dirty="0" err="1">
                <a:solidFill>
                  <a:srgbClr val="000000"/>
                </a:solidFill>
              </a:rPr>
              <a:t>Python</a:t>
            </a:r>
            <a:r>
              <a:rPr lang="sl-SI" dirty="0">
                <a:solidFill>
                  <a:srgbClr val="000000"/>
                </a:solidFill>
              </a:rPr>
              <a:t> prebral kodo, vendar je ne bo upošteval, vi pa ste naredili več vrstični komentar.</a:t>
            </a:r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282103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Spremenljivke </a:t>
            </a:r>
            <a:r>
              <a:rPr lang="sl-SI" b="1" dirty="0" err="1">
                <a:solidFill>
                  <a:srgbClr val="FF0000"/>
                </a:solidFill>
              </a:rPr>
              <a:t>Pythona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Spremenljivke so vsebniki za shranjevanje podatkovnih vrednosti.</a:t>
            </a:r>
          </a:p>
          <a:p>
            <a:r>
              <a:rPr lang="sl-SI" dirty="0" err="1">
                <a:solidFill>
                  <a:srgbClr val="000000"/>
                </a:solidFill>
              </a:rPr>
              <a:t>Python</a:t>
            </a:r>
            <a:r>
              <a:rPr lang="sl-SI" dirty="0">
                <a:solidFill>
                  <a:srgbClr val="000000"/>
                </a:solidFill>
              </a:rPr>
              <a:t> nima ukaza za deklariranje spremenljivke.</a:t>
            </a:r>
          </a:p>
          <a:p>
            <a:r>
              <a:rPr lang="sl-SI" dirty="0">
                <a:solidFill>
                  <a:srgbClr val="000000"/>
                </a:solidFill>
              </a:rPr>
              <a:t>Spremenljivka je ustvarjena v trenutku, ko ji prvič pripišete vrednost.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 = </a:t>
            </a:r>
            <a:r>
              <a:rPr lang="sl-SI" dirty="0">
                <a:solidFill>
                  <a:srgbClr val="FF0000"/>
                </a:solidFill>
                <a:effectLst/>
              </a:rPr>
              <a:t>5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y = </a:t>
            </a:r>
            <a:r>
              <a:rPr lang="sl-SI" dirty="0">
                <a:solidFill>
                  <a:srgbClr val="A52A2A"/>
                </a:solidFill>
                <a:effectLst/>
              </a:rPr>
              <a:t>"Janez"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(x)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(y)</a:t>
            </a:r>
            <a:endParaRPr lang="sl-SI" dirty="0">
              <a:solidFill>
                <a:srgbClr val="000000"/>
              </a:solidFill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169238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Spremenljivke </a:t>
            </a:r>
            <a:r>
              <a:rPr lang="sl-SI" b="1" dirty="0" err="1">
                <a:solidFill>
                  <a:srgbClr val="FF0000"/>
                </a:solidFill>
              </a:rPr>
              <a:t>Pythona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Spremenljivkam ni treba deklarirati določene vrste, po nastavitvi pa lahko celo spremenijo vrsto.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en-US" dirty="0">
                <a:solidFill>
                  <a:srgbClr val="FF0000"/>
                </a:solidFill>
                <a:effectLst/>
              </a:rPr>
              <a:t>4</a:t>
            </a:r>
            <a:r>
              <a:rPr lang="en-US" dirty="0">
                <a:solidFill>
                  <a:srgbClr val="000000"/>
                </a:solidFill>
                <a:effectLst/>
              </a:rPr>
              <a:t>       </a:t>
            </a:r>
            <a:r>
              <a:rPr lang="en-US" dirty="0">
                <a:solidFill>
                  <a:srgbClr val="008000"/>
                </a:solidFill>
                <a:effectLst/>
              </a:rPr>
              <a:t># x </a:t>
            </a:r>
            <a:r>
              <a:rPr lang="sl-SI" dirty="0">
                <a:solidFill>
                  <a:srgbClr val="008000"/>
                </a:solidFill>
                <a:effectLst/>
              </a:rPr>
              <a:t>je tipa </a:t>
            </a:r>
            <a:r>
              <a:rPr lang="en-US" dirty="0">
                <a:solidFill>
                  <a:srgbClr val="008000"/>
                </a:solidFill>
                <a:effectLst/>
              </a:rPr>
              <a:t>int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en-US" dirty="0">
                <a:solidFill>
                  <a:srgbClr val="A52A2A"/>
                </a:solidFill>
                <a:effectLst/>
              </a:rPr>
              <a:t>"Sally"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x </a:t>
            </a:r>
            <a:r>
              <a:rPr lang="sl-SI" dirty="0">
                <a:solidFill>
                  <a:srgbClr val="008000"/>
                </a:solidFill>
                <a:effectLst/>
              </a:rPr>
              <a:t>je sedaj tipa </a:t>
            </a:r>
            <a:r>
              <a:rPr lang="en-US" dirty="0">
                <a:solidFill>
                  <a:srgbClr val="008000"/>
                </a:solidFill>
                <a:effectLst/>
              </a:rPr>
              <a:t>str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526825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Prirejanje tipa spremenljivk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želite določiti podatkovno vrsto spremenljivke, lahko to storite z metodo prirejanja tipov.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en-US" dirty="0">
                <a:solidFill>
                  <a:srgbClr val="0000CD"/>
                </a:solidFill>
                <a:effectLst/>
              </a:rPr>
              <a:t>str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)    </a:t>
            </a:r>
            <a:r>
              <a:rPr lang="en-US" dirty="0">
                <a:solidFill>
                  <a:srgbClr val="008000"/>
                </a:solidFill>
                <a:effectLst/>
              </a:rPr>
              <a:t># x </a:t>
            </a:r>
            <a:r>
              <a:rPr lang="sl-SI" dirty="0">
                <a:solidFill>
                  <a:srgbClr val="008000"/>
                </a:solidFill>
                <a:effectLst/>
              </a:rPr>
              <a:t>bo vrednost</a:t>
            </a:r>
            <a:r>
              <a:rPr lang="en-US" dirty="0">
                <a:solidFill>
                  <a:srgbClr val="008000"/>
                </a:solidFill>
                <a:effectLst/>
              </a:rPr>
              <a:t>'3'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y = </a:t>
            </a:r>
            <a:r>
              <a:rPr lang="en-US" dirty="0">
                <a:solidFill>
                  <a:srgbClr val="0000CD"/>
                </a:solidFill>
                <a:effectLst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)    </a:t>
            </a:r>
            <a:r>
              <a:rPr lang="en-US" dirty="0">
                <a:solidFill>
                  <a:srgbClr val="008000"/>
                </a:solidFill>
                <a:effectLst/>
              </a:rPr>
              <a:t># y </a:t>
            </a:r>
            <a:r>
              <a:rPr lang="sl-SI" dirty="0">
                <a:solidFill>
                  <a:srgbClr val="008000"/>
                </a:solidFill>
              </a:rPr>
              <a:t>bo vrednost </a:t>
            </a:r>
            <a:r>
              <a:rPr lang="en-US" dirty="0">
                <a:solidFill>
                  <a:srgbClr val="008000"/>
                </a:solidFill>
                <a:effectLst/>
              </a:rPr>
              <a:t>3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z = </a:t>
            </a:r>
            <a:r>
              <a:rPr lang="en-US" dirty="0">
                <a:solidFill>
                  <a:srgbClr val="0000CD"/>
                </a:solidFill>
                <a:effectLst/>
              </a:rPr>
              <a:t>float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)  </a:t>
            </a:r>
            <a:r>
              <a:rPr lang="en-US" dirty="0">
                <a:solidFill>
                  <a:srgbClr val="008000"/>
                </a:solidFill>
                <a:effectLst/>
              </a:rPr>
              <a:t># z </a:t>
            </a:r>
            <a:r>
              <a:rPr lang="sl-SI" dirty="0">
                <a:solidFill>
                  <a:srgbClr val="008000"/>
                </a:solidFill>
                <a:effectLst/>
              </a:rPr>
              <a:t>bo vrednost </a:t>
            </a:r>
            <a:r>
              <a:rPr lang="en-US" dirty="0">
                <a:solidFill>
                  <a:srgbClr val="008000"/>
                </a:solidFill>
                <a:effectLst/>
              </a:rPr>
              <a:t>3.0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19915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Prirejanje tipa spremenljivk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Podatkovno vrsto spremenljivke lahko dobite s funkcijo </a:t>
            </a:r>
            <a:r>
              <a:rPr lang="sl-SI" dirty="0" err="1"/>
              <a:t>type</a:t>
            </a:r>
            <a:r>
              <a:rPr lang="sl-SI" dirty="0"/>
              <a:t>().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 = </a:t>
            </a:r>
            <a:r>
              <a:rPr lang="sl-SI" dirty="0">
                <a:solidFill>
                  <a:srgbClr val="FF0000"/>
                </a:solidFill>
                <a:effectLst/>
              </a:rPr>
              <a:t>5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y = </a:t>
            </a:r>
            <a:r>
              <a:rPr lang="sl-SI" dirty="0">
                <a:solidFill>
                  <a:srgbClr val="A52A2A"/>
                </a:solidFill>
                <a:effectLst/>
              </a:rPr>
              <a:t>"Janez"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CD"/>
                </a:solidFill>
                <a:effectLst/>
              </a:rPr>
              <a:t>type</a:t>
            </a:r>
            <a:r>
              <a:rPr lang="sl-SI" dirty="0">
                <a:solidFill>
                  <a:srgbClr val="000000"/>
                </a:solidFill>
                <a:effectLst/>
              </a:rPr>
              <a:t>(x)) -&gt;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rezultat je tip </a:t>
            </a:r>
            <a:r>
              <a:rPr lang="sl-SI" dirty="0" err="1">
                <a:solidFill>
                  <a:srgbClr val="008000"/>
                </a:solidFill>
                <a:effectLst/>
              </a:rPr>
              <a:t>int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CD"/>
                </a:solidFill>
                <a:effectLst/>
              </a:rPr>
              <a:t>type</a:t>
            </a:r>
            <a:r>
              <a:rPr lang="sl-SI" dirty="0">
                <a:solidFill>
                  <a:srgbClr val="000000"/>
                </a:solidFill>
                <a:effectLst/>
              </a:rPr>
              <a:t>(y)) -&gt;</a:t>
            </a:r>
            <a:r>
              <a:rPr lang="en-US" dirty="0">
                <a:solidFill>
                  <a:srgbClr val="008000"/>
                </a:solidFill>
                <a:effectLst/>
              </a:rPr>
              <a:t> # </a:t>
            </a:r>
            <a:r>
              <a:rPr lang="sl-SI" dirty="0">
                <a:solidFill>
                  <a:srgbClr val="008000"/>
                </a:solidFill>
                <a:effectLst/>
              </a:rPr>
              <a:t>rezultat je tip </a:t>
            </a:r>
            <a:r>
              <a:rPr lang="en-US" dirty="0">
                <a:solidFill>
                  <a:srgbClr val="008000"/>
                </a:solidFill>
                <a:effectLst/>
              </a:rPr>
              <a:t>str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940269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Enojni ali dvojni narekovaji?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Spremenljivke nizov lahko deklariramo z enojnimi ali dvojnimi narekovaji: </a:t>
            </a:r>
          </a:p>
          <a:p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Janez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je enako kot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sl-SI" dirty="0">
                <a:solidFill>
                  <a:srgbClr val="A52A2A"/>
                </a:solidFill>
                <a:effectLst/>
              </a:rPr>
              <a:t>‘Janez</a:t>
            </a:r>
            <a:r>
              <a:rPr lang="en-US" dirty="0">
                <a:solidFill>
                  <a:srgbClr val="A52A2A"/>
                </a:solidFill>
                <a:effectLst/>
              </a:rPr>
              <a:t>‘</a:t>
            </a:r>
            <a:endParaRPr lang="sl-SI" dirty="0">
              <a:solidFill>
                <a:srgbClr val="A52A2A"/>
              </a:solidFill>
              <a:effectLst/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238212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Občutljivost na velikost črk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Imena spremenljivk so občutljiva na velike in male črke.</a:t>
            </a:r>
          </a:p>
          <a:p>
            <a:r>
              <a:rPr lang="pl-PL" dirty="0"/>
              <a:t>Spodaj bo ustvarilo dve spremenljivki:</a:t>
            </a:r>
          </a:p>
          <a:p>
            <a:endParaRPr lang="pl-PL" dirty="0"/>
          </a:p>
          <a:p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Mici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spremenljivka </a:t>
            </a:r>
            <a:r>
              <a:rPr lang="en-US" dirty="0">
                <a:solidFill>
                  <a:srgbClr val="008000"/>
                </a:solidFill>
                <a:effectLst/>
              </a:rPr>
              <a:t>A </a:t>
            </a:r>
            <a:r>
              <a:rPr lang="sl-SI" dirty="0">
                <a:solidFill>
                  <a:srgbClr val="008000"/>
                </a:solidFill>
                <a:effectLst/>
              </a:rPr>
              <a:t>ne bo prepisala spremenljivke </a:t>
            </a:r>
            <a:r>
              <a:rPr lang="en-US" dirty="0">
                <a:solidFill>
                  <a:srgbClr val="008000"/>
                </a:solidFill>
                <a:effectLst/>
              </a:rPr>
              <a:t>a</a:t>
            </a:r>
            <a:r>
              <a:rPr lang="sl-SI" dirty="0">
                <a:solidFill>
                  <a:srgbClr val="008000"/>
                </a:solidFill>
                <a:effectLst/>
              </a:rPr>
              <a:t>!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587460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Imena spremenljivk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Spremenljivka ima lahko kratko ime (kot sta x in y) ali bolj opisno ime (starost, ime, priimek, </a:t>
            </a:r>
            <a:r>
              <a:rPr lang="sl-SI" dirty="0" err="1"/>
              <a:t>ipd</a:t>
            </a:r>
            <a:r>
              <a:rPr lang="sl-SI" dirty="0"/>
              <a:t>).</a:t>
            </a:r>
          </a:p>
          <a:p>
            <a:pPr marL="0" indent="0">
              <a:buNone/>
            </a:pPr>
            <a:r>
              <a:rPr lang="sl-SI" dirty="0"/>
              <a:t>Pravila za spremenljivke </a:t>
            </a:r>
            <a:r>
              <a:rPr lang="sl-SI" dirty="0" err="1"/>
              <a:t>Python</a:t>
            </a:r>
            <a:r>
              <a:rPr lang="sl-SI" dirty="0"/>
              <a:t>:</a:t>
            </a:r>
          </a:p>
          <a:p>
            <a:r>
              <a:rPr lang="sl-SI" dirty="0"/>
              <a:t>    Ime spremenljivke se mora začeti s črko ali znakom podčrtaj.</a:t>
            </a:r>
          </a:p>
          <a:p>
            <a:r>
              <a:rPr lang="sl-SI" dirty="0"/>
              <a:t>    Ime spremenljivke se ne sme začeti s številko</a:t>
            </a:r>
          </a:p>
          <a:p>
            <a:r>
              <a:rPr lang="sl-SI" dirty="0"/>
              <a:t>    Ime spremenljivke lahko vsebuje samo alfa numerične znake in podčrtaje (A-z, 0-9 in _ )</a:t>
            </a:r>
          </a:p>
          <a:p>
            <a:r>
              <a:rPr lang="sl-SI" dirty="0"/>
              <a:t>    Imena spremenljivk so občutljiva na velike in male črke (starost, Starost in STAROST so tri različne spremenljivke).</a:t>
            </a:r>
          </a:p>
        </p:txBody>
      </p:sp>
    </p:spTree>
    <p:extLst>
      <p:ext uri="{BB962C8B-B14F-4D97-AF65-F5344CB8AC3E}">
        <p14:creationId xmlns:p14="http://schemas.microsoft.com/office/powerpoint/2010/main" val="2949930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Imena spremenljivk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</a:t>
            </a:r>
            <a:r>
              <a:rPr lang="sl-SI" dirty="0" err="1"/>
              <a:t>ojaspremenljivka</a:t>
            </a:r>
            <a:r>
              <a:rPr lang="en-US" dirty="0"/>
              <a:t> = "</a:t>
            </a:r>
            <a:r>
              <a:rPr lang="sl-SI" dirty="0"/>
              <a:t>Janez</a:t>
            </a:r>
            <a:r>
              <a:rPr lang="en-US" dirty="0"/>
              <a:t>"</a:t>
            </a:r>
          </a:p>
          <a:p>
            <a:pPr algn="just"/>
            <a:r>
              <a:rPr lang="en-US" dirty="0"/>
              <a:t>m</a:t>
            </a:r>
            <a:r>
              <a:rPr lang="sl-SI" dirty="0"/>
              <a:t>oja</a:t>
            </a:r>
            <a:r>
              <a:rPr lang="en-US" dirty="0"/>
              <a:t>_</a:t>
            </a:r>
            <a:r>
              <a:rPr lang="sl-SI" dirty="0"/>
              <a:t>spremenljivka</a:t>
            </a:r>
            <a:r>
              <a:rPr lang="en-US" dirty="0"/>
              <a:t> = "</a:t>
            </a:r>
            <a:r>
              <a:rPr lang="sl-SI" dirty="0"/>
              <a:t>Janez</a:t>
            </a:r>
            <a:r>
              <a:rPr lang="en-US" dirty="0"/>
              <a:t>"</a:t>
            </a:r>
          </a:p>
          <a:p>
            <a:r>
              <a:rPr lang="en-US" dirty="0"/>
              <a:t>_</a:t>
            </a:r>
            <a:r>
              <a:rPr lang="sl-SI" dirty="0"/>
              <a:t>moja</a:t>
            </a:r>
            <a:r>
              <a:rPr lang="en-US" dirty="0"/>
              <a:t>_</a:t>
            </a:r>
            <a:r>
              <a:rPr lang="sl-SI" dirty="0"/>
              <a:t>spremenljivka</a:t>
            </a:r>
            <a:r>
              <a:rPr lang="en-US" dirty="0"/>
              <a:t> = "</a:t>
            </a:r>
            <a:r>
              <a:rPr lang="sl-SI" dirty="0"/>
              <a:t>Janez</a:t>
            </a:r>
            <a:r>
              <a:rPr lang="en-US" dirty="0"/>
              <a:t>"</a:t>
            </a:r>
          </a:p>
          <a:p>
            <a:pPr algn="just"/>
            <a:r>
              <a:rPr lang="sl-SI" dirty="0" err="1"/>
              <a:t>mojaSpremenljivka</a:t>
            </a:r>
            <a:r>
              <a:rPr lang="en-US" dirty="0"/>
              <a:t> = "</a:t>
            </a:r>
            <a:r>
              <a:rPr lang="sl-SI" dirty="0"/>
              <a:t>Janez</a:t>
            </a:r>
            <a:r>
              <a:rPr lang="en-US" dirty="0"/>
              <a:t>"</a:t>
            </a:r>
          </a:p>
          <a:p>
            <a:pPr algn="just"/>
            <a:r>
              <a:rPr lang="sl-SI" dirty="0"/>
              <a:t>MOJASPREMENLJIVKA</a:t>
            </a:r>
            <a:r>
              <a:rPr lang="en-US" dirty="0"/>
              <a:t> = "</a:t>
            </a:r>
            <a:r>
              <a:rPr lang="sl-SI" dirty="0"/>
              <a:t>Janez</a:t>
            </a:r>
            <a:r>
              <a:rPr lang="en-US" dirty="0"/>
              <a:t>"</a:t>
            </a:r>
          </a:p>
          <a:p>
            <a:r>
              <a:rPr lang="sl-SI" dirty="0" err="1"/>
              <a:t>mojaspremenljivka</a:t>
            </a:r>
            <a:r>
              <a:rPr lang="en-US" dirty="0"/>
              <a:t>2 = "</a:t>
            </a:r>
            <a:r>
              <a:rPr lang="sl-SI" dirty="0"/>
              <a:t>Janez</a:t>
            </a:r>
            <a:r>
              <a:rPr lang="en-US" dirty="0"/>
              <a:t>"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284149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Večbesedna imena spremenljivk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Imena</a:t>
            </a:r>
            <a:r>
              <a:rPr lang="en-US" dirty="0"/>
              <a:t> </a:t>
            </a:r>
            <a:r>
              <a:rPr lang="en-US" dirty="0" err="1"/>
              <a:t>spremenljivk</a:t>
            </a:r>
            <a:r>
              <a:rPr lang="en-US" dirty="0"/>
              <a:t> z </a:t>
            </a:r>
            <a:r>
              <a:rPr lang="en-US" dirty="0" err="1"/>
              <a:t>več</a:t>
            </a:r>
            <a:r>
              <a:rPr lang="en-US" dirty="0"/>
              <a:t> </a:t>
            </a:r>
            <a:r>
              <a:rPr lang="en-US" dirty="0" err="1"/>
              <a:t>kot</a:t>
            </a:r>
            <a:r>
              <a:rPr lang="en-US" dirty="0"/>
              <a:t> </a:t>
            </a:r>
            <a:r>
              <a:rPr lang="en-US" dirty="0" err="1"/>
              <a:t>eno</a:t>
            </a:r>
            <a:r>
              <a:rPr lang="en-US" dirty="0"/>
              <a:t> </a:t>
            </a:r>
            <a:r>
              <a:rPr lang="en-US" dirty="0" err="1"/>
              <a:t>besedo</a:t>
            </a:r>
            <a:r>
              <a:rPr lang="en-US" dirty="0"/>
              <a:t> je </a:t>
            </a:r>
            <a:r>
              <a:rPr lang="en-US" dirty="0" err="1"/>
              <a:t>težko</a:t>
            </a:r>
            <a:r>
              <a:rPr lang="en-US" dirty="0"/>
              <a:t> </a:t>
            </a:r>
            <a:r>
              <a:rPr lang="en-US" dirty="0" err="1"/>
              <a:t>prebrati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Obstaja</a:t>
            </a:r>
            <a:r>
              <a:rPr lang="en-US" dirty="0"/>
              <a:t> </a:t>
            </a:r>
            <a:r>
              <a:rPr lang="en-US" dirty="0" err="1"/>
              <a:t>več</a:t>
            </a:r>
            <a:r>
              <a:rPr lang="en-US" dirty="0"/>
              <a:t> </a:t>
            </a:r>
            <a:r>
              <a:rPr lang="en-US" dirty="0" err="1"/>
              <a:t>tehnik</a:t>
            </a:r>
            <a:r>
              <a:rPr lang="en-US" dirty="0"/>
              <a:t>, s </a:t>
            </a:r>
            <a:r>
              <a:rPr lang="en-US" dirty="0" err="1"/>
              <a:t>katerimi</a:t>
            </a:r>
            <a:r>
              <a:rPr lang="en-US" dirty="0"/>
              <a:t> </a:t>
            </a:r>
            <a:r>
              <a:rPr lang="en-US" dirty="0" err="1"/>
              <a:t>jih</a:t>
            </a:r>
            <a:r>
              <a:rPr lang="en-US" dirty="0"/>
              <a:t>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naredite</a:t>
            </a:r>
            <a:r>
              <a:rPr lang="en-US" dirty="0"/>
              <a:t> </a:t>
            </a:r>
            <a:r>
              <a:rPr lang="en-US" dirty="0" err="1"/>
              <a:t>bolj</a:t>
            </a:r>
            <a:r>
              <a:rPr lang="en-US" dirty="0"/>
              <a:t> </a:t>
            </a:r>
            <a:r>
              <a:rPr lang="en-US" dirty="0" err="1"/>
              <a:t>berljiva</a:t>
            </a:r>
            <a:r>
              <a:rPr lang="en-US" dirty="0"/>
              <a:t>:</a:t>
            </a:r>
            <a:endParaRPr lang="sl-SI" dirty="0"/>
          </a:p>
          <a:p>
            <a:pPr marL="0" indent="0" algn="just">
              <a:buNone/>
            </a:pPr>
            <a:r>
              <a:rPr lang="sl-SI" dirty="0"/>
              <a:t>Primer:</a:t>
            </a:r>
          </a:p>
          <a:p>
            <a:pPr algn="just"/>
            <a:r>
              <a:rPr lang="sl-SI" dirty="0"/>
              <a:t>Kamelji način; Vsaka beseda, razen prve, se začne z veliko začetnico:</a:t>
            </a:r>
          </a:p>
          <a:p>
            <a:pPr marL="457200" lvl="1" indent="0" algn="just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imeMojeSpremenljivke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A52A2A"/>
                </a:solidFill>
                <a:effectLst/>
              </a:rPr>
              <a:t>"Janez"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  <a:endParaRPr lang="sl-SI" dirty="0">
              <a:solidFill>
                <a:srgbClr val="FF0000"/>
              </a:solidFill>
            </a:endParaRPr>
          </a:p>
          <a:p>
            <a:pPr algn="just"/>
            <a:r>
              <a:rPr lang="sl-SI" dirty="0"/>
              <a:t>Način pascal; Vsaka beseda se začne z veliko začetnico:</a:t>
            </a:r>
          </a:p>
          <a:p>
            <a:pPr marL="0" indent="0" algn="just">
              <a:buNone/>
            </a:pPr>
            <a:r>
              <a:rPr lang="sl-SI" dirty="0">
                <a:solidFill>
                  <a:srgbClr val="000000"/>
                </a:solidFill>
              </a:rPr>
              <a:t>     </a:t>
            </a:r>
            <a:r>
              <a:rPr lang="sl-SI" sz="2400" dirty="0" err="1">
                <a:solidFill>
                  <a:srgbClr val="000000"/>
                </a:solidFill>
              </a:rPr>
              <a:t>I</a:t>
            </a:r>
            <a:r>
              <a:rPr lang="sl-SI" sz="2400" dirty="0" err="1">
                <a:solidFill>
                  <a:srgbClr val="000000"/>
                </a:solidFill>
                <a:effectLst/>
              </a:rPr>
              <a:t>meMojeSpremenljivke</a:t>
            </a:r>
            <a:r>
              <a:rPr lang="sl-SI" sz="2400" dirty="0">
                <a:solidFill>
                  <a:srgbClr val="000000"/>
                </a:solidFill>
                <a:effectLst/>
              </a:rPr>
              <a:t> = </a:t>
            </a:r>
            <a:r>
              <a:rPr lang="sl-SI" sz="2400" dirty="0">
                <a:solidFill>
                  <a:srgbClr val="A52A2A"/>
                </a:solidFill>
                <a:effectLst/>
              </a:rPr>
              <a:t>"Janez"</a:t>
            </a:r>
            <a:r>
              <a:rPr lang="sl-SI" sz="2400" dirty="0">
                <a:solidFill>
                  <a:srgbClr val="FF0000"/>
                </a:solidFill>
                <a:effectLst/>
              </a:rPr>
              <a:t> </a:t>
            </a:r>
          </a:p>
          <a:p>
            <a:pPr algn="just"/>
            <a:r>
              <a:rPr lang="sl-SI" dirty="0">
                <a:effectLst/>
              </a:rPr>
              <a:t>Način kače; </a:t>
            </a:r>
            <a:r>
              <a:rPr lang="pl-PL" dirty="0">
                <a:effectLst/>
              </a:rPr>
              <a:t>Vsaka beseda je ločena z znakom podčrtanke:</a:t>
            </a:r>
          </a:p>
          <a:p>
            <a:pPr marL="0" indent="0" algn="just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     </a:t>
            </a:r>
            <a:r>
              <a:rPr lang="sl-SI" sz="2400" dirty="0" err="1">
                <a:solidFill>
                  <a:srgbClr val="000000"/>
                </a:solidFill>
                <a:effectLst/>
              </a:rPr>
              <a:t>ime_moje_spremenljivke</a:t>
            </a:r>
            <a:r>
              <a:rPr lang="sl-SI" sz="2400" dirty="0">
                <a:solidFill>
                  <a:srgbClr val="000000"/>
                </a:solidFill>
                <a:effectLst/>
              </a:rPr>
              <a:t> = </a:t>
            </a:r>
            <a:r>
              <a:rPr lang="sl-SI" sz="2400" dirty="0">
                <a:solidFill>
                  <a:srgbClr val="A52A2A"/>
                </a:solidFill>
                <a:effectLst/>
              </a:rPr>
              <a:t>"Janez"</a:t>
            </a:r>
            <a:endParaRPr lang="sl-SI" sz="2400" dirty="0">
              <a:effectLst/>
            </a:endParaRPr>
          </a:p>
          <a:p>
            <a:pPr marL="457200" lvl="1" indent="0" algn="just">
              <a:buNone/>
            </a:pPr>
            <a:endParaRPr lang="sl-SI" dirty="0">
              <a:solidFill>
                <a:srgbClr val="FF0000"/>
              </a:solidFill>
            </a:endParaRPr>
          </a:p>
          <a:p>
            <a:pPr marL="457200" lvl="1" indent="0" algn="just">
              <a:buNone/>
            </a:pPr>
            <a:endParaRPr lang="sl-SI" dirty="0">
              <a:solidFill>
                <a:srgbClr val="FF0000"/>
              </a:solidFill>
              <a:effectLst/>
            </a:endParaRPr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232831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Spremenljivke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- pripisovanje več vrednosti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Python </a:t>
            </a:r>
            <a:r>
              <a:rPr lang="en-US" dirty="0" err="1"/>
              <a:t>omogoča</a:t>
            </a:r>
            <a:r>
              <a:rPr lang="en-US" dirty="0"/>
              <a:t> </a:t>
            </a:r>
            <a:r>
              <a:rPr lang="en-US" dirty="0" err="1"/>
              <a:t>dodelitev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več</a:t>
            </a:r>
            <a:r>
              <a:rPr lang="en-US" dirty="0"/>
              <a:t> </a:t>
            </a:r>
            <a:r>
              <a:rPr lang="en-US" dirty="0" err="1"/>
              <a:t>spremenljivkam</a:t>
            </a:r>
            <a:r>
              <a:rPr lang="en-US" dirty="0"/>
              <a:t> v </a:t>
            </a:r>
            <a:r>
              <a:rPr lang="en-US" dirty="0" err="1"/>
              <a:t>eni</a:t>
            </a:r>
            <a:r>
              <a:rPr lang="en-US" dirty="0"/>
              <a:t> </a:t>
            </a:r>
            <a:r>
              <a:rPr lang="en-US" dirty="0" err="1"/>
              <a:t>vrstici</a:t>
            </a:r>
            <a:r>
              <a:rPr lang="en-US" dirty="0"/>
              <a:t>:</a:t>
            </a:r>
            <a:endParaRPr lang="sl-SI" dirty="0"/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x, y, z =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</a:rPr>
              <a:t>“</a:t>
            </a:r>
            <a:r>
              <a:rPr lang="sl-SI" dirty="0">
                <a:solidFill>
                  <a:srgbClr val="A52A2A"/>
                </a:solidFill>
                <a:effectLst/>
              </a:rPr>
              <a:t>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(x)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(y)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(z)</a:t>
            </a:r>
            <a:endParaRPr lang="sl-SI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sl-SI" dirty="0">
                <a:solidFill>
                  <a:srgbClr val="FF0000"/>
                </a:solidFill>
              </a:rPr>
              <a:t>Opomba: Prepričajte se, da se število spremenljivk ujema s številom vrednosti, sicer bo prišlo do napake!</a:t>
            </a:r>
          </a:p>
          <a:p>
            <a:pPr marL="0" indent="0" algn="just">
              <a:buNone/>
            </a:pPr>
            <a:endParaRPr lang="sl-SI" dirty="0">
              <a:solidFill>
                <a:srgbClr val="FF0000"/>
              </a:solidFill>
            </a:endParaRPr>
          </a:p>
          <a:p>
            <a:pPr marL="457200" lvl="1" indent="0" algn="just">
              <a:buNone/>
            </a:pPr>
            <a:endParaRPr lang="sl-SI" dirty="0">
              <a:solidFill>
                <a:srgbClr val="FF0000"/>
              </a:solidFill>
              <a:effectLst/>
            </a:endParaRPr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165448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Ena vrednost za več spremenljivk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V </a:t>
            </a:r>
            <a:r>
              <a:rPr lang="en-US" dirty="0" err="1"/>
              <a:t>eni</a:t>
            </a:r>
            <a:r>
              <a:rPr lang="en-US" dirty="0"/>
              <a:t> </a:t>
            </a:r>
            <a:r>
              <a:rPr lang="en-US" dirty="0" err="1"/>
              <a:t>vrstici</a:t>
            </a:r>
            <a:r>
              <a:rPr lang="en-US" dirty="0"/>
              <a:t>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več</a:t>
            </a:r>
            <a:r>
              <a:rPr lang="en-US" dirty="0"/>
              <a:t> </a:t>
            </a:r>
            <a:r>
              <a:rPr lang="en-US" dirty="0" err="1"/>
              <a:t>spremenljivkam</a:t>
            </a:r>
            <a:r>
              <a:rPr lang="en-US" dirty="0"/>
              <a:t> </a:t>
            </a:r>
            <a:r>
              <a:rPr lang="en-US" dirty="0" err="1"/>
              <a:t>dodelite</a:t>
            </a:r>
            <a:r>
              <a:rPr lang="en-US" dirty="0"/>
              <a:t>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:</a:t>
            </a:r>
            <a:endParaRPr lang="sl-SI" dirty="0"/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</a:rPr>
              <a:t>x </a:t>
            </a:r>
            <a:r>
              <a:rPr lang="fr-FR" dirty="0">
                <a:solidFill>
                  <a:srgbClr val="000000"/>
                </a:solidFill>
                <a:effectLst/>
              </a:rPr>
              <a:t>=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y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=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z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=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Banana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CD"/>
                </a:solidFill>
                <a:effectLst/>
              </a:rPr>
              <a:t>print</a:t>
            </a:r>
            <a:r>
              <a:rPr lang="fr-FR" dirty="0">
                <a:solidFill>
                  <a:srgbClr val="000000"/>
                </a:solidFill>
                <a:effectLst/>
              </a:rPr>
              <a:t>(x)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CD"/>
                </a:solidFill>
                <a:effectLst/>
              </a:rPr>
              <a:t>print</a:t>
            </a:r>
            <a:r>
              <a:rPr lang="fr-FR" dirty="0">
                <a:solidFill>
                  <a:srgbClr val="000000"/>
                </a:solidFill>
                <a:effectLst/>
              </a:rPr>
              <a:t>(y)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CD"/>
                </a:solidFill>
                <a:effectLst/>
              </a:rPr>
              <a:t>print</a:t>
            </a:r>
            <a:r>
              <a:rPr lang="fr-FR" dirty="0">
                <a:solidFill>
                  <a:srgbClr val="000000"/>
                </a:solidFill>
                <a:effectLst/>
              </a:rPr>
              <a:t>(z)</a:t>
            </a:r>
            <a:endParaRPr lang="sl-SI" dirty="0">
              <a:solidFill>
                <a:srgbClr val="FF0000"/>
              </a:solidFill>
            </a:endParaRPr>
          </a:p>
          <a:p>
            <a:pPr marL="457200" lvl="1" indent="0" algn="just">
              <a:buNone/>
            </a:pPr>
            <a:endParaRPr lang="sl-SI" dirty="0">
              <a:solidFill>
                <a:srgbClr val="FF0000"/>
              </a:solidFill>
              <a:effectLst/>
            </a:endParaRPr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81871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Razpakiranje</a:t>
            </a:r>
            <a:r>
              <a:rPr lang="sl-SI" b="1" dirty="0">
                <a:solidFill>
                  <a:srgbClr val="FF0000"/>
                </a:solidFill>
              </a:rPr>
              <a:t> zbirke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Če</a:t>
            </a:r>
            <a:r>
              <a:rPr lang="en-US" dirty="0"/>
              <a:t> </a:t>
            </a:r>
            <a:r>
              <a:rPr lang="en-US" dirty="0" err="1"/>
              <a:t>imate</a:t>
            </a:r>
            <a:r>
              <a:rPr lang="en-US" dirty="0"/>
              <a:t> </a:t>
            </a:r>
            <a:r>
              <a:rPr lang="en-US" dirty="0" err="1"/>
              <a:t>zbirko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seznamu</a:t>
            </a:r>
            <a:r>
              <a:rPr lang="en-US" dirty="0"/>
              <a:t>, </a:t>
            </a:r>
            <a:r>
              <a:rPr lang="en-US" dirty="0" err="1"/>
              <a:t>tuplu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sl-SI" dirty="0"/>
              <a:t>n podobno,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Python </a:t>
            </a:r>
            <a:r>
              <a:rPr lang="en-US" dirty="0" err="1"/>
              <a:t>omogoča</a:t>
            </a:r>
            <a:r>
              <a:rPr lang="en-US" dirty="0"/>
              <a:t>, da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izločite</a:t>
            </a:r>
            <a:r>
              <a:rPr lang="en-US" dirty="0"/>
              <a:t> v </a:t>
            </a:r>
            <a:r>
              <a:rPr lang="en-US" dirty="0" err="1"/>
              <a:t>spremenljivke</a:t>
            </a:r>
            <a:r>
              <a:rPr lang="en-US" dirty="0"/>
              <a:t>. To se </a:t>
            </a:r>
            <a:r>
              <a:rPr lang="en-US" dirty="0" err="1"/>
              <a:t>imenuje</a:t>
            </a:r>
            <a:r>
              <a:rPr lang="en-US" dirty="0"/>
              <a:t> </a:t>
            </a:r>
            <a:r>
              <a:rPr lang="en-US" dirty="0" err="1"/>
              <a:t>razpakiranje</a:t>
            </a:r>
            <a:r>
              <a:rPr lang="en-US" dirty="0"/>
              <a:t>.</a:t>
            </a:r>
            <a:endParaRPr lang="sl-SI" dirty="0"/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 </a:t>
            </a:r>
            <a:r>
              <a:rPr lang="fr-FR" dirty="0">
                <a:solidFill>
                  <a:srgbClr val="000000"/>
                </a:solidFill>
                <a:effectLst/>
              </a:rPr>
              <a:t>=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[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fr-FR" dirty="0">
                <a:solidFill>
                  <a:srgbClr val="000000"/>
                </a:solidFill>
                <a:effectLst/>
              </a:rPr>
              <a:t>,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A52A2A"/>
                </a:solidFill>
                <a:effectLst/>
              </a:rPr>
              <a:t>"banana"</a:t>
            </a:r>
            <a:r>
              <a:rPr lang="fr-FR" dirty="0">
                <a:solidFill>
                  <a:srgbClr val="000000"/>
                </a:solidFill>
                <a:effectLst/>
              </a:rPr>
              <a:t>,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fr-FR" dirty="0">
                <a:solidFill>
                  <a:srgbClr val="000000"/>
                </a:solidFill>
                <a:effectLst/>
              </a:rPr>
              <a:t>]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00"/>
                </a:solidFill>
                <a:effectLst/>
              </a:rPr>
              <a:t>x,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y,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z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</a:rPr>
              <a:t>=</a:t>
            </a:r>
            <a:r>
              <a:rPr lang="sl-SI" dirty="0">
                <a:solidFill>
                  <a:srgbClr val="000000"/>
                </a:solidFill>
                <a:effectLst/>
              </a:rPr>
              <a:t> sadje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CD"/>
                </a:solidFill>
                <a:effectLst/>
              </a:rPr>
              <a:t>print</a:t>
            </a:r>
            <a:r>
              <a:rPr lang="fr-FR" dirty="0">
                <a:solidFill>
                  <a:srgbClr val="000000"/>
                </a:solidFill>
                <a:effectLst/>
              </a:rPr>
              <a:t>(x)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CD"/>
                </a:solidFill>
                <a:effectLst/>
              </a:rPr>
              <a:t>print</a:t>
            </a:r>
            <a:r>
              <a:rPr lang="fr-FR" dirty="0">
                <a:solidFill>
                  <a:srgbClr val="000000"/>
                </a:solidFill>
                <a:effectLst/>
              </a:rPr>
              <a:t>(y)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CD"/>
                </a:solidFill>
                <a:effectLst/>
              </a:rPr>
              <a:t>print</a:t>
            </a:r>
            <a:r>
              <a:rPr lang="fr-FR" dirty="0">
                <a:solidFill>
                  <a:srgbClr val="000000"/>
                </a:solidFill>
                <a:effectLst/>
              </a:rPr>
              <a:t>(z)</a:t>
            </a:r>
            <a:endParaRPr lang="sl-SI" dirty="0">
              <a:solidFill>
                <a:srgbClr val="FF0000"/>
              </a:solidFill>
              <a:effectLst/>
            </a:endParaRPr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346908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Izhodni podatki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Izpis</a:t>
            </a:r>
            <a:r>
              <a:rPr lang="en-US" dirty="0"/>
              <a:t> </a:t>
            </a:r>
            <a:r>
              <a:rPr lang="en-US" dirty="0" err="1"/>
              <a:t>spremenljivk</a:t>
            </a:r>
            <a:r>
              <a:rPr lang="en-US" dirty="0"/>
              <a:t> v </a:t>
            </a:r>
            <a:r>
              <a:rPr lang="en-US" dirty="0" err="1"/>
              <a:t>Pythonu</a:t>
            </a:r>
            <a:r>
              <a:rPr lang="en-US" dirty="0"/>
              <a:t> </a:t>
            </a:r>
            <a:r>
              <a:rPr lang="en-US" dirty="0" err="1"/>
              <a:t>pogosto</a:t>
            </a:r>
            <a:r>
              <a:rPr lang="en-US" dirty="0"/>
              <a:t> </a:t>
            </a:r>
            <a:r>
              <a:rPr lang="en-US" dirty="0" err="1"/>
              <a:t>omogoča</a:t>
            </a:r>
            <a:r>
              <a:rPr lang="en-US" dirty="0"/>
              <a:t> </a:t>
            </a:r>
            <a:r>
              <a:rPr lang="en-US" dirty="0" err="1"/>
              <a:t>izpis</a:t>
            </a:r>
            <a:r>
              <a:rPr lang="en-US" dirty="0"/>
              <a:t> </a:t>
            </a:r>
            <a:r>
              <a:rPr lang="en-US" dirty="0" err="1"/>
              <a:t>spremenljivk</a:t>
            </a:r>
            <a:r>
              <a:rPr lang="en-US" dirty="0"/>
              <a:t> z </a:t>
            </a:r>
            <a:r>
              <a:rPr lang="en-US" dirty="0" err="1"/>
              <a:t>ukazom</a:t>
            </a:r>
            <a:r>
              <a:rPr lang="sl-SI" dirty="0"/>
              <a:t> “</a:t>
            </a:r>
            <a:r>
              <a:rPr lang="sl-SI" dirty="0" err="1"/>
              <a:t>print</a:t>
            </a:r>
            <a:r>
              <a:rPr lang="sl-SI" dirty="0"/>
              <a:t>“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Za </a:t>
            </a:r>
            <a:r>
              <a:rPr lang="en-US" dirty="0" err="1"/>
              <a:t>združevanje</a:t>
            </a:r>
            <a:r>
              <a:rPr lang="en-US" dirty="0"/>
              <a:t> </a:t>
            </a:r>
            <a:r>
              <a:rPr lang="en-US" dirty="0" err="1"/>
              <a:t>besedila</a:t>
            </a:r>
            <a:r>
              <a:rPr lang="en-US" dirty="0"/>
              <a:t> in </a:t>
            </a:r>
            <a:r>
              <a:rPr lang="en-US" dirty="0" err="1"/>
              <a:t>spremenljivke</a:t>
            </a:r>
            <a:r>
              <a:rPr lang="en-US" dirty="0"/>
              <a:t> Python </a:t>
            </a:r>
            <a:r>
              <a:rPr lang="en-US" dirty="0" err="1"/>
              <a:t>uporablja</a:t>
            </a:r>
            <a:r>
              <a:rPr lang="en-US" dirty="0"/>
              <a:t> </a:t>
            </a:r>
            <a:r>
              <a:rPr lang="en-US" dirty="0" err="1"/>
              <a:t>znak</a:t>
            </a:r>
            <a:r>
              <a:rPr lang="en-US" dirty="0"/>
              <a:t> +:</a:t>
            </a:r>
            <a:endParaRPr lang="sl-SI" dirty="0"/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 </a:t>
            </a:r>
            <a:r>
              <a:rPr lang="en-US" dirty="0">
                <a:solidFill>
                  <a:srgbClr val="000000"/>
                </a:solidFill>
                <a:effectLst/>
              </a:rPr>
              <a:t>=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odlicen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"Python </a:t>
            </a:r>
            <a:r>
              <a:rPr lang="sl-SI" dirty="0">
                <a:solidFill>
                  <a:srgbClr val="A52A2A"/>
                </a:solidFill>
                <a:effectLst/>
              </a:rPr>
              <a:t>je</a:t>
            </a:r>
            <a:r>
              <a:rPr lang="en-US" dirty="0">
                <a:solidFill>
                  <a:srgbClr val="A52A2A"/>
                </a:solidFill>
                <a:effectLst/>
              </a:rPr>
              <a:t> "</a:t>
            </a:r>
            <a:r>
              <a:rPr lang="en-US" dirty="0">
                <a:solidFill>
                  <a:srgbClr val="000000"/>
                </a:solidFill>
                <a:effectLst/>
              </a:rPr>
              <a:t> + x)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pl-PL" dirty="0"/>
              <a:t>Z znakom + lahko spremenljivko dodate drugi spremenljivki: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en-US" dirty="0">
                <a:solidFill>
                  <a:srgbClr val="A52A2A"/>
                </a:solidFill>
                <a:effectLst/>
              </a:rPr>
              <a:t>"Python </a:t>
            </a:r>
            <a:r>
              <a:rPr lang="sl-SI" dirty="0">
                <a:solidFill>
                  <a:srgbClr val="A52A2A"/>
                </a:solidFill>
                <a:effectLst/>
              </a:rPr>
              <a:t>je</a:t>
            </a:r>
            <a:r>
              <a:rPr lang="en-US" dirty="0">
                <a:solidFill>
                  <a:srgbClr val="A52A2A"/>
                </a:solidFill>
                <a:effectLst/>
              </a:rPr>
              <a:t> 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y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odlicen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z =  x + y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(z)</a:t>
            </a:r>
            <a:endParaRPr lang="sl-SI" dirty="0"/>
          </a:p>
          <a:p>
            <a:pPr lvl="1" algn="just"/>
            <a:endParaRPr lang="sl-SI" dirty="0"/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92185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Izhodni podatki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številkah</a:t>
            </a:r>
            <a:r>
              <a:rPr lang="en-US" dirty="0"/>
              <a:t> </a:t>
            </a:r>
            <a:r>
              <a:rPr lang="en-US" dirty="0" err="1"/>
              <a:t>znak</a:t>
            </a:r>
            <a:r>
              <a:rPr lang="en-US" dirty="0"/>
              <a:t> + </a:t>
            </a:r>
            <a:r>
              <a:rPr lang="en-US" dirty="0" err="1"/>
              <a:t>deluje</a:t>
            </a:r>
            <a:r>
              <a:rPr lang="en-US" dirty="0"/>
              <a:t> </a:t>
            </a:r>
            <a:r>
              <a:rPr lang="en-US" dirty="0" err="1"/>
              <a:t>kot</a:t>
            </a:r>
            <a:r>
              <a:rPr lang="en-US" dirty="0"/>
              <a:t> </a:t>
            </a:r>
            <a:r>
              <a:rPr lang="en-US" dirty="0" err="1"/>
              <a:t>matematični</a:t>
            </a:r>
            <a:r>
              <a:rPr lang="en-US" dirty="0"/>
              <a:t> operator:</a:t>
            </a:r>
            <a:endParaRPr lang="sl-SI" dirty="0"/>
          </a:p>
          <a:p>
            <a:pPr marL="0" indent="0">
              <a:buNone/>
            </a:pPr>
            <a:r>
              <a:rPr lang="es-ES" dirty="0">
                <a:solidFill>
                  <a:srgbClr val="000000"/>
                </a:solidFill>
                <a:effectLst/>
              </a:rPr>
              <a:t>x=</a:t>
            </a:r>
            <a:r>
              <a:rPr lang="es-ES" dirty="0">
                <a:solidFill>
                  <a:srgbClr val="FF0000"/>
                </a:solidFill>
                <a:effectLst/>
              </a:rPr>
              <a:t>5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00"/>
                </a:solidFill>
                <a:effectLst/>
              </a:rPr>
              <a:t>y=</a:t>
            </a:r>
            <a:r>
              <a:rPr lang="es-ES" dirty="0">
                <a:solidFill>
                  <a:srgbClr val="FF0000"/>
                </a:solidFill>
                <a:effectLst/>
              </a:rPr>
              <a:t>10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CD"/>
                </a:solidFill>
                <a:effectLst/>
              </a:rPr>
              <a:t>print</a:t>
            </a:r>
            <a:r>
              <a:rPr lang="es-ES" dirty="0">
                <a:solidFill>
                  <a:srgbClr val="000000"/>
                </a:solidFill>
                <a:effectLst/>
              </a:rPr>
              <a:t>(x + y)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Če poskušate združiti niz in število, vam bo </a:t>
            </a:r>
            <a:r>
              <a:rPr lang="sl-SI" dirty="0" err="1"/>
              <a:t>Python</a:t>
            </a:r>
            <a:r>
              <a:rPr lang="sl-SI" dirty="0"/>
              <a:t> sporočil napako:</a:t>
            </a:r>
          </a:p>
          <a:p>
            <a:pPr marL="0" indent="0">
              <a:buNone/>
            </a:pPr>
            <a:r>
              <a:rPr lang="es-ES" dirty="0">
                <a:solidFill>
                  <a:srgbClr val="000000"/>
                </a:solidFill>
                <a:effectLst/>
              </a:rPr>
              <a:t>x = </a:t>
            </a:r>
            <a:r>
              <a:rPr lang="es-ES" dirty="0">
                <a:solidFill>
                  <a:srgbClr val="FF0000"/>
                </a:solidFill>
                <a:effectLst/>
              </a:rPr>
              <a:t>5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00"/>
                </a:solidFill>
                <a:effectLst/>
              </a:rPr>
              <a:t>y = </a:t>
            </a:r>
            <a:r>
              <a:rPr lang="es-ES" dirty="0">
                <a:solidFill>
                  <a:srgbClr val="A52A2A"/>
                </a:solidFill>
                <a:effectLst/>
              </a:rPr>
              <a:t>"J</a:t>
            </a:r>
            <a:r>
              <a:rPr lang="sl-SI" dirty="0" err="1">
                <a:solidFill>
                  <a:srgbClr val="A52A2A"/>
                </a:solidFill>
                <a:effectLst/>
              </a:rPr>
              <a:t>anez</a:t>
            </a:r>
            <a:r>
              <a:rPr lang="es-ES" dirty="0">
                <a:solidFill>
                  <a:srgbClr val="A52A2A"/>
                </a:solidFill>
                <a:effectLst/>
              </a:rPr>
              <a:t>"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CD"/>
                </a:solidFill>
                <a:effectLst/>
              </a:rPr>
              <a:t>print</a:t>
            </a:r>
            <a:r>
              <a:rPr lang="es-ES" dirty="0">
                <a:solidFill>
                  <a:srgbClr val="000000"/>
                </a:solidFill>
                <a:effectLst/>
              </a:rPr>
              <a:t>(x + y)</a:t>
            </a:r>
            <a:endParaRPr lang="sl-SI" dirty="0"/>
          </a:p>
          <a:p>
            <a:pPr marL="457200" lvl="1" indent="0">
              <a:buNone/>
            </a:pPr>
            <a:endParaRPr lang="sl-SI" dirty="0"/>
          </a:p>
          <a:p>
            <a:pPr lvl="1" algn="just"/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515005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Globalne spremenljivke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err="1"/>
              <a:t>Spremenljivke</a:t>
            </a:r>
            <a:r>
              <a:rPr lang="en-US" dirty="0"/>
              <a:t>, ki so </a:t>
            </a:r>
            <a:r>
              <a:rPr lang="en-US" dirty="0" err="1"/>
              <a:t>ustvarjene</a:t>
            </a:r>
            <a:r>
              <a:rPr lang="en-US" dirty="0"/>
              <a:t> </a:t>
            </a:r>
            <a:r>
              <a:rPr lang="en-US" dirty="0" err="1"/>
              <a:t>zunaj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, so </a:t>
            </a:r>
            <a:r>
              <a:rPr lang="en-US" dirty="0" err="1"/>
              <a:t>znane</a:t>
            </a:r>
            <a:r>
              <a:rPr lang="en-US" dirty="0"/>
              <a:t> </a:t>
            </a:r>
            <a:r>
              <a:rPr lang="en-US" dirty="0" err="1"/>
              <a:t>kot</a:t>
            </a:r>
            <a:r>
              <a:rPr lang="en-US" dirty="0"/>
              <a:t> </a:t>
            </a:r>
            <a:r>
              <a:rPr lang="en-US" dirty="0" err="1"/>
              <a:t>globalne</a:t>
            </a:r>
            <a:r>
              <a:rPr lang="en-US" dirty="0"/>
              <a:t> </a:t>
            </a:r>
            <a:r>
              <a:rPr lang="en-US" dirty="0" err="1"/>
              <a:t>spremenljivke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Globalne</a:t>
            </a:r>
            <a:r>
              <a:rPr lang="en-US" dirty="0"/>
              <a:t> </a:t>
            </a:r>
            <a:r>
              <a:rPr lang="en-US" dirty="0" err="1"/>
              <a:t>spremenljivke</a:t>
            </a:r>
            <a:r>
              <a:rPr lang="en-US" dirty="0"/>
              <a:t>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uporabljajo</a:t>
            </a:r>
            <a:r>
              <a:rPr lang="en-US" dirty="0"/>
              <a:t> </a:t>
            </a:r>
            <a:r>
              <a:rPr lang="en-US" dirty="0" err="1"/>
              <a:t>vsi</a:t>
            </a:r>
            <a:r>
              <a:rPr lang="en-US" dirty="0"/>
              <a:t>, </a:t>
            </a:r>
            <a:r>
              <a:rPr lang="en-US" dirty="0" err="1"/>
              <a:t>tako</a:t>
            </a:r>
            <a:r>
              <a:rPr lang="en-US" dirty="0"/>
              <a:t> </a:t>
            </a:r>
            <a:r>
              <a:rPr lang="en-US" dirty="0" err="1"/>
              <a:t>znotraj</a:t>
            </a:r>
            <a:r>
              <a:rPr lang="en-US" dirty="0"/>
              <a:t> </a:t>
            </a:r>
            <a:r>
              <a:rPr lang="en-US" dirty="0" err="1"/>
              <a:t>funkcij</a:t>
            </a:r>
            <a:r>
              <a:rPr lang="sl-SI" dirty="0"/>
              <a:t>,</a:t>
            </a:r>
            <a:r>
              <a:rPr lang="en-US" dirty="0"/>
              <a:t> </a:t>
            </a:r>
            <a:r>
              <a:rPr lang="en-US" dirty="0" err="1"/>
              <a:t>kot</a:t>
            </a:r>
            <a:r>
              <a:rPr lang="en-US" dirty="0"/>
              <a:t> </a:t>
            </a:r>
            <a:r>
              <a:rPr lang="en-US" dirty="0" err="1"/>
              <a:t>zunaj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.</a:t>
            </a:r>
            <a:endParaRPr lang="sl-SI" dirty="0"/>
          </a:p>
          <a:p>
            <a:pPr algn="just"/>
            <a:r>
              <a:rPr lang="sl-SI" dirty="0"/>
              <a:t>Primer: Ustvarite spremenljivko zunaj funkcije in jo uporabite znotraj funkcije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x=</a:t>
            </a:r>
            <a:r>
              <a:rPr lang="en-US" dirty="0">
                <a:solidFill>
                  <a:srgbClr val="A52A2A"/>
                </a:solidFill>
                <a:effectLst/>
              </a:rPr>
              <a:t>"awesome"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def</a:t>
            </a:r>
            <a:r>
              <a:rPr lang="sl-SI" dirty="0">
                <a:solidFill>
                  <a:srgbClr val="0000CD"/>
                </a:solidFill>
                <a:effectLst/>
              </a:rPr>
              <a:t> </a:t>
            </a:r>
            <a:r>
              <a:rPr lang="sl-SI" dirty="0" err="1">
                <a:effectLst/>
              </a:rPr>
              <a:t>M</a:t>
            </a:r>
            <a:r>
              <a:rPr lang="sl-SI" dirty="0" err="1">
                <a:solidFill>
                  <a:srgbClr val="000000"/>
                </a:solidFill>
                <a:effectLst/>
              </a:rPr>
              <a:t>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"Python</a:t>
            </a:r>
            <a:r>
              <a:rPr lang="sl-SI" dirty="0">
                <a:solidFill>
                  <a:srgbClr val="A52A2A"/>
                </a:solidFill>
                <a:effectLst/>
              </a:rPr>
              <a:t> je</a:t>
            </a:r>
            <a:r>
              <a:rPr lang="en-US" dirty="0">
                <a:solidFill>
                  <a:srgbClr val="A52A2A"/>
                </a:solidFill>
                <a:effectLst/>
              </a:rPr>
              <a:t> "</a:t>
            </a:r>
            <a:r>
              <a:rPr lang="en-US" dirty="0">
                <a:solidFill>
                  <a:srgbClr val="000000"/>
                </a:solidFill>
                <a:effectLst/>
              </a:rPr>
              <a:t> + x)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effectLst/>
              </a:rPr>
              <a:t>M</a:t>
            </a:r>
            <a:r>
              <a:rPr lang="sl-SI" dirty="0" err="1">
                <a:solidFill>
                  <a:srgbClr val="000000"/>
                </a:solidFill>
                <a:effectLst/>
              </a:rPr>
              <a:t>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 </a:t>
            </a:r>
            <a:endParaRPr lang="sl-SI" dirty="0"/>
          </a:p>
          <a:p>
            <a:pPr lvl="1" algn="just"/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757537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Globalne spremenljivke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err="1"/>
              <a:t>Če</a:t>
            </a:r>
            <a:r>
              <a:rPr lang="en-US" dirty="0"/>
              <a:t> </a:t>
            </a:r>
            <a:r>
              <a:rPr lang="en-US" dirty="0" err="1"/>
              <a:t>znotraj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ustvarite</a:t>
            </a:r>
            <a:r>
              <a:rPr lang="en-US" dirty="0"/>
              <a:t> </a:t>
            </a:r>
            <a:r>
              <a:rPr lang="en-US" dirty="0" err="1"/>
              <a:t>spremenljivko</a:t>
            </a:r>
            <a:r>
              <a:rPr lang="en-US" dirty="0"/>
              <a:t> z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imenom</a:t>
            </a:r>
            <a:r>
              <a:rPr lang="en-US" dirty="0"/>
              <a:t>, </a:t>
            </a:r>
            <a:r>
              <a:rPr lang="en-US" dirty="0" err="1"/>
              <a:t>bo</a:t>
            </a:r>
            <a:r>
              <a:rPr lang="en-US" dirty="0"/>
              <a:t> ta </a:t>
            </a:r>
            <a:r>
              <a:rPr lang="en-US" dirty="0" err="1"/>
              <a:t>spremenljivka</a:t>
            </a:r>
            <a:r>
              <a:rPr lang="en-US" dirty="0"/>
              <a:t> </a:t>
            </a:r>
            <a:r>
              <a:rPr lang="en-US" dirty="0" err="1"/>
              <a:t>lokalna</a:t>
            </a:r>
            <a:r>
              <a:rPr lang="en-US" dirty="0"/>
              <a:t> in jo </a:t>
            </a:r>
            <a:r>
              <a:rPr lang="en-US" dirty="0" err="1"/>
              <a:t>boste</a:t>
            </a:r>
            <a:r>
              <a:rPr lang="en-US" dirty="0"/>
              <a:t>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uporabljali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znotraj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. </a:t>
            </a:r>
            <a:r>
              <a:rPr lang="en-US" dirty="0" err="1"/>
              <a:t>Globalna</a:t>
            </a:r>
            <a:r>
              <a:rPr lang="en-US" dirty="0"/>
              <a:t> </a:t>
            </a:r>
            <a:r>
              <a:rPr lang="en-US" dirty="0" err="1"/>
              <a:t>spremenljivka</a:t>
            </a:r>
            <a:r>
              <a:rPr lang="en-US" dirty="0"/>
              <a:t> z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imenom</a:t>
            </a:r>
            <a:r>
              <a:rPr lang="en-US" dirty="0"/>
              <a:t> </a:t>
            </a:r>
            <a:r>
              <a:rPr lang="en-US" dirty="0" err="1"/>
              <a:t>bo</a:t>
            </a:r>
            <a:r>
              <a:rPr lang="en-US" dirty="0"/>
              <a:t> </a:t>
            </a:r>
            <a:r>
              <a:rPr lang="en-US" dirty="0" err="1"/>
              <a:t>ostala</a:t>
            </a:r>
            <a:r>
              <a:rPr lang="en-US" dirty="0"/>
              <a:t> </a:t>
            </a:r>
            <a:r>
              <a:rPr lang="en-US" dirty="0" err="1"/>
              <a:t>takšna</a:t>
            </a:r>
            <a:r>
              <a:rPr lang="en-US" dirty="0"/>
              <a:t>, </a:t>
            </a:r>
            <a:r>
              <a:rPr lang="en-US" dirty="0" err="1"/>
              <a:t>kot</a:t>
            </a:r>
            <a:r>
              <a:rPr lang="en-US" dirty="0"/>
              <a:t> je </a:t>
            </a:r>
            <a:r>
              <a:rPr lang="en-US" dirty="0" err="1"/>
              <a:t>bila</a:t>
            </a:r>
            <a:r>
              <a:rPr lang="en-US" dirty="0"/>
              <a:t>, </a:t>
            </a:r>
            <a:r>
              <a:rPr lang="en-US" dirty="0" err="1"/>
              <a:t>globalna</a:t>
            </a:r>
            <a:r>
              <a:rPr lang="en-US" dirty="0"/>
              <a:t> in s </a:t>
            </a:r>
            <a:r>
              <a:rPr lang="en-US" dirty="0" err="1"/>
              <a:t>prvotno</a:t>
            </a:r>
            <a:r>
              <a:rPr lang="en-US" dirty="0"/>
              <a:t> </a:t>
            </a:r>
            <a:r>
              <a:rPr lang="en-US" dirty="0" err="1"/>
              <a:t>vrednostjo</a:t>
            </a:r>
            <a:r>
              <a:rPr lang="en-US" dirty="0"/>
              <a:t>.</a:t>
            </a:r>
            <a:endParaRPr lang="sl-SI" dirty="0"/>
          </a:p>
          <a:p>
            <a:pPr algn="just"/>
            <a:r>
              <a:rPr lang="sl-SI" dirty="0"/>
              <a:t>Primer: Ustvarite spremenljivko znotraj funkcije z enakim imenom, kot ga ima globalna spremenljivka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x=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odlicen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x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fantasticen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"Python </a:t>
            </a:r>
            <a:r>
              <a:rPr lang="sl-SI" dirty="0">
                <a:solidFill>
                  <a:srgbClr val="A52A2A"/>
                </a:solidFill>
                <a:effectLst/>
              </a:rPr>
              <a:t>je</a:t>
            </a:r>
            <a:r>
              <a:rPr lang="en-US" dirty="0">
                <a:solidFill>
                  <a:srgbClr val="A52A2A"/>
                </a:solidFill>
                <a:effectLst/>
              </a:rPr>
              <a:t> "</a:t>
            </a:r>
            <a:r>
              <a:rPr lang="en-US" dirty="0">
                <a:solidFill>
                  <a:srgbClr val="000000"/>
                </a:solidFill>
                <a:effectLst/>
              </a:rPr>
              <a:t> + x)</a:t>
            </a:r>
            <a:r>
              <a:rPr lang="sl-SI" dirty="0">
                <a:solidFill>
                  <a:srgbClr val="000000"/>
                </a:solidFill>
                <a:effectLst/>
              </a:rPr>
              <a:t> -&gt;Znotraj funkcije 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"Python </a:t>
            </a:r>
            <a:r>
              <a:rPr lang="sl-SI" dirty="0">
                <a:solidFill>
                  <a:srgbClr val="A52A2A"/>
                </a:solidFill>
                <a:effectLst/>
              </a:rPr>
              <a:t>je</a:t>
            </a:r>
            <a:r>
              <a:rPr lang="en-US" dirty="0">
                <a:solidFill>
                  <a:srgbClr val="A52A2A"/>
                </a:solidFill>
                <a:effectLst/>
              </a:rPr>
              <a:t> "</a:t>
            </a:r>
            <a:r>
              <a:rPr lang="en-US" dirty="0">
                <a:solidFill>
                  <a:srgbClr val="000000"/>
                </a:solidFill>
                <a:effectLst/>
              </a:rPr>
              <a:t> + x) </a:t>
            </a:r>
            <a:r>
              <a:rPr lang="sl-SI" dirty="0">
                <a:solidFill>
                  <a:srgbClr val="000000"/>
                </a:solidFill>
                <a:effectLst/>
              </a:rPr>
              <a:t> -&gt;Uporaba globalne spremenljivke</a:t>
            </a:r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540022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Globalna ključna beseda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err="1"/>
              <a:t>Običajno</a:t>
            </a:r>
            <a:r>
              <a:rPr lang="en-US" dirty="0"/>
              <a:t> je </a:t>
            </a:r>
            <a:r>
              <a:rPr lang="en-US" dirty="0" err="1"/>
              <a:t>spremenljivka</a:t>
            </a:r>
            <a:r>
              <a:rPr lang="en-US" dirty="0"/>
              <a:t>, ki jo </a:t>
            </a:r>
            <a:r>
              <a:rPr lang="en-US" dirty="0" err="1"/>
              <a:t>ustvarite</a:t>
            </a:r>
            <a:r>
              <a:rPr lang="en-US" dirty="0"/>
              <a:t> </a:t>
            </a:r>
            <a:r>
              <a:rPr lang="en-US" dirty="0" err="1"/>
              <a:t>znotraj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lokalna</a:t>
            </a:r>
            <a:r>
              <a:rPr lang="en-US" dirty="0"/>
              <a:t> in jo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uporabljate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znotraj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Če</a:t>
            </a:r>
            <a:r>
              <a:rPr lang="en-US" dirty="0"/>
              <a:t> </a:t>
            </a:r>
            <a:r>
              <a:rPr lang="en-US" dirty="0" err="1"/>
              <a:t>želite</a:t>
            </a:r>
            <a:r>
              <a:rPr lang="en-US" dirty="0"/>
              <a:t> </a:t>
            </a:r>
            <a:r>
              <a:rPr lang="en-US" dirty="0" err="1"/>
              <a:t>znotraj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ustvariti</a:t>
            </a:r>
            <a:r>
              <a:rPr lang="en-US" dirty="0"/>
              <a:t> </a:t>
            </a:r>
            <a:r>
              <a:rPr lang="en-US" dirty="0" err="1"/>
              <a:t>globalno</a:t>
            </a:r>
            <a:r>
              <a:rPr lang="en-US" dirty="0"/>
              <a:t> </a:t>
            </a:r>
            <a:r>
              <a:rPr lang="en-US" dirty="0" err="1"/>
              <a:t>spremenljivko</a:t>
            </a:r>
            <a:r>
              <a:rPr lang="en-US" dirty="0"/>
              <a:t>,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uporabite</a:t>
            </a:r>
            <a:r>
              <a:rPr lang="en-US" dirty="0"/>
              <a:t> </a:t>
            </a:r>
            <a:r>
              <a:rPr lang="en-US" dirty="0" err="1"/>
              <a:t>ključno</a:t>
            </a:r>
            <a:r>
              <a:rPr lang="en-US" dirty="0"/>
              <a:t> </a:t>
            </a:r>
            <a:r>
              <a:rPr lang="en-US" dirty="0" err="1"/>
              <a:t>besedo</a:t>
            </a:r>
            <a:r>
              <a:rPr lang="en-US" dirty="0"/>
              <a:t> </a:t>
            </a:r>
            <a:r>
              <a:rPr lang="sl-SI" dirty="0"/>
              <a:t>“</a:t>
            </a:r>
            <a:r>
              <a:rPr lang="en-US" dirty="0"/>
              <a:t>global</a:t>
            </a:r>
            <a:r>
              <a:rPr lang="sl-SI" dirty="0"/>
              <a:t>“</a:t>
            </a:r>
            <a:r>
              <a:rPr lang="en-US" dirty="0"/>
              <a:t>.</a:t>
            </a:r>
            <a:endParaRPr lang="sl-SI" dirty="0"/>
          </a:p>
          <a:p>
            <a:pPr algn="just"/>
            <a:r>
              <a:rPr lang="sl-SI" dirty="0"/>
              <a:t>Če uporabite ključno besedo “global“, spremenljivka pripada globalnemu obsegu: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global</a:t>
            </a:r>
            <a:r>
              <a:rPr lang="en-US" dirty="0">
                <a:solidFill>
                  <a:srgbClr val="000000"/>
                </a:solidFill>
                <a:effectLst/>
              </a:rPr>
              <a:t> x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</a:rPr>
              <a:t>x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fantasticen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"Python </a:t>
            </a:r>
            <a:r>
              <a:rPr lang="sl-SI" dirty="0">
                <a:solidFill>
                  <a:srgbClr val="A52A2A"/>
                </a:solidFill>
                <a:effectLst/>
              </a:rPr>
              <a:t>je</a:t>
            </a:r>
            <a:r>
              <a:rPr lang="en-US" dirty="0">
                <a:solidFill>
                  <a:srgbClr val="A52A2A"/>
                </a:solidFill>
                <a:effectLst/>
              </a:rPr>
              <a:t> "</a:t>
            </a:r>
            <a:r>
              <a:rPr lang="en-US" dirty="0">
                <a:solidFill>
                  <a:srgbClr val="000000"/>
                </a:solidFill>
                <a:effectLst/>
              </a:rPr>
              <a:t> + x)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357706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Globalna ključna beseda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err="1"/>
              <a:t>Ključno</a:t>
            </a:r>
            <a:r>
              <a:rPr lang="en-US" dirty="0"/>
              <a:t> </a:t>
            </a:r>
            <a:r>
              <a:rPr lang="en-US" dirty="0" err="1"/>
              <a:t>besedo</a:t>
            </a:r>
            <a:r>
              <a:rPr lang="en-US" dirty="0"/>
              <a:t> </a:t>
            </a:r>
            <a:r>
              <a:rPr lang="sl-SI" dirty="0"/>
              <a:t>“</a:t>
            </a:r>
            <a:r>
              <a:rPr lang="en-US" dirty="0"/>
              <a:t>global</a:t>
            </a:r>
            <a:r>
              <a:rPr lang="sl-SI" dirty="0"/>
              <a:t>“</a:t>
            </a:r>
            <a:r>
              <a:rPr lang="en-US" dirty="0"/>
              <a:t> </a:t>
            </a:r>
            <a:r>
              <a:rPr lang="en-US" dirty="0" err="1"/>
              <a:t>uporabite</a:t>
            </a:r>
            <a:r>
              <a:rPr lang="en-US" dirty="0"/>
              <a:t> </a:t>
            </a:r>
            <a:r>
              <a:rPr lang="en-US" dirty="0" err="1"/>
              <a:t>tudi</a:t>
            </a:r>
            <a:r>
              <a:rPr lang="en-US" dirty="0"/>
              <a:t>, </a:t>
            </a:r>
            <a:r>
              <a:rPr lang="en-US" dirty="0" err="1"/>
              <a:t>če</a:t>
            </a:r>
            <a:r>
              <a:rPr lang="en-US" dirty="0"/>
              <a:t> </a:t>
            </a:r>
            <a:r>
              <a:rPr lang="en-US" dirty="0" err="1"/>
              <a:t>želite</a:t>
            </a:r>
            <a:r>
              <a:rPr lang="en-US" dirty="0"/>
              <a:t> </a:t>
            </a:r>
            <a:r>
              <a:rPr lang="en-US" dirty="0" err="1"/>
              <a:t>spremeniti</a:t>
            </a:r>
            <a:r>
              <a:rPr lang="en-US" dirty="0"/>
              <a:t> </a:t>
            </a:r>
            <a:r>
              <a:rPr lang="en-US" dirty="0" err="1"/>
              <a:t>globalno</a:t>
            </a:r>
            <a:r>
              <a:rPr lang="en-US" dirty="0"/>
              <a:t> </a:t>
            </a:r>
            <a:r>
              <a:rPr lang="en-US" dirty="0" err="1"/>
              <a:t>spremenljivko</a:t>
            </a:r>
            <a:r>
              <a:rPr lang="en-US" dirty="0"/>
              <a:t> </a:t>
            </a:r>
            <a:r>
              <a:rPr lang="en-US" dirty="0" err="1"/>
              <a:t>znotraj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.</a:t>
            </a:r>
            <a:endParaRPr lang="sl-SI" dirty="0"/>
          </a:p>
          <a:p>
            <a:pPr algn="just"/>
            <a:r>
              <a:rPr lang="sl-SI" dirty="0"/>
              <a:t>Če želite spremeniti vrednost globalne spremenljivke znotraj funkcije, se na spremenljivko sklicujte z uporabo ključne besede global:</a:t>
            </a:r>
          </a:p>
          <a:p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odlicen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global</a:t>
            </a:r>
            <a:r>
              <a:rPr lang="en-US" dirty="0">
                <a:solidFill>
                  <a:srgbClr val="000000"/>
                </a:solidFill>
                <a:effectLst/>
              </a:rPr>
              <a:t> x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</a:rPr>
              <a:t>x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fantasticen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MojaFunkcija</a:t>
            </a:r>
            <a:r>
              <a:rPr lang="en-US" dirty="0">
                <a:solidFill>
                  <a:srgbClr val="000000"/>
                </a:solidFill>
                <a:effectLst/>
              </a:rPr>
              <a:t>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"Python </a:t>
            </a:r>
            <a:r>
              <a:rPr lang="sl-SI" dirty="0">
                <a:solidFill>
                  <a:srgbClr val="A52A2A"/>
                </a:solidFill>
                <a:effectLst/>
              </a:rPr>
              <a:t>je</a:t>
            </a:r>
            <a:r>
              <a:rPr lang="en-US" dirty="0">
                <a:solidFill>
                  <a:srgbClr val="A52A2A"/>
                </a:solidFill>
                <a:effectLst/>
              </a:rPr>
              <a:t> "</a:t>
            </a:r>
            <a:r>
              <a:rPr lang="en-US" dirty="0">
                <a:solidFill>
                  <a:srgbClr val="000000"/>
                </a:solidFill>
                <a:effectLst/>
              </a:rPr>
              <a:t> + x)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934107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Podatkovni tipi v </a:t>
            </a:r>
            <a:r>
              <a:rPr lang="sl-SI" b="1" dirty="0" err="1">
                <a:solidFill>
                  <a:srgbClr val="FF0000"/>
                </a:solidFill>
              </a:rPr>
              <a:t>Pythonu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programiranju</a:t>
            </a:r>
            <a:r>
              <a:rPr lang="en-US" dirty="0"/>
              <a:t> je </a:t>
            </a:r>
            <a:r>
              <a:rPr lang="en-US" dirty="0" err="1"/>
              <a:t>podatkovn</a:t>
            </a:r>
            <a:r>
              <a:rPr lang="sl-SI" dirty="0"/>
              <a:t>i</a:t>
            </a:r>
            <a:r>
              <a:rPr lang="en-US" dirty="0"/>
              <a:t> </a:t>
            </a:r>
            <a:r>
              <a:rPr lang="sl-SI" dirty="0"/>
              <a:t>tip</a:t>
            </a:r>
            <a:r>
              <a:rPr lang="en-US" dirty="0"/>
              <a:t> </a:t>
            </a:r>
            <a:r>
              <a:rPr lang="en-US" dirty="0" err="1"/>
              <a:t>pomemben</a:t>
            </a:r>
            <a:r>
              <a:rPr lang="en-US" dirty="0"/>
              <a:t> </a:t>
            </a:r>
            <a:r>
              <a:rPr lang="en-US" dirty="0" err="1"/>
              <a:t>pojem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Spremenljivke</a:t>
            </a:r>
            <a:r>
              <a:rPr lang="en-US" dirty="0"/>
              <a:t>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shranjujejo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različnih</a:t>
            </a:r>
            <a:r>
              <a:rPr lang="en-US" dirty="0"/>
              <a:t> </a:t>
            </a:r>
            <a:r>
              <a:rPr lang="en-US" dirty="0" err="1"/>
              <a:t>tipov</a:t>
            </a:r>
            <a:r>
              <a:rPr lang="en-US" dirty="0"/>
              <a:t>, </a:t>
            </a:r>
            <a:r>
              <a:rPr lang="en-US" dirty="0" err="1"/>
              <a:t>različni</a:t>
            </a:r>
            <a:r>
              <a:rPr lang="en-US" dirty="0"/>
              <a:t> tipi pa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počnejo</a:t>
            </a:r>
            <a:r>
              <a:rPr lang="en-US" dirty="0"/>
              <a:t> </a:t>
            </a:r>
            <a:r>
              <a:rPr lang="en-US" dirty="0" err="1"/>
              <a:t>različne</a:t>
            </a:r>
            <a:r>
              <a:rPr lang="en-US" dirty="0"/>
              <a:t> </a:t>
            </a:r>
            <a:r>
              <a:rPr lang="en-US" dirty="0" err="1"/>
              <a:t>stvari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Python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privzeto</a:t>
            </a:r>
            <a:r>
              <a:rPr lang="en-US" dirty="0"/>
              <a:t> </a:t>
            </a:r>
            <a:r>
              <a:rPr lang="en-US" dirty="0" err="1"/>
              <a:t>vgrajene</a:t>
            </a:r>
            <a:r>
              <a:rPr lang="en-US" dirty="0"/>
              <a:t> </a:t>
            </a:r>
            <a:r>
              <a:rPr lang="en-US" dirty="0" err="1"/>
              <a:t>naslednje</a:t>
            </a:r>
            <a:r>
              <a:rPr lang="en-US" dirty="0"/>
              <a:t> </a:t>
            </a:r>
            <a:r>
              <a:rPr lang="en-US" dirty="0" err="1"/>
              <a:t>podatkovne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v </a:t>
            </a:r>
            <a:r>
              <a:rPr lang="en-US" dirty="0" err="1"/>
              <a:t>teh</a:t>
            </a:r>
            <a:r>
              <a:rPr lang="en-US" dirty="0"/>
              <a:t> </a:t>
            </a:r>
            <a:r>
              <a:rPr lang="en-US" dirty="0" err="1"/>
              <a:t>kategorijah</a:t>
            </a:r>
            <a:r>
              <a:rPr lang="en-US" dirty="0"/>
              <a:t>:</a:t>
            </a:r>
            <a:endParaRPr lang="sl-SI" dirty="0"/>
          </a:p>
          <a:p>
            <a:pPr algn="just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959159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Podatkovni tipi v </a:t>
            </a:r>
            <a:r>
              <a:rPr lang="sl-SI" b="1" dirty="0" err="1">
                <a:solidFill>
                  <a:srgbClr val="FF0000"/>
                </a:solidFill>
              </a:rPr>
              <a:t>Pythonu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74F917-7F94-45F6-A29D-C33CC2E2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sl-SI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3F93D75-97DC-443E-8FA2-322CFFC61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660363"/>
              </p:ext>
            </p:extLst>
          </p:nvPr>
        </p:nvGraphicFramePr>
        <p:xfrm>
          <a:off x="4742038" y="1825625"/>
          <a:ext cx="3052555" cy="4788237"/>
        </p:xfrm>
        <a:graphic>
          <a:graphicData uri="http://schemas.openxmlformats.org/drawingml/2006/table">
            <a:tbl>
              <a:tblPr/>
              <a:tblGrid>
                <a:gridCol w="1668410">
                  <a:extLst>
                    <a:ext uri="{9D8B030D-6E8A-4147-A177-3AD203B41FA5}">
                      <a16:colId xmlns:a16="http://schemas.microsoft.com/office/drawing/2014/main" val="414143677"/>
                    </a:ext>
                  </a:extLst>
                </a:gridCol>
                <a:gridCol w="1384145">
                  <a:extLst>
                    <a:ext uri="{9D8B030D-6E8A-4147-A177-3AD203B41FA5}">
                      <a16:colId xmlns:a16="http://schemas.microsoft.com/office/drawing/2014/main" val="912767480"/>
                    </a:ext>
                  </a:extLst>
                </a:gridCol>
              </a:tblGrid>
              <a:tr h="390876">
                <a:tc>
                  <a:txBody>
                    <a:bodyPr/>
                    <a:lstStyle/>
                    <a:p>
                      <a:r>
                        <a:rPr lang="sl-SI" sz="1700">
                          <a:effectLst/>
                        </a:rPr>
                        <a:t>Text Type: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700"/>
                        <a:t>str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779171"/>
                  </a:ext>
                </a:extLst>
              </a:tr>
              <a:tr h="684034">
                <a:tc>
                  <a:txBody>
                    <a:bodyPr/>
                    <a:lstStyle/>
                    <a:p>
                      <a:r>
                        <a:rPr lang="sl-SI" sz="1700"/>
                        <a:t>Numeric Types: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700"/>
                        <a:t>int, float, complex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916814"/>
                  </a:ext>
                </a:extLst>
              </a:tr>
              <a:tr h="684034">
                <a:tc>
                  <a:txBody>
                    <a:bodyPr/>
                    <a:lstStyle/>
                    <a:p>
                      <a:r>
                        <a:rPr lang="sl-SI" sz="1700" dirty="0" err="1"/>
                        <a:t>Sequence</a:t>
                      </a:r>
                      <a:r>
                        <a:rPr lang="sl-SI" sz="1700" dirty="0"/>
                        <a:t> </a:t>
                      </a:r>
                      <a:r>
                        <a:rPr lang="sl-SI" sz="1700" dirty="0" err="1"/>
                        <a:t>Types</a:t>
                      </a:r>
                      <a:r>
                        <a:rPr lang="sl-SI" sz="1700" dirty="0"/>
                        <a:t>: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700"/>
                        <a:t>list, tuple, range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036677"/>
                  </a:ext>
                </a:extLst>
              </a:tr>
              <a:tr h="684034">
                <a:tc>
                  <a:txBody>
                    <a:bodyPr/>
                    <a:lstStyle/>
                    <a:p>
                      <a:r>
                        <a:rPr lang="sl-SI" sz="1700"/>
                        <a:t>Mapping Type: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700"/>
                        <a:t>dict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68365"/>
                  </a:ext>
                </a:extLst>
              </a:tr>
              <a:tr h="684034">
                <a:tc>
                  <a:txBody>
                    <a:bodyPr/>
                    <a:lstStyle/>
                    <a:p>
                      <a:r>
                        <a:rPr lang="sl-SI" sz="1700"/>
                        <a:t>Set Types: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700"/>
                        <a:t>set, frozenset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387456"/>
                  </a:ext>
                </a:extLst>
              </a:tr>
              <a:tr h="390876">
                <a:tc>
                  <a:txBody>
                    <a:bodyPr/>
                    <a:lstStyle/>
                    <a:p>
                      <a:r>
                        <a:rPr lang="sl-SI" sz="1700"/>
                        <a:t>Boolean Type: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700"/>
                        <a:t>bool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413121"/>
                  </a:ext>
                </a:extLst>
              </a:tr>
              <a:tr h="1270349">
                <a:tc>
                  <a:txBody>
                    <a:bodyPr/>
                    <a:lstStyle/>
                    <a:p>
                      <a:r>
                        <a:rPr lang="sl-SI" sz="1700"/>
                        <a:t>Binary Types: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700" dirty="0" err="1"/>
                        <a:t>bytes</a:t>
                      </a:r>
                      <a:r>
                        <a:rPr lang="sl-SI" sz="1700" dirty="0"/>
                        <a:t>, </a:t>
                      </a:r>
                      <a:r>
                        <a:rPr lang="sl-SI" sz="1700" dirty="0" err="1"/>
                        <a:t>bytearray</a:t>
                      </a:r>
                      <a:r>
                        <a:rPr lang="sl-SI" sz="1700" dirty="0"/>
                        <a:t>, </a:t>
                      </a:r>
                      <a:r>
                        <a:rPr lang="sl-SI" sz="1700" dirty="0" err="1"/>
                        <a:t>memoryview</a:t>
                      </a:r>
                      <a:endParaRPr lang="sl-SI" sz="1700" dirty="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87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827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E547B7-AB6A-4B08-A035-384A72E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Podatkovni tipi v </a:t>
            </a:r>
            <a:r>
              <a:rPr lang="sl-SI" b="1" dirty="0" err="1">
                <a:solidFill>
                  <a:srgbClr val="FF0000"/>
                </a:solidFill>
              </a:rPr>
              <a:t>Pythonu</a:t>
            </a:r>
            <a:endParaRPr lang="sl-SI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F8086CF-6593-4113-B6A6-999CC6D05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023491"/>
              </p:ext>
            </p:extLst>
          </p:nvPr>
        </p:nvGraphicFramePr>
        <p:xfrm>
          <a:off x="1520240" y="1504952"/>
          <a:ext cx="10135053" cy="5275479"/>
        </p:xfrm>
        <a:graphic>
          <a:graphicData uri="http://schemas.openxmlformats.org/drawingml/2006/table">
            <a:tbl>
              <a:tblPr/>
              <a:tblGrid>
                <a:gridCol w="3378351">
                  <a:extLst>
                    <a:ext uri="{9D8B030D-6E8A-4147-A177-3AD203B41FA5}">
                      <a16:colId xmlns:a16="http://schemas.microsoft.com/office/drawing/2014/main" val="2273747478"/>
                    </a:ext>
                  </a:extLst>
                </a:gridCol>
                <a:gridCol w="3378351">
                  <a:extLst>
                    <a:ext uri="{9D8B030D-6E8A-4147-A177-3AD203B41FA5}">
                      <a16:colId xmlns:a16="http://schemas.microsoft.com/office/drawing/2014/main" val="4125767805"/>
                    </a:ext>
                  </a:extLst>
                </a:gridCol>
                <a:gridCol w="3378351">
                  <a:extLst>
                    <a:ext uri="{9D8B030D-6E8A-4147-A177-3AD203B41FA5}">
                      <a16:colId xmlns:a16="http://schemas.microsoft.com/office/drawing/2014/main" val="2871279014"/>
                    </a:ext>
                  </a:extLst>
                </a:gridCol>
              </a:tblGrid>
              <a:tr h="369163">
                <a:tc>
                  <a:txBody>
                    <a:bodyPr/>
                    <a:lstStyle/>
                    <a:p>
                      <a:r>
                        <a:rPr lang="sl-SI" sz="1600"/>
                        <a:t>x = 20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int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20044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/>
                        <a:t>x = 20.5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float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245860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 dirty="0"/>
                        <a:t>x = ["jabolko", "banana", "</a:t>
                      </a:r>
                      <a:r>
                        <a:rPr lang="sl-SI" sz="1600" dirty="0" err="1"/>
                        <a:t>visnja</a:t>
                      </a:r>
                      <a:r>
                        <a:rPr lang="sl-SI" sz="1600" dirty="0"/>
                        <a:t>"]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/>
                        <a:t>list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939909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 dirty="0"/>
                        <a:t>x = ("jabolko", "banana", "</a:t>
                      </a:r>
                      <a:r>
                        <a:rPr lang="sl-SI" sz="1600" dirty="0" err="1"/>
                        <a:t>visnja</a:t>
                      </a:r>
                      <a:r>
                        <a:rPr lang="sl-SI" sz="1600" dirty="0"/>
                        <a:t>")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tuple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456929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/>
                        <a:t>x = range(6)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range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577545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en-US" sz="1600" dirty="0"/>
                        <a:t>x = {"</a:t>
                      </a:r>
                      <a:r>
                        <a:rPr lang="sl-SI" sz="1600" dirty="0"/>
                        <a:t>ime</a:t>
                      </a:r>
                      <a:r>
                        <a:rPr lang="en-US" sz="1600" dirty="0"/>
                        <a:t>" : "J</a:t>
                      </a:r>
                      <a:r>
                        <a:rPr lang="sl-SI" sz="1600" dirty="0" err="1"/>
                        <a:t>anez</a:t>
                      </a:r>
                      <a:r>
                        <a:rPr lang="en-US" sz="1600" dirty="0"/>
                        <a:t>", "</a:t>
                      </a:r>
                      <a:r>
                        <a:rPr lang="sl-SI" sz="1600" dirty="0"/>
                        <a:t>starost</a:t>
                      </a:r>
                      <a:r>
                        <a:rPr lang="en-US" sz="1600" dirty="0"/>
                        <a:t>" : 36}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dict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23227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 dirty="0"/>
                        <a:t>x = {"jabolko", "banana", "</a:t>
                      </a:r>
                      <a:r>
                        <a:rPr lang="sl-SI" sz="1600" dirty="0" err="1"/>
                        <a:t>visnja</a:t>
                      </a:r>
                      <a:r>
                        <a:rPr lang="sl-SI" sz="1600" dirty="0"/>
                        <a:t>"}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set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356425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en-US" sz="1600" dirty="0"/>
                        <a:t>x = </a:t>
                      </a:r>
                      <a:r>
                        <a:rPr lang="en-US" sz="1600" dirty="0" err="1"/>
                        <a:t>frozenset</a:t>
                      </a:r>
                      <a:r>
                        <a:rPr lang="en-US" sz="1600" dirty="0"/>
                        <a:t>({"</a:t>
                      </a:r>
                      <a:r>
                        <a:rPr lang="sl-SI" sz="1600" dirty="0"/>
                        <a:t>jabolko", "banana", "</a:t>
                      </a:r>
                      <a:r>
                        <a:rPr lang="sl-SI" sz="1600" dirty="0" err="1"/>
                        <a:t>visnja</a:t>
                      </a:r>
                      <a:r>
                        <a:rPr lang="en-US" sz="1600" dirty="0"/>
                        <a:t>"})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frozenset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377492"/>
                  </a:ext>
                </a:extLst>
              </a:tr>
              <a:tr h="647890">
                <a:tc>
                  <a:txBody>
                    <a:bodyPr/>
                    <a:lstStyle/>
                    <a:p>
                      <a:r>
                        <a:rPr lang="sl-SI" sz="1600"/>
                        <a:t>x = True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bool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299171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 dirty="0"/>
                        <a:t>x = </a:t>
                      </a:r>
                      <a:r>
                        <a:rPr lang="sl-SI" sz="1600" dirty="0" err="1"/>
                        <a:t>b"Zdravo</a:t>
                      </a:r>
                      <a:r>
                        <a:rPr lang="sl-SI" sz="1600" dirty="0"/>
                        <a:t>"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bytes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419788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/>
                        <a:t>x = bytearray(5)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/>
                        <a:t>bytearray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864598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r>
                        <a:rPr lang="sl-SI" sz="1600"/>
                        <a:t>x = memoryview(bytes(5))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l-SI" sz="1600" dirty="0" err="1"/>
                        <a:t>memoryview</a:t>
                      </a:r>
                      <a:endParaRPr lang="sl-SI" sz="16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880223"/>
                  </a:ext>
                </a:extLst>
              </a:tr>
              <a:tr h="369163">
                <a:tc>
                  <a:txBody>
                    <a:bodyPr/>
                    <a:lstStyle/>
                    <a:p>
                      <a:endParaRPr lang="sl-SI" sz="16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sl-SI" sz="1600" dirty="0"/>
                    </a:p>
                  </a:txBody>
                  <a:tcPr marL="79115" marR="79115" marT="39558" marB="39558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08251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964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Nizi v </a:t>
            </a:r>
            <a:r>
              <a:rPr lang="sl-SI" b="1" dirty="0" err="1">
                <a:solidFill>
                  <a:srgbClr val="FF0000"/>
                </a:solidFill>
              </a:rPr>
              <a:t>Pythonu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Nizi v </a:t>
            </a:r>
            <a:r>
              <a:rPr lang="sl-SI" dirty="0" err="1"/>
              <a:t>pythonu</a:t>
            </a:r>
            <a:r>
              <a:rPr lang="sl-SI" dirty="0"/>
              <a:t> so obdani z enojnimi ali dvojnimi narekovaji.</a:t>
            </a:r>
          </a:p>
          <a:p>
            <a:r>
              <a:rPr lang="sl-SI" dirty="0"/>
              <a:t>‘zdravo‘ je enako kot “zdravo“.</a:t>
            </a:r>
          </a:p>
          <a:p>
            <a:r>
              <a:rPr lang="sl-SI" dirty="0"/>
              <a:t>Niz lahko prikažete s funkcijo </a:t>
            </a:r>
            <a:r>
              <a:rPr lang="sl-SI" dirty="0" err="1"/>
              <a:t>print</a:t>
            </a:r>
            <a:r>
              <a:rPr lang="sl-SI" dirty="0"/>
              <a:t>():</a:t>
            </a:r>
          </a:p>
          <a:p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  <a:effectLst/>
              </a:rPr>
              <a:t>"Zdravo"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</a:rPr>
              <a:t>‘</a:t>
            </a:r>
            <a:r>
              <a:rPr lang="sl-SI" dirty="0">
                <a:solidFill>
                  <a:srgbClr val="A52A2A"/>
                </a:solidFill>
                <a:effectLst/>
              </a:rPr>
              <a:t>Zdravo‘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sl-SI" dirty="0"/>
              <a:t>Pripisovanje niza spremenljivki poteka tako, da imenu spremenljivke sledi znak enakosti in niz: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a = </a:t>
            </a:r>
            <a:r>
              <a:rPr lang="sl-SI" dirty="0">
                <a:solidFill>
                  <a:srgbClr val="A52A2A"/>
                </a:solidFill>
                <a:effectLst/>
              </a:rPr>
              <a:t>"Zdravo"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(a)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8679255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Več vrstični nizi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err="1"/>
              <a:t>Večvrstični</a:t>
            </a:r>
            <a:r>
              <a:rPr lang="sl-SI" dirty="0"/>
              <a:t> niz lahko spremenljivki dodelite s tremi narekovaji: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a = </a:t>
            </a:r>
            <a:r>
              <a:rPr lang="sl-SI" dirty="0">
                <a:solidFill>
                  <a:srgbClr val="A52A2A"/>
                </a:solidFill>
                <a:effectLst/>
              </a:rPr>
              <a:t>"""Danes je lep dan,</a:t>
            </a:r>
            <a:br>
              <a:rPr lang="sl-SI" dirty="0">
                <a:solidFill>
                  <a:srgbClr val="A52A2A"/>
                </a:solidFill>
                <a:effectLst/>
              </a:rPr>
            </a:br>
            <a:r>
              <a:rPr lang="sl-SI" dirty="0">
                <a:solidFill>
                  <a:srgbClr val="A52A2A"/>
                </a:solidFill>
                <a:effectLst/>
              </a:rPr>
              <a:t>zato se ne bom </a:t>
            </a:r>
            <a:r>
              <a:rPr lang="sl-SI" dirty="0" err="1">
                <a:solidFill>
                  <a:srgbClr val="A52A2A"/>
                </a:solidFill>
                <a:effectLst/>
              </a:rPr>
              <a:t>ucil</a:t>
            </a:r>
            <a:r>
              <a:rPr lang="sl-SI" dirty="0">
                <a:solidFill>
                  <a:srgbClr val="A52A2A"/>
                </a:solidFill>
                <a:effectLst/>
              </a:rPr>
              <a:t> jezika </a:t>
            </a:r>
            <a:r>
              <a:rPr lang="sl-SI" dirty="0" err="1">
                <a:solidFill>
                  <a:srgbClr val="A52A2A"/>
                </a:solidFill>
                <a:effectLst/>
              </a:rPr>
              <a:t>Python</a:t>
            </a:r>
            <a:r>
              <a:rPr lang="sl-SI" dirty="0">
                <a:solidFill>
                  <a:srgbClr val="A52A2A"/>
                </a:solidFill>
                <a:effectLst/>
              </a:rPr>
              <a:t>.</a:t>
            </a:r>
            <a:br>
              <a:rPr lang="sl-SI" dirty="0">
                <a:solidFill>
                  <a:srgbClr val="A52A2A"/>
                </a:solidFill>
                <a:effectLst/>
              </a:rPr>
            </a:br>
            <a:r>
              <a:rPr lang="sl-SI" dirty="0">
                <a:solidFill>
                  <a:srgbClr val="A52A2A"/>
                </a:solidFill>
                <a:effectLst/>
              </a:rPr>
              <a:t>Namesto tega grem raje </a:t>
            </a:r>
            <a:br>
              <a:rPr lang="sl-SI" dirty="0">
                <a:solidFill>
                  <a:srgbClr val="A52A2A"/>
                </a:solidFill>
                <a:effectLst/>
              </a:rPr>
            </a:br>
            <a:r>
              <a:rPr lang="sl-SI" dirty="0">
                <a:solidFill>
                  <a:srgbClr val="A52A2A"/>
                </a:solidFill>
                <a:effectLst/>
              </a:rPr>
              <a:t>na sprehod."""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(a) </a:t>
            </a:r>
          </a:p>
          <a:p>
            <a:r>
              <a:rPr lang="sl-SI" dirty="0">
                <a:solidFill>
                  <a:srgbClr val="000000"/>
                </a:solidFill>
              </a:rPr>
              <a:t>Prav tako delujejo trije enojni narekovaji!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9803573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Nizi so polja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Tako kot številni drugi priljubljeni programski jeziki so tudi nizi v </a:t>
            </a:r>
            <a:r>
              <a:rPr lang="sl-SI" dirty="0" err="1"/>
              <a:t>Pythonu</a:t>
            </a:r>
            <a:r>
              <a:rPr lang="sl-SI" dirty="0"/>
              <a:t> polja bajtov, ki predstavljajo </a:t>
            </a:r>
            <a:r>
              <a:rPr lang="sl-SI" dirty="0" err="1"/>
              <a:t>enokodne</a:t>
            </a:r>
            <a:r>
              <a:rPr lang="sl-SI" dirty="0"/>
              <a:t> znake.</a:t>
            </a:r>
          </a:p>
          <a:p>
            <a:r>
              <a:rPr lang="sl-SI" dirty="0"/>
              <a:t>Vendar pa </a:t>
            </a:r>
            <a:r>
              <a:rPr lang="sl-SI" dirty="0" err="1"/>
              <a:t>Python</a:t>
            </a:r>
            <a:r>
              <a:rPr lang="sl-SI" dirty="0"/>
              <a:t> nima podatkovnega tipa znak, posamezen znak je preprosto niz z dolžino 1.</a:t>
            </a:r>
          </a:p>
          <a:p>
            <a:r>
              <a:rPr lang="sl-SI" dirty="0"/>
              <a:t>Za dostop do elementov niza lahko uporabimo oglate oklepaje.</a:t>
            </a:r>
          </a:p>
          <a:p>
            <a:r>
              <a:rPr lang="pl-PL" dirty="0"/>
              <a:t>Pridobite znak na položaju 1 (ne pozabite, da ima prvi znak položaj 0):</a:t>
            </a:r>
            <a:endParaRPr lang="sl-SI" dirty="0"/>
          </a:p>
          <a:p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(a[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305658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niz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Ker so nizi polja, lahko z zanko “</a:t>
            </a:r>
            <a:r>
              <a:rPr lang="sl-SI" dirty="0" err="1"/>
              <a:t>for</a:t>
            </a:r>
            <a:r>
              <a:rPr lang="sl-SI" dirty="0"/>
              <a:t>“ prebiramo znake v nizu.</a:t>
            </a:r>
          </a:p>
          <a:p>
            <a:r>
              <a:rPr lang="sl-SI" dirty="0"/>
              <a:t>Primer: </a:t>
            </a:r>
            <a:r>
              <a:rPr lang="it-IT" dirty="0" err="1"/>
              <a:t>Preletite</a:t>
            </a:r>
            <a:r>
              <a:rPr lang="it-IT" dirty="0"/>
              <a:t> </a:t>
            </a:r>
            <a:r>
              <a:rPr lang="it-IT" dirty="0" err="1"/>
              <a:t>črke</a:t>
            </a:r>
            <a:r>
              <a:rPr lang="it-IT" dirty="0"/>
              <a:t> v </a:t>
            </a:r>
            <a:r>
              <a:rPr lang="it-IT" dirty="0" err="1"/>
              <a:t>besedi</a:t>
            </a:r>
            <a:r>
              <a:rPr lang="it-IT" dirty="0"/>
              <a:t> "banana":</a:t>
            </a:r>
            <a:endParaRPr lang="sl-SI" dirty="0"/>
          </a:p>
          <a:p>
            <a:pPr marL="0" indent="0">
              <a:buNone/>
            </a:pPr>
            <a:r>
              <a:rPr lang="sl-SI" dirty="0" err="1">
                <a:solidFill>
                  <a:srgbClr val="0000CD"/>
                </a:solidFill>
                <a:effectLst/>
              </a:rPr>
              <a:t>for</a:t>
            </a:r>
            <a:r>
              <a:rPr lang="sl-SI" dirty="0">
                <a:solidFill>
                  <a:srgbClr val="000000"/>
                </a:solidFill>
                <a:effectLst/>
              </a:rPr>
              <a:t> x </a:t>
            </a:r>
            <a:r>
              <a:rPr lang="sl-SI" dirty="0">
                <a:solidFill>
                  <a:srgbClr val="0000CD"/>
                </a:solidFill>
                <a:effectLst/>
              </a:rPr>
              <a:t>in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: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(x)  -&gt;Izpis vsakega posameznega znaka v novi vrstici</a:t>
            </a:r>
          </a:p>
          <a:p>
            <a:r>
              <a:rPr lang="sl-SI" dirty="0">
                <a:solidFill>
                  <a:srgbClr val="000000"/>
                </a:solidFill>
              </a:rPr>
              <a:t>Če želite ugotoviti dolžino niza, uporabite funkcijo len().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CD"/>
                </a:solidFill>
                <a:effectLst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</a:rPr>
              <a:t>(a))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841870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Preverjanje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Če želimo preveriti, ali je v nizu prisotna določena besedna zveza ali znak, lahko uporabimo ključno besedo “in“.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txt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Najboljse</a:t>
            </a:r>
            <a:r>
              <a:rPr lang="sl-SI" dirty="0">
                <a:solidFill>
                  <a:srgbClr val="A52A2A"/>
                </a:solidFill>
                <a:effectLst/>
              </a:rPr>
              <a:t> stvari v </a:t>
            </a:r>
            <a:r>
              <a:rPr lang="sl-SI" dirty="0" err="1">
                <a:solidFill>
                  <a:srgbClr val="A52A2A"/>
                </a:solidFill>
                <a:effectLst/>
              </a:rPr>
              <a:t>zivljenju</a:t>
            </a:r>
            <a:r>
              <a:rPr lang="sl-SI" dirty="0">
                <a:solidFill>
                  <a:srgbClr val="A52A2A"/>
                </a:solidFill>
                <a:effectLst/>
              </a:rPr>
              <a:t> so </a:t>
            </a:r>
            <a:r>
              <a:rPr lang="sl-SI" dirty="0" err="1">
                <a:solidFill>
                  <a:srgbClr val="A52A2A"/>
                </a:solidFill>
                <a:effectLst/>
              </a:rPr>
              <a:t>brezplacne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brezplacne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txt)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Uporabite ga v stavku </a:t>
            </a:r>
            <a:r>
              <a:rPr lang="sl-SI" dirty="0" err="1"/>
              <a:t>if</a:t>
            </a:r>
            <a:r>
              <a:rPr lang="sl-SI" dirty="0"/>
              <a:t>:</a:t>
            </a:r>
          </a:p>
          <a:p>
            <a:r>
              <a:rPr lang="en-US" dirty="0">
                <a:solidFill>
                  <a:srgbClr val="000000"/>
                </a:solidFill>
                <a:effectLst/>
              </a:rPr>
              <a:t>txt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 </a:t>
            </a:r>
            <a:r>
              <a:rPr lang="sl-SI" dirty="0" err="1">
                <a:solidFill>
                  <a:srgbClr val="A52A2A"/>
                </a:solidFill>
                <a:effectLst/>
              </a:rPr>
              <a:t>Najboljse</a:t>
            </a:r>
            <a:r>
              <a:rPr lang="sl-SI" dirty="0">
                <a:solidFill>
                  <a:srgbClr val="A52A2A"/>
                </a:solidFill>
                <a:effectLst/>
              </a:rPr>
              <a:t> stvari v </a:t>
            </a:r>
            <a:r>
              <a:rPr lang="sl-SI" dirty="0" err="1">
                <a:solidFill>
                  <a:srgbClr val="A52A2A"/>
                </a:solidFill>
                <a:effectLst/>
              </a:rPr>
              <a:t>zivljenju</a:t>
            </a:r>
            <a:r>
              <a:rPr lang="sl-SI" dirty="0">
                <a:solidFill>
                  <a:srgbClr val="A52A2A"/>
                </a:solidFill>
                <a:effectLst/>
              </a:rPr>
              <a:t> so </a:t>
            </a:r>
            <a:r>
              <a:rPr lang="sl-SI" dirty="0" err="1">
                <a:solidFill>
                  <a:srgbClr val="A52A2A"/>
                </a:solidFill>
                <a:effectLst/>
              </a:rPr>
              <a:t>brezplacne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brezplacne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txt: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Da</a:t>
            </a:r>
            <a:r>
              <a:rPr lang="en-US" dirty="0">
                <a:solidFill>
                  <a:srgbClr val="A52A2A"/>
                </a:solidFill>
                <a:effectLst/>
              </a:rPr>
              <a:t>, '</a:t>
            </a:r>
            <a:r>
              <a:rPr lang="sl-SI" dirty="0" err="1">
                <a:solidFill>
                  <a:srgbClr val="A52A2A"/>
                </a:solidFill>
                <a:effectLst/>
              </a:rPr>
              <a:t>brezplacne</a:t>
            </a:r>
            <a:r>
              <a:rPr lang="en-US" dirty="0">
                <a:solidFill>
                  <a:srgbClr val="A52A2A"/>
                </a:solidFill>
                <a:effectLst/>
              </a:rPr>
              <a:t>‘ </a:t>
            </a:r>
            <a:r>
              <a:rPr lang="sl-SI" dirty="0">
                <a:solidFill>
                  <a:srgbClr val="A52A2A"/>
                </a:solidFill>
                <a:effectLst/>
              </a:rPr>
              <a:t>je prisotna</a:t>
            </a:r>
            <a:r>
              <a:rPr lang="en-US" dirty="0">
                <a:solidFill>
                  <a:srgbClr val="A52A2A"/>
                </a:solidFill>
                <a:effectLst/>
              </a:rPr>
              <a:t>."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198295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Rezanje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Razpon znakov lahko vrnete z uporabo sintakse za rezanje niza.</a:t>
            </a:r>
          </a:p>
          <a:p>
            <a:r>
              <a:rPr lang="sl-SI" dirty="0"/>
              <a:t>Če želite vrniti del niza, določite začetni in končni indeks, ki sta ločena z dvopičjem.</a:t>
            </a:r>
          </a:p>
          <a:p>
            <a:r>
              <a:rPr lang="pl-PL" dirty="0"/>
              <a:t>Pridobite znake od položaja 2 do položaja 5 (zadnja števka ni vključena):</a:t>
            </a:r>
            <a:endParaRPr lang="sl-SI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(b[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endParaRPr lang="sl-SI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4550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Rezanje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izpustite začetni indeks, se bo območje začelo pri prvem znaku: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(b[: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endParaRPr lang="sl-SI" dirty="0"/>
          </a:p>
          <a:p>
            <a:endParaRPr lang="sl-SI" dirty="0"/>
          </a:p>
          <a:p>
            <a:r>
              <a:rPr lang="sl-SI" dirty="0"/>
              <a:t>Če izpustite končni indeks, bo območje segalo do konca:</a:t>
            </a:r>
          </a:p>
          <a:p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(b[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:])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702770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Spreminjanje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/>
              <a:t>Python</a:t>
            </a:r>
            <a:r>
              <a:rPr lang="sl-SI" dirty="0"/>
              <a:t> ima nabor vgrajenih metod, ki jih lahko uporabite na nizih.</a:t>
            </a:r>
          </a:p>
          <a:p>
            <a:r>
              <a:rPr lang="sl-SI" dirty="0"/>
              <a:t>Metoda </a:t>
            </a:r>
            <a:r>
              <a:rPr lang="sl-SI" dirty="0" err="1"/>
              <a:t>upper</a:t>
            </a:r>
            <a:r>
              <a:rPr lang="sl-SI" dirty="0"/>
              <a:t>() vrne niz z velikimi črkami: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</a:rPr>
              <a:t>a.upper</a:t>
            </a:r>
            <a:r>
              <a:rPr lang="en-US" dirty="0">
                <a:solidFill>
                  <a:srgbClr val="000000"/>
                </a:solidFill>
                <a:effectLst/>
              </a:rPr>
              <a:t>())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Metoda </a:t>
            </a:r>
            <a:r>
              <a:rPr lang="sl-SI" dirty="0" err="1"/>
              <a:t>lower</a:t>
            </a:r>
            <a:r>
              <a:rPr lang="sl-SI" dirty="0"/>
              <a:t>() vrne niz z malimi črkami: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(a.</a:t>
            </a:r>
            <a:r>
              <a:rPr lang="sl-SI" dirty="0" err="1">
                <a:solidFill>
                  <a:srgbClr val="000000"/>
                </a:solidFill>
                <a:effectLst/>
              </a:rPr>
              <a:t>lower</a:t>
            </a:r>
            <a:r>
              <a:rPr lang="en-US" dirty="0">
                <a:solidFill>
                  <a:srgbClr val="000000"/>
                </a:solidFill>
                <a:effectLst/>
              </a:rPr>
              <a:t>())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613760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Spreminjanje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Prazni prostori pred in/ali za dejanskim besedilom, ki ga pogosto želite odstraniti.</a:t>
            </a:r>
          </a:p>
          <a:p>
            <a:r>
              <a:rPr lang="pl-PL" dirty="0">
                <a:solidFill>
                  <a:srgbClr val="000000"/>
                </a:solidFill>
                <a:effectLst/>
              </a:rPr>
              <a:t>Metoda strip() odstrani vse prazne prostore od začetka do konca: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 </a:t>
            </a:r>
            <a:r>
              <a:rPr lang="sl-SI" dirty="0">
                <a:solidFill>
                  <a:srgbClr val="A52A2A"/>
                </a:solidFill>
                <a:effectLst/>
              </a:rPr>
              <a:t>Dober</a:t>
            </a:r>
            <a:r>
              <a:rPr lang="en-US" dirty="0">
                <a:solidFill>
                  <a:srgbClr val="A52A2A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dan</a:t>
            </a:r>
            <a:r>
              <a:rPr lang="en-US" dirty="0">
                <a:solidFill>
                  <a:srgbClr val="A52A2A"/>
                </a:solidFill>
                <a:effectLst/>
              </a:rPr>
              <a:t>! 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</a:rPr>
              <a:t>a.strip</a:t>
            </a:r>
            <a:r>
              <a:rPr lang="en-US" dirty="0">
                <a:solidFill>
                  <a:srgbClr val="000000"/>
                </a:solidFill>
                <a:effectLst/>
              </a:rPr>
              <a:t>())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vrne</a:t>
            </a:r>
            <a:r>
              <a:rPr lang="en-US" dirty="0">
                <a:solidFill>
                  <a:srgbClr val="008000"/>
                </a:solidFill>
                <a:effectLst/>
              </a:rPr>
              <a:t> "</a:t>
            </a:r>
            <a:r>
              <a:rPr lang="sl-SI" dirty="0">
                <a:solidFill>
                  <a:srgbClr val="008000"/>
                </a:solidFill>
                <a:effectLst/>
              </a:rPr>
              <a:t>Dober</a:t>
            </a:r>
            <a:r>
              <a:rPr lang="en-US" dirty="0">
                <a:solidFill>
                  <a:srgbClr val="008000"/>
                </a:solidFill>
                <a:effectLst/>
              </a:rPr>
              <a:t>, </a:t>
            </a:r>
            <a:r>
              <a:rPr lang="sl-SI" dirty="0">
                <a:solidFill>
                  <a:srgbClr val="008000"/>
                </a:solidFill>
                <a:effectLst/>
              </a:rPr>
              <a:t>dan</a:t>
            </a:r>
            <a:r>
              <a:rPr lang="en-US" dirty="0">
                <a:solidFill>
                  <a:srgbClr val="008000"/>
                </a:solidFill>
                <a:effectLst/>
              </a:rPr>
              <a:t>!" </a:t>
            </a:r>
            <a:endParaRPr lang="sl-SI" dirty="0">
              <a:solidFill>
                <a:srgbClr val="008000"/>
              </a:solidFill>
              <a:effectLst/>
            </a:endParaRPr>
          </a:p>
          <a:p>
            <a:r>
              <a:rPr lang="pl-PL" dirty="0">
                <a:solidFill>
                  <a:srgbClr val="000000"/>
                </a:solidFill>
                <a:effectLst/>
              </a:rPr>
              <a:t>Metoda replace() nadomesti niz z drugim nizom: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</a:rPr>
              <a:t>a.replace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vrne</a:t>
            </a:r>
            <a:r>
              <a:rPr lang="en-US" dirty="0">
                <a:solidFill>
                  <a:srgbClr val="008000"/>
                </a:solidFill>
                <a:effectLst/>
              </a:rPr>
              <a:t> "</a:t>
            </a:r>
            <a:r>
              <a:rPr lang="sl-SI" dirty="0" err="1">
                <a:solidFill>
                  <a:srgbClr val="008000"/>
                </a:solidFill>
                <a:effectLst/>
              </a:rPr>
              <a:t>Jober</a:t>
            </a:r>
            <a:r>
              <a:rPr lang="en-US" dirty="0">
                <a:solidFill>
                  <a:srgbClr val="008000"/>
                </a:solidFill>
                <a:effectLst/>
              </a:rPr>
              <a:t>, </a:t>
            </a:r>
            <a:r>
              <a:rPr lang="sl-SI" dirty="0">
                <a:solidFill>
                  <a:srgbClr val="008000"/>
                </a:solidFill>
                <a:effectLst/>
              </a:rPr>
              <a:t>dan</a:t>
            </a:r>
            <a:r>
              <a:rPr lang="en-US" dirty="0">
                <a:solidFill>
                  <a:srgbClr val="008000"/>
                </a:solidFill>
                <a:effectLst/>
              </a:rPr>
              <a:t>!" 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5118066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Spreminjanje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Metoda </a:t>
            </a:r>
            <a:r>
              <a:rPr lang="sl-SI" dirty="0" err="1"/>
              <a:t>split</a:t>
            </a:r>
            <a:r>
              <a:rPr lang="sl-SI" dirty="0"/>
              <a:t>() vrne seznam, v katerem besedilo med določenim ločilom postane element seznama.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Dober, dan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</a:rPr>
              <a:t>a.split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","</a:t>
            </a:r>
            <a:r>
              <a:rPr lang="en-US" dirty="0">
                <a:solidFill>
                  <a:srgbClr val="000000"/>
                </a:solidFill>
                <a:effectLst/>
              </a:rPr>
              <a:t>))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vrne</a:t>
            </a:r>
            <a:r>
              <a:rPr lang="en-US" dirty="0">
                <a:solidFill>
                  <a:srgbClr val="008000"/>
                </a:solidFill>
                <a:effectLst/>
              </a:rPr>
              <a:t> [‚</a:t>
            </a:r>
            <a:r>
              <a:rPr lang="sl-SI" dirty="0">
                <a:solidFill>
                  <a:srgbClr val="008000"/>
                </a:solidFill>
                <a:effectLst/>
              </a:rPr>
              <a:t>Dober</a:t>
            </a:r>
            <a:r>
              <a:rPr lang="en-US" dirty="0">
                <a:solidFill>
                  <a:srgbClr val="008000"/>
                </a:solidFill>
                <a:effectLst/>
              </a:rPr>
              <a:t>', ' </a:t>
            </a:r>
            <a:r>
              <a:rPr lang="sl-SI" dirty="0">
                <a:solidFill>
                  <a:srgbClr val="008000"/>
                </a:solidFill>
                <a:effectLst/>
              </a:rPr>
              <a:t>dan</a:t>
            </a:r>
            <a:r>
              <a:rPr lang="en-US" dirty="0">
                <a:solidFill>
                  <a:srgbClr val="008000"/>
                </a:solidFill>
                <a:effectLst/>
              </a:rPr>
              <a:t>!‘]</a:t>
            </a:r>
            <a:endParaRPr lang="sl-SI" dirty="0">
              <a:solidFill>
                <a:srgbClr val="008000"/>
              </a:solidFill>
              <a:effectLst/>
            </a:endParaRPr>
          </a:p>
          <a:p>
            <a:r>
              <a:rPr lang="sl-SI" dirty="0"/>
              <a:t>Obstaja še več metod za delo z nizi!</a:t>
            </a:r>
          </a:p>
        </p:txBody>
      </p:sp>
    </p:spTree>
    <p:extLst>
      <p:ext uri="{BB962C8B-B14F-4D97-AF65-F5344CB8AC3E}">
        <p14:creationId xmlns:p14="http://schemas.microsoft.com/office/powerpoint/2010/main" val="9049798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Združevanje nizov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Za združevanje dveh nizov lahko uporabite operator +.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dan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c = a + b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(c)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Če želite med njimi narediti presledek, dodajte znak " ":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Dober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dan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c = a + </a:t>
            </a:r>
            <a:r>
              <a:rPr lang="en-US" dirty="0">
                <a:solidFill>
                  <a:srgbClr val="A52A2A"/>
                </a:solidFill>
                <a:effectLst/>
              </a:rPr>
              <a:t>" "</a:t>
            </a:r>
            <a:r>
              <a:rPr lang="en-US" dirty="0">
                <a:solidFill>
                  <a:srgbClr val="000000"/>
                </a:solidFill>
                <a:effectLst/>
              </a:rPr>
              <a:t> + b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(c)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05406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Oblika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Kot smo se naučili v poglavju Spremenljivke v </a:t>
            </a:r>
            <a:r>
              <a:rPr lang="sl-SI" dirty="0" err="1"/>
              <a:t>Pythonu</a:t>
            </a:r>
            <a:r>
              <a:rPr lang="sl-SI" dirty="0"/>
              <a:t>, na ta način ne moremo kombinirati nizov in številk: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starost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FF0000"/>
                </a:solidFill>
                <a:effectLst/>
              </a:rPr>
              <a:t>36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txt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Moje ime je Janez</a:t>
            </a:r>
            <a:r>
              <a:rPr lang="en-US" dirty="0">
                <a:solidFill>
                  <a:srgbClr val="A52A2A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star sem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+ </a:t>
            </a:r>
            <a:r>
              <a:rPr lang="sl-SI" dirty="0">
                <a:solidFill>
                  <a:srgbClr val="000000"/>
                </a:solidFill>
                <a:effectLst/>
              </a:rPr>
              <a:t>starost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(txt)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Z metodo format() pa lahko kombiniramo nize in številke!</a:t>
            </a:r>
          </a:p>
          <a:p>
            <a:pPr marL="0" indent="0">
              <a:buNone/>
            </a:pP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95441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Oblika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/>
              <a:t>Metoda format() vzame posredovane argumente, jih oblikuje in postavi v niz, kjer so nadomestna mesta, označena z {}: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starost </a:t>
            </a:r>
            <a:r>
              <a:rPr lang="en-US" dirty="0">
                <a:solidFill>
                  <a:srgbClr val="000000"/>
                </a:solidFill>
                <a:effectLst/>
              </a:rPr>
              <a:t>= </a:t>
            </a:r>
            <a:r>
              <a:rPr lang="en-US" dirty="0">
                <a:solidFill>
                  <a:srgbClr val="FF0000"/>
                </a:solidFill>
                <a:effectLst/>
              </a:rPr>
              <a:t>36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txt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Moje ime je Janez</a:t>
            </a:r>
            <a:r>
              <a:rPr lang="en-US" dirty="0">
                <a:solidFill>
                  <a:srgbClr val="A52A2A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star sem</a:t>
            </a:r>
            <a:r>
              <a:rPr lang="en-US" dirty="0">
                <a:solidFill>
                  <a:srgbClr val="A52A2A"/>
                </a:solidFill>
                <a:effectLst/>
              </a:rPr>
              <a:t>{}</a:t>
            </a:r>
            <a:r>
              <a:rPr lang="sl-SI" dirty="0">
                <a:solidFill>
                  <a:srgbClr val="A52A2A"/>
                </a:solidFill>
                <a:effectLst/>
              </a:rPr>
              <a:t> let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</a:rPr>
              <a:t>txt.</a:t>
            </a:r>
            <a:r>
              <a:rPr lang="en-US" dirty="0" err="1">
                <a:solidFill>
                  <a:srgbClr val="0000CD"/>
                </a:solidFill>
                <a:effectLst/>
              </a:rPr>
              <a:t>format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starost</a:t>
            </a:r>
            <a:r>
              <a:rPr lang="en-US" dirty="0">
                <a:solidFill>
                  <a:srgbClr val="000000"/>
                </a:solidFill>
                <a:effectLst/>
              </a:rPr>
              <a:t>))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Metoda format() sprejema neomejeno število argumentov, ki so nameščeni v ustrezna mesta: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kolicina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zap_stevilka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FF0000"/>
                </a:solidFill>
                <a:effectLst/>
              </a:rPr>
              <a:t>567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cena = </a:t>
            </a:r>
            <a:r>
              <a:rPr lang="sl-SI" dirty="0">
                <a:solidFill>
                  <a:srgbClr val="FF0000"/>
                </a:solidFill>
                <a:effectLst/>
              </a:rPr>
              <a:t>49.95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narocilo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Zelim</a:t>
            </a:r>
            <a:r>
              <a:rPr lang="sl-SI" dirty="0">
                <a:solidFill>
                  <a:srgbClr val="A52A2A"/>
                </a:solidFill>
                <a:effectLst/>
              </a:rPr>
              <a:t> {} kose izdelka, s </a:t>
            </a:r>
            <a:r>
              <a:rPr lang="sl-SI" dirty="0" err="1">
                <a:solidFill>
                  <a:srgbClr val="A52A2A"/>
                </a:solidFill>
                <a:effectLst/>
              </a:rPr>
              <a:t>stevilko</a:t>
            </a:r>
            <a:r>
              <a:rPr lang="sl-SI" dirty="0">
                <a:solidFill>
                  <a:srgbClr val="A52A2A"/>
                </a:solidFill>
                <a:effectLst/>
              </a:rPr>
              <a:t> {} za ceno {} €."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narocilo.</a:t>
            </a:r>
            <a:r>
              <a:rPr lang="sl-SI" dirty="0" err="1">
                <a:solidFill>
                  <a:srgbClr val="0000CD"/>
                </a:solidFill>
                <a:effectLst/>
              </a:rPr>
              <a:t>format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kolicina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 err="1">
                <a:solidFill>
                  <a:srgbClr val="000000"/>
                </a:solidFill>
                <a:effectLst/>
              </a:rPr>
              <a:t>zap_stevilka</a:t>
            </a:r>
            <a:r>
              <a:rPr lang="sl-SI" dirty="0">
                <a:solidFill>
                  <a:srgbClr val="000000"/>
                </a:solidFill>
                <a:effectLst/>
              </a:rPr>
              <a:t>, cena))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512819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Oblika niza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Z indeksnimi številkami {0} se lahko prepričate, da so argumenti nameščeni v pravilna mesta: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kolicina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zap_stevilka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FF0000"/>
                </a:solidFill>
                <a:effectLst/>
              </a:rPr>
              <a:t>567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cena = </a:t>
            </a:r>
            <a:r>
              <a:rPr lang="sl-SI" dirty="0">
                <a:solidFill>
                  <a:srgbClr val="FF0000"/>
                </a:solidFill>
                <a:effectLst/>
              </a:rPr>
              <a:t>49.95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narocilo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Placati</a:t>
            </a:r>
            <a:r>
              <a:rPr lang="sl-SI" dirty="0">
                <a:solidFill>
                  <a:srgbClr val="A52A2A"/>
                </a:solidFill>
                <a:effectLst/>
              </a:rPr>
              <a:t> </a:t>
            </a:r>
            <a:r>
              <a:rPr lang="sl-SI" dirty="0" err="1">
                <a:solidFill>
                  <a:srgbClr val="A52A2A"/>
                </a:solidFill>
                <a:effectLst/>
              </a:rPr>
              <a:t>zelim</a:t>
            </a:r>
            <a:r>
              <a:rPr lang="sl-SI" dirty="0">
                <a:solidFill>
                  <a:srgbClr val="A52A2A"/>
                </a:solidFill>
                <a:effectLst/>
              </a:rPr>
              <a:t> {2} €, za {0} kose izdelka, z zaporedno </a:t>
            </a:r>
            <a:r>
              <a:rPr lang="sl-SI" dirty="0" err="1">
                <a:solidFill>
                  <a:srgbClr val="A52A2A"/>
                </a:solidFill>
                <a:effectLst/>
              </a:rPr>
              <a:t>stevilko</a:t>
            </a:r>
            <a:r>
              <a:rPr lang="sl-SI" dirty="0">
                <a:solidFill>
                  <a:srgbClr val="A52A2A"/>
                </a:solidFill>
                <a:effectLst/>
              </a:rPr>
              <a:t> izdelka {1}."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narocilo.</a:t>
            </a:r>
            <a:r>
              <a:rPr lang="sl-SI" dirty="0" err="1">
                <a:solidFill>
                  <a:srgbClr val="0000CD"/>
                </a:solidFill>
                <a:effectLst/>
              </a:rPr>
              <a:t>format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kolicina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 err="1">
                <a:solidFill>
                  <a:srgbClr val="000000"/>
                </a:solidFill>
                <a:effectLst/>
              </a:rPr>
              <a:t>zap_stevilka</a:t>
            </a:r>
            <a:r>
              <a:rPr lang="sl-SI" dirty="0">
                <a:solidFill>
                  <a:srgbClr val="000000"/>
                </a:solidFill>
                <a:effectLst/>
              </a:rPr>
              <a:t>, cena))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9857537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Operatorji v jeziku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13EDFA5-0D3A-4610-A75E-9C846C0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l-SI" dirty="0"/>
              <a:t>Operatorji se uporabljajo za izvajanje operacij s spremenljivkami in vrednostmi.</a:t>
            </a:r>
          </a:p>
          <a:p>
            <a:r>
              <a:rPr lang="sl-SI" dirty="0"/>
              <a:t>V spodnjem primeru uporabimo operator + za seštevanje dveh vrednosti: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FF0000"/>
                </a:solidFill>
                <a:effectLst/>
              </a:rPr>
              <a:t>10</a:t>
            </a:r>
            <a:r>
              <a:rPr lang="sl-SI" dirty="0">
                <a:solidFill>
                  <a:srgbClr val="000000"/>
                </a:solidFill>
                <a:effectLst/>
              </a:rPr>
              <a:t> + </a:t>
            </a:r>
            <a:r>
              <a:rPr lang="sl-SI" dirty="0">
                <a:solidFill>
                  <a:srgbClr val="FF0000"/>
                </a:solidFill>
                <a:effectLst/>
              </a:rPr>
              <a:t>5</a:t>
            </a:r>
            <a:r>
              <a:rPr lang="sl-SI" dirty="0">
                <a:solidFill>
                  <a:srgbClr val="000000"/>
                </a:solidFill>
                <a:effectLst/>
              </a:rPr>
              <a:t>) 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 err="1"/>
              <a:t>Python</a:t>
            </a:r>
            <a:r>
              <a:rPr lang="sl-SI" dirty="0"/>
              <a:t> deli operatorje v naslednje skupine:</a:t>
            </a:r>
          </a:p>
          <a:p>
            <a:pPr marL="0" indent="0">
              <a:buNone/>
            </a:pPr>
            <a:r>
              <a:rPr lang="sl-SI" dirty="0"/>
              <a:t>    Aritmetični operatorji</a:t>
            </a:r>
          </a:p>
          <a:p>
            <a:pPr marL="0" indent="0">
              <a:buNone/>
            </a:pPr>
            <a:r>
              <a:rPr lang="sl-SI" dirty="0"/>
              <a:t>    operatorji za pripisovanje</a:t>
            </a:r>
          </a:p>
          <a:p>
            <a:pPr marL="0" indent="0">
              <a:buNone/>
            </a:pPr>
            <a:r>
              <a:rPr lang="sl-SI" dirty="0"/>
              <a:t>    operatorji za primerjavo</a:t>
            </a:r>
          </a:p>
          <a:p>
            <a:pPr marL="0" indent="0">
              <a:buNone/>
            </a:pPr>
            <a:r>
              <a:rPr lang="sl-SI" dirty="0"/>
              <a:t>    Logični operatorji</a:t>
            </a:r>
          </a:p>
          <a:p>
            <a:pPr marL="0" indent="0">
              <a:buNone/>
            </a:pPr>
            <a:r>
              <a:rPr lang="sl-SI" dirty="0"/>
              <a:t>    operatorji identitete</a:t>
            </a:r>
          </a:p>
          <a:p>
            <a:pPr marL="0" indent="0">
              <a:buNone/>
            </a:pPr>
            <a:r>
              <a:rPr lang="sl-SI" dirty="0"/>
              <a:t>    operatorji pripadnosti</a:t>
            </a:r>
          </a:p>
          <a:p>
            <a:pPr marL="0" indent="0">
              <a:buNone/>
            </a:pPr>
            <a:r>
              <a:rPr lang="sl-SI" dirty="0"/>
              <a:t>    Bitni operatorji</a:t>
            </a:r>
          </a:p>
        </p:txBody>
      </p:sp>
    </p:spTree>
    <p:extLst>
      <p:ext uri="{BB962C8B-B14F-4D97-AF65-F5344CB8AC3E}">
        <p14:creationId xmlns:p14="http://schemas.microsoft.com/office/powerpoint/2010/main" val="27813381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Aritmetični operatorji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dirty="0"/>
          </a:p>
        </p:txBody>
      </p:sp>
      <p:pic>
        <p:nvPicPr>
          <p:cNvPr id="6" name="Označba mesta vsebine 5" descr="Slika, ki vsebuje besede miza&#10;&#10;Opis je samodejno ustvarjen">
            <a:extLst>
              <a:ext uri="{FF2B5EF4-FFF2-40B4-BE49-F238E27FC236}">
                <a16:creationId xmlns:a16="http://schemas.microsoft.com/office/drawing/2014/main" id="{BB33E5FE-0131-4790-83F0-CAE979843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2067719"/>
            <a:ext cx="8477250" cy="3867150"/>
          </a:xfrm>
        </p:spPr>
      </p:pic>
    </p:spTree>
    <p:extLst>
      <p:ext uri="{BB962C8B-B14F-4D97-AF65-F5344CB8AC3E}">
        <p14:creationId xmlns:p14="http://schemas.microsoft.com/office/powerpoint/2010/main" val="25667497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</a:rPr>
              <a:t>Operatorji za pripisovanje v jeziku Python</a:t>
            </a:r>
            <a:endParaRPr lang="sl-SI" dirty="0"/>
          </a:p>
        </p:txBody>
      </p:sp>
      <p:pic>
        <p:nvPicPr>
          <p:cNvPr id="7" name="Označba mesta vsebine 6" descr="Slika, ki vsebuje besede miza&#10;&#10;Opis je samodejno ustvarjen">
            <a:extLst>
              <a:ext uri="{FF2B5EF4-FFF2-40B4-BE49-F238E27FC236}">
                <a16:creationId xmlns:a16="http://schemas.microsoft.com/office/drawing/2014/main" id="{85B5A8E5-0270-4D90-9C2E-7454B4D56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470" y="1690688"/>
            <a:ext cx="7135059" cy="4733795"/>
          </a:xfrm>
        </p:spPr>
      </p:pic>
    </p:spTree>
    <p:extLst>
      <p:ext uri="{BB962C8B-B14F-4D97-AF65-F5344CB8AC3E}">
        <p14:creationId xmlns:p14="http://schemas.microsoft.com/office/powerpoint/2010/main" val="12715264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</a:rPr>
              <a:t>Primerjalni operatorji v jeziku Python</a:t>
            </a:r>
            <a:endParaRPr lang="sl-SI" dirty="0"/>
          </a:p>
        </p:txBody>
      </p:sp>
      <p:pic>
        <p:nvPicPr>
          <p:cNvPr id="6" name="Označba mesta vsebine 5">
            <a:extLst>
              <a:ext uri="{FF2B5EF4-FFF2-40B4-BE49-F238E27FC236}">
                <a16:creationId xmlns:a16="http://schemas.microsoft.com/office/drawing/2014/main" id="{E207D999-4BAE-489D-B55E-DCF1448FD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487" y="2315369"/>
            <a:ext cx="8201025" cy="3371850"/>
          </a:xfrm>
        </p:spPr>
      </p:pic>
    </p:spTree>
    <p:extLst>
      <p:ext uri="{BB962C8B-B14F-4D97-AF65-F5344CB8AC3E}">
        <p14:creationId xmlns:p14="http://schemas.microsoft.com/office/powerpoint/2010/main" val="2699691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</a:rPr>
              <a:t>Logični operatorji v programu Python</a:t>
            </a:r>
            <a:endParaRPr lang="sl-SI" dirty="0"/>
          </a:p>
        </p:txBody>
      </p:sp>
      <p:pic>
        <p:nvPicPr>
          <p:cNvPr id="7" name="Označba mesta vsebine 6" descr="Slika, ki vsebuje besede besedilo&#10;&#10;Opis je samodejno ustvarjen">
            <a:extLst>
              <a:ext uri="{FF2B5EF4-FFF2-40B4-BE49-F238E27FC236}">
                <a16:creationId xmlns:a16="http://schemas.microsoft.com/office/drawing/2014/main" id="{2C554081-5599-4090-8A97-CE80D7DF6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12" y="3010694"/>
            <a:ext cx="9401175" cy="1981200"/>
          </a:xfrm>
        </p:spPr>
      </p:pic>
    </p:spTree>
    <p:extLst>
      <p:ext uri="{BB962C8B-B14F-4D97-AF65-F5344CB8AC3E}">
        <p14:creationId xmlns:p14="http://schemas.microsoft.com/office/powerpoint/2010/main" val="29142685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</a:rPr>
              <a:t>Operatorji identitete v programu Python</a:t>
            </a:r>
            <a:endParaRPr lang="sl-SI" dirty="0"/>
          </a:p>
        </p:txBody>
      </p:sp>
      <p:pic>
        <p:nvPicPr>
          <p:cNvPr id="6" name="Označba mesta vsebine 5" descr="Slika, ki vsebuje besede besedilo&#10;&#10;Opis je samodejno ustvarjen">
            <a:extLst>
              <a:ext uri="{FF2B5EF4-FFF2-40B4-BE49-F238E27FC236}">
                <a16:creationId xmlns:a16="http://schemas.microsoft.com/office/drawing/2014/main" id="{B01D2778-4AA6-4340-B0F0-9A9B0AC8B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158331"/>
            <a:ext cx="8382000" cy="1685925"/>
          </a:xfrm>
        </p:spPr>
      </p:pic>
    </p:spTree>
    <p:extLst>
      <p:ext uri="{BB962C8B-B14F-4D97-AF65-F5344CB8AC3E}">
        <p14:creationId xmlns:p14="http://schemas.microsoft.com/office/powerpoint/2010/main" val="12544061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solidFill>
                  <a:srgbClr val="FF0000"/>
                </a:solidFill>
              </a:rPr>
              <a:t>Operatorji članstva v programu Python</a:t>
            </a:r>
            <a:endParaRPr lang="sl-SI" dirty="0"/>
          </a:p>
        </p:txBody>
      </p:sp>
      <p:pic>
        <p:nvPicPr>
          <p:cNvPr id="7" name="Označba mesta vsebine 6" descr="Slika, ki vsebuje besede besedilo&#10;&#10;Opis je samodejno ustvarjen">
            <a:extLst>
              <a:ext uri="{FF2B5EF4-FFF2-40B4-BE49-F238E27FC236}">
                <a16:creationId xmlns:a16="http://schemas.microsoft.com/office/drawing/2014/main" id="{B0E77C71-8421-4C28-B34E-2FA1580D3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712" y="3134519"/>
            <a:ext cx="8410575" cy="1733550"/>
          </a:xfrm>
        </p:spPr>
      </p:pic>
    </p:spTree>
    <p:extLst>
      <p:ext uri="{BB962C8B-B14F-4D97-AF65-F5344CB8AC3E}">
        <p14:creationId xmlns:p14="http://schemas.microsoft.com/office/powerpoint/2010/main" val="42805453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074C91-7CEC-4A43-BAD3-69A32791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solidFill>
                  <a:srgbClr val="FF0000"/>
                </a:solidFill>
              </a:rPr>
              <a:t>Bitni operatorji v Pythonu</a:t>
            </a:r>
            <a:endParaRPr lang="sl-SI" dirty="0"/>
          </a:p>
        </p:txBody>
      </p:sp>
      <p:pic>
        <p:nvPicPr>
          <p:cNvPr id="6" name="Označba mesta vsebine 5" descr="Slika, ki vsebuje besede besedilo&#10;&#10;Opis je samodejno ustvarjen">
            <a:extLst>
              <a:ext uri="{FF2B5EF4-FFF2-40B4-BE49-F238E27FC236}">
                <a16:creationId xmlns:a16="http://schemas.microsoft.com/office/drawing/2014/main" id="{BED180AF-B4BC-44A8-98E6-73C995FA8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48917"/>
            <a:ext cx="10515600" cy="2704754"/>
          </a:xfrm>
        </p:spPr>
      </p:pic>
    </p:spTree>
    <p:extLst>
      <p:ext uri="{BB962C8B-B14F-4D97-AF65-F5344CB8AC3E}">
        <p14:creationId xmlns:p14="http://schemas.microsoft.com/office/powerpoint/2010/main" val="33237877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solidFill>
                  <a:srgbClr val="FF0000"/>
                </a:solidFill>
              </a:rPr>
              <a:t>Pogoji in stavki If v jeziku Python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l-SI" dirty="0" err="1"/>
              <a:t>Python</a:t>
            </a:r>
            <a:r>
              <a:rPr lang="sl-SI" dirty="0"/>
              <a:t> podpira običajne logične pogoje iz matematike:</a:t>
            </a:r>
          </a:p>
          <a:p>
            <a:endParaRPr lang="sl-SI" dirty="0"/>
          </a:p>
          <a:p>
            <a:r>
              <a:rPr lang="sl-SI" dirty="0"/>
              <a:t>    Enako: a == b</a:t>
            </a:r>
          </a:p>
          <a:p>
            <a:r>
              <a:rPr lang="sl-SI" dirty="0"/>
              <a:t>    Ni enako: a != b</a:t>
            </a:r>
          </a:p>
          <a:p>
            <a:r>
              <a:rPr lang="sl-SI" dirty="0"/>
              <a:t>    Manj kot: a &lt; b</a:t>
            </a:r>
          </a:p>
          <a:p>
            <a:r>
              <a:rPr lang="sl-SI" dirty="0"/>
              <a:t>    Manj kot ali enako: a &lt;= b</a:t>
            </a:r>
          </a:p>
          <a:p>
            <a:r>
              <a:rPr lang="sl-SI" dirty="0"/>
              <a:t>    Večji od: a &gt; b</a:t>
            </a:r>
          </a:p>
          <a:p>
            <a:r>
              <a:rPr lang="sl-SI" dirty="0"/>
              <a:t>    Večje ali enako: a &gt;= b</a:t>
            </a:r>
          </a:p>
          <a:p>
            <a:endParaRPr lang="sl-SI" dirty="0"/>
          </a:p>
          <a:p>
            <a:r>
              <a:rPr lang="sl-SI" dirty="0"/>
              <a:t>Te pogoje je mogoče uporabiti na več načinov, najpogosteje v stavkih "</a:t>
            </a:r>
            <a:r>
              <a:rPr lang="sl-SI" dirty="0" err="1"/>
              <a:t>if</a:t>
            </a:r>
            <a:r>
              <a:rPr lang="sl-SI" dirty="0"/>
              <a:t>" in zankah.</a:t>
            </a:r>
          </a:p>
        </p:txBody>
      </p:sp>
    </p:spTree>
    <p:extLst>
      <p:ext uri="{BB962C8B-B14F-4D97-AF65-F5344CB8AC3E}">
        <p14:creationId xmlns:p14="http://schemas.microsoft.com/office/powerpoint/2010/main" val="16074799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solidFill>
                  <a:srgbClr val="FF0000"/>
                </a:solidFill>
              </a:rPr>
              <a:t>Pogoji in stavki If v jeziku Python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Stavek "</a:t>
            </a:r>
            <a:r>
              <a:rPr lang="sl-SI" dirty="0" err="1"/>
              <a:t>if</a:t>
            </a:r>
            <a:r>
              <a:rPr lang="sl-SI" dirty="0"/>
              <a:t>" zapišemo z uporabo ključne besede </a:t>
            </a:r>
            <a:r>
              <a:rPr lang="sl-SI" dirty="0" err="1"/>
              <a:t>if</a:t>
            </a:r>
            <a:r>
              <a:rPr lang="sl-SI" dirty="0"/>
              <a:t>.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200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b &gt; a: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"b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a"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  <a:effectLst/>
              </a:rPr>
              <a:t>V tem primeru uporabljamo dve spremenljivki, a in b, ki sta uporabljeni kot del stavka </a:t>
            </a:r>
            <a:r>
              <a:rPr lang="sl-SI" dirty="0" err="1">
                <a:solidFill>
                  <a:srgbClr val="000000"/>
                </a:solidFill>
                <a:effectLst/>
              </a:rPr>
              <a:t>if</a:t>
            </a:r>
            <a:r>
              <a:rPr lang="sl-SI" dirty="0">
                <a:solidFill>
                  <a:srgbClr val="000000"/>
                </a:solidFill>
                <a:effectLst/>
              </a:rPr>
              <a:t> za preverjanje, ali je b večji od a. Ker je a 33, b pa 200, vemo, da je 200 večje od 33, zato na zaslon izpišemo "b je večji od a".</a:t>
            </a:r>
          </a:p>
          <a:p>
            <a:pPr marL="0" indent="0">
              <a:buNone/>
            </a:pP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4685432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solidFill>
                  <a:srgbClr val="FF0000"/>
                </a:solidFill>
              </a:rPr>
              <a:t>Pogoji in stavki If v jeziku Python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/>
              <a:t>Python</a:t>
            </a:r>
            <a:r>
              <a:rPr lang="sl-SI" dirty="0"/>
              <a:t> se pri določanju obsega v kodi zanaša na alinejo (prazen prostor na začetku vrstice). Drugi programski jeziki v ta namen pogosto uporabljajo oglate oklepaje.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200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b &gt; a: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"b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a"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napaka!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0845046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Elif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Ključna beseda </a:t>
            </a:r>
            <a:r>
              <a:rPr lang="sl-SI" dirty="0" err="1"/>
              <a:t>elif</a:t>
            </a:r>
            <a:r>
              <a:rPr lang="sl-SI" dirty="0"/>
              <a:t> je </a:t>
            </a:r>
            <a:r>
              <a:rPr lang="sl-SI" dirty="0" err="1"/>
              <a:t>Pythonov</a:t>
            </a:r>
            <a:r>
              <a:rPr lang="sl-SI" dirty="0"/>
              <a:t> način izražanja "če prejšnji pogoji niso bili resnični, poskusi s tem pogojem".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b &gt; a: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"b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a"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 err="1">
                <a:solidFill>
                  <a:srgbClr val="0000CD"/>
                </a:solidFill>
                <a:effectLst/>
              </a:rPr>
              <a:t>elif</a:t>
            </a:r>
            <a:r>
              <a:rPr lang="en-US" dirty="0">
                <a:solidFill>
                  <a:srgbClr val="000000"/>
                </a:solidFill>
                <a:effectLst/>
              </a:rPr>
              <a:t> a == b: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"a </a:t>
            </a:r>
            <a:r>
              <a:rPr lang="sl-SI" dirty="0">
                <a:solidFill>
                  <a:srgbClr val="A52A2A"/>
                </a:solidFill>
                <a:effectLst/>
              </a:rPr>
              <a:t>in b sta enaka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0779552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Else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Ključna beseda </a:t>
            </a:r>
            <a:r>
              <a:rPr lang="sl-SI" dirty="0"/>
              <a:t>“</a:t>
            </a:r>
            <a:r>
              <a:rPr lang="sv-SE" dirty="0"/>
              <a:t>else</a:t>
            </a:r>
            <a:r>
              <a:rPr lang="sl-SI" dirty="0"/>
              <a:t>“</a:t>
            </a:r>
            <a:r>
              <a:rPr lang="sv-SE" dirty="0"/>
              <a:t> zajame vse, kar ni zajeto v predhodnih pogojih.</a:t>
            </a:r>
            <a:endParaRPr lang="sl-SI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200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b &gt; a: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"b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a"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 err="1">
                <a:solidFill>
                  <a:srgbClr val="0000CD"/>
                </a:solidFill>
                <a:effectLst/>
              </a:rPr>
              <a:t>elif</a:t>
            </a:r>
            <a:r>
              <a:rPr lang="en-US" dirty="0">
                <a:solidFill>
                  <a:srgbClr val="000000"/>
                </a:solidFill>
                <a:effectLst/>
              </a:rPr>
              <a:t> a == b: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"a </a:t>
            </a:r>
            <a:r>
              <a:rPr lang="sl-SI" dirty="0">
                <a:solidFill>
                  <a:srgbClr val="A52A2A"/>
                </a:solidFill>
                <a:effectLst/>
              </a:rPr>
              <a:t>in b sta enaka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else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"a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b"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756513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Else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Lahko imate tudi else brez elif:</a:t>
            </a:r>
            <a:endParaRPr lang="sl-SI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200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b &gt; a: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"b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a"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else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"b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manjsi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a"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628174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Hitra uporaba stavka </a:t>
            </a:r>
            <a:r>
              <a:rPr lang="sl-SI" b="1" dirty="0" err="1">
                <a:solidFill>
                  <a:srgbClr val="FF0000"/>
                </a:solidFill>
              </a:rPr>
              <a:t>if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Če želite izvesti samo eno izjavo, jo lahko postavite v isto vrstico kot izjavo if.</a:t>
            </a:r>
            <a:endParaRPr lang="sl-SI" dirty="0"/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a &gt; b: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"a </a:t>
            </a:r>
            <a:r>
              <a:rPr lang="sl-SI" dirty="0">
                <a:solidFill>
                  <a:srgbClr val="A52A2A"/>
                </a:solidFill>
                <a:effectLst/>
              </a:rPr>
              <a:t>je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vecji</a:t>
            </a:r>
            <a:r>
              <a:rPr lang="sl-SI" dirty="0">
                <a:solidFill>
                  <a:srgbClr val="A52A2A"/>
                </a:solidFill>
                <a:effectLst/>
              </a:rPr>
              <a:t> od </a:t>
            </a:r>
            <a:r>
              <a:rPr lang="en-US" dirty="0">
                <a:solidFill>
                  <a:srgbClr val="A52A2A"/>
                </a:solidFill>
                <a:effectLst/>
              </a:rPr>
              <a:t>b"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Če želite izvesti samo eno izjavo, eno za </a:t>
            </a:r>
            <a:r>
              <a:rPr lang="sl-SI" dirty="0" err="1"/>
              <a:t>if</a:t>
            </a:r>
            <a:r>
              <a:rPr lang="sl-SI" dirty="0"/>
              <a:t> in eno za </a:t>
            </a:r>
            <a:r>
              <a:rPr lang="sl-SI" dirty="0" err="1"/>
              <a:t>else</a:t>
            </a:r>
            <a:r>
              <a:rPr lang="sl-SI" dirty="0"/>
              <a:t>, lahko vse postavite v isto vrstico: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330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"A"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a &gt; b </a:t>
            </a:r>
            <a:r>
              <a:rPr lang="en-US" dirty="0">
                <a:solidFill>
                  <a:srgbClr val="0000CD"/>
                </a:solidFill>
                <a:effectLst/>
              </a:rPr>
              <a:t>else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"B"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3895046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AND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Ključna beseda </a:t>
            </a:r>
            <a:r>
              <a:rPr lang="sl-SI" dirty="0"/>
              <a:t>“</a:t>
            </a:r>
            <a:r>
              <a:rPr lang="sv-SE" dirty="0"/>
              <a:t>and</a:t>
            </a:r>
            <a:r>
              <a:rPr lang="sl-SI" dirty="0"/>
              <a:t>“</a:t>
            </a:r>
            <a:r>
              <a:rPr lang="sv-SE" dirty="0"/>
              <a:t> je logični operator in se uporablja za združevanje pogojnih stavkov:</a:t>
            </a:r>
            <a:endParaRPr lang="sl-SI" dirty="0"/>
          </a:p>
          <a:p>
            <a:r>
              <a:rPr lang="pl-PL" dirty="0"/>
              <a:t>Preizkusite, ali je a večji od b IN ali je c večji od a: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200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c = </a:t>
            </a:r>
            <a:r>
              <a:rPr lang="en-US" dirty="0">
                <a:solidFill>
                  <a:srgbClr val="FF0000"/>
                </a:solidFill>
                <a:effectLst/>
              </a:rPr>
              <a:t>500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a &gt; b and c &gt; a: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Oba pogoja sta </a:t>
            </a:r>
            <a:r>
              <a:rPr lang="en-US" dirty="0">
                <a:solidFill>
                  <a:srgbClr val="A52A2A"/>
                </a:solidFill>
                <a:effectLst/>
              </a:rPr>
              <a:t>True"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7350206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Ključna beseda </a:t>
            </a:r>
            <a:r>
              <a:rPr lang="sl-SI" dirty="0"/>
              <a:t>“</a:t>
            </a:r>
            <a:r>
              <a:rPr lang="sv-SE" dirty="0"/>
              <a:t>or</a:t>
            </a:r>
            <a:r>
              <a:rPr lang="sl-SI" dirty="0"/>
              <a:t>“</a:t>
            </a:r>
            <a:r>
              <a:rPr lang="sv-SE" dirty="0"/>
              <a:t> je logični operator in se uporablja za združevanje pogojnih stavkov:</a:t>
            </a:r>
            <a:endParaRPr lang="sl-SI" dirty="0"/>
          </a:p>
          <a:p>
            <a:r>
              <a:rPr lang="pl-PL" dirty="0"/>
              <a:t>Preizkusite, ali je a večji od b ALI če je a večji od c:</a:t>
            </a:r>
            <a:endParaRPr lang="sl-SI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a = </a:t>
            </a:r>
            <a:r>
              <a:rPr lang="en-US" dirty="0">
                <a:solidFill>
                  <a:srgbClr val="FF0000"/>
                </a:solidFill>
                <a:effectLst/>
              </a:rPr>
              <a:t>200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b = </a:t>
            </a:r>
            <a:r>
              <a:rPr lang="en-US" dirty="0">
                <a:solidFill>
                  <a:srgbClr val="FF0000"/>
                </a:solidFill>
                <a:effectLst/>
              </a:rPr>
              <a:t>33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c = </a:t>
            </a:r>
            <a:r>
              <a:rPr lang="en-US" dirty="0">
                <a:solidFill>
                  <a:srgbClr val="FF0000"/>
                </a:solidFill>
                <a:effectLst/>
              </a:rPr>
              <a:t>500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a &gt; b or a &gt; c: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Eden izmed pogojev je </a:t>
            </a:r>
            <a:r>
              <a:rPr lang="en-US" dirty="0">
                <a:solidFill>
                  <a:srgbClr val="A52A2A"/>
                </a:solidFill>
                <a:effectLst/>
              </a:rPr>
              <a:t>True"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4287292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Gnezdeni </a:t>
            </a:r>
            <a:r>
              <a:rPr lang="sl-SI" b="1" dirty="0" err="1">
                <a:solidFill>
                  <a:srgbClr val="FF0000"/>
                </a:solidFill>
              </a:rPr>
              <a:t>if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Stavki if so lahko znotraj stavkov if, kar se imenuje vgnezdeni stavki if.</a:t>
            </a:r>
            <a:endParaRPr lang="sl-SI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en-US" dirty="0">
                <a:solidFill>
                  <a:srgbClr val="FF0000"/>
                </a:solidFill>
                <a:effectLst/>
              </a:rPr>
              <a:t>41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&gt; </a:t>
            </a:r>
            <a:r>
              <a:rPr lang="en-US" dirty="0">
                <a:solidFill>
                  <a:srgbClr val="FF0000"/>
                </a:solidFill>
                <a:effectLst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od 10</a:t>
            </a:r>
            <a:r>
              <a:rPr lang="en-US" dirty="0">
                <a:solidFill>
                  <a:srgbClr val="A52A2A"/>
                </a:solidFill>
                <a:effectLst/>
              </a:rPr>
              <a:t>,"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&gt; </a:t>
            </a:r>
            <a:r>
              <a:rPr lang="en-US" dirty="0">
                <a:solidFill>
                  <a:srgbClr val="FF0000"/>
                </a:solidFill>
                <a:effectLst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in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 dirty="0">
                <a:solidFill>
                  <a:srgbClr val="A52A2A"/>
                </a:solidFill>
                <a:effectLst/>
              </a:rPr>
              <a:t> tudi od </a:t>
            </a:r>
            <a:r>
              <a:rPr lang="en-US" dirty="0">
                <a:solidFill>
                  <a:srgbClr val="A52A2A"/>
                </a:solidFill>
                <a:effectLst/>
              </a:rPr>
              <a:t>20!"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else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ampak ne </a:t>
            </a:r>
            <a:r>
              <a:rPr lang="sl-SI" dirty="0" err="1">
                <a:solidFill>
                  <a:srgbClr val="A52A2A"/>
                </a:solidFill>
                <a:effectLst/>
              </a:rPr>
              <a:t>vecje</a:t>
            </a:r>
            <a:r>
              <a:rPr lang="sl-SI">
                <a:solidFill>
                  <a:srgbClr val="A52A2A"/>
                </a:solidFill>
                <a:effectLst/>
              </a:rPr>
              <a:t> od </a:t>
            </a:r>
            <a:r>
              <a:rPr lang="en-US">
                <a:solidFill>
                  <a:srgbClr val="A52A2A"/>
                </a:solidFill>
                <a:effectLst/>
              </a:rPr>
              <a:t>20</a:t>
            </a:r>
            <a:r>
              <a:rPr lang="en-US" dirty="0">
                <a:solidFill>
                  <a:srgbClr val="A52A2A"/>
                </a:solidFill>
                <a:effectLst/>
              </a:rPr>
              <a:t>."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7211010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zanke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Python ima dva standardna ukaza za zanko:</a:t>
            </a:r>
          </a:p>
          <a:p>
            <a:r>
              <a:rPr lang="pl-PL" dirty="0"/>
              <a:t>while in for</a:t>
            </a:r>
          </a:p>
          <a:p>
            <a:r>
              <a:rPr lang="pl-PL" dirty="0"/>
              <a:t>Z zanko while lahko izvajamo niz stavkov, dokler je pogoj resničen.</a:t>
            </a:r>
          </a:p>
          <a:p>
            <a:r>
              <a:rPr lang="pl-PL" dirty="0"/>
              <a:t>Primer: Izpisuj i, dokler je i manjše od 6:</a:t>
            </a:r>
          </a:p>
          <a:p>
            <a:pPr marL="0" indent="0">
              <a:buNone/>
            </a:pPr>
            <a:r>
              <a:rPr lang="nn-NO" dirty="0">
                <a:solidFill>
                  <a:srgbClr val="000000"/>
                </a:solidFill>
                <a:effectLst/>
              </a:rPr>
              <a:t>i = </a:t>
            </a:r>
            <a:r>
              <a:rPr lang="nn-NO" dirty="0">
                <a:solidFill>
                  <a:srgbClr val="FF0000"/>
                </a:solidFill>
                <a:effectLst/>
              </a:rPr>
              <a:t>1</a:t>
            </a:r>
            <a:br>
              <a:rPr lang="nn-NO" dirty="0">
                <a:solidFill>
                  <a:srgbClr val="000000"/>
                </a:solidFill>
                <a:effectLst/>
              </a:rPr>
            </a:br>
            <a:r>
              <a:rPr lang="nn-NO" dirty="0">
                <a:solidFill>
                  <a:srgbClr val="0000CD"/>
                </a:solidFill>
                <a:effectLst/>
              </a:rPr>
              <a:t>while</a:t>
            </a:r>
            <a:r>
              <a:rPr lang="nn-NO" dirty="0">
                <a:solidFill>
                  <a:srgbClr val="000000"/>
                </a:solidFill>
                <a:effectLst/>
              </a:rPr>
              <a:t> i &lt; </a:t>
            </a:r>
            <a:r>
              <a:rPr lang="nn-NO" dirty="0">
                <a:solidFill>
                  <a:srgbClr val="FF0000"/>
                </a:solidFill>
                <a:effectLst/>
              </a:rPr>
              <a:t>6</a:t>
            </a:r>
            <a:r>
              <a:rPr lang="nn-NO" dirty="0">
                <a:solidFill>
                  <a:srgbClr val="000000"/>
                </a:solidFill>
                <a:effectLst/>
              </a:rPr>
              <a:t>:</a:t>
            </a:r>
            <a:br>
              <a:rPr lang="nn-NO" dirty="0">
                <a:solidFill>
                  <a:srgbClr val="000000"/>
                </a:solidFill>
                <a:effectLst/>
              </a:rPr>
            </a:br>
            <a:r>
              <a:rPr lang="nn-NO" dirty="0">
                <a:solidFill>
                  <a:srgbClr val="000000"/>
                </a:solidFill>
                <a:effectLst/>
              </a:rPr>
              <a:t>  </a:t>
            </a:r>
            <a:r>
              <a:rPr lang="nn-NO" dirty="0">
                <a:solidFill>
                  <a:srgbClr val="0000CD"/>
                </a:solidFill>
                <a:effectLst/>
              </a:rPr>
              <a:t>print</a:t>
            </a:r>
            <a:r>
              <a:rPr lang="nn-NO" dirty="0">
                <a:solidFill>
                  <a:srgbClr val="000000"/>
                </a:solidFill>
                <a:effectLst/>
              </a:rPr>
              <a:t>(i)</a:t>
            </a:r>
            <a:br>
              <a:rPr lang="nn-NO" dirty="0">
                <a:solidFill>
                  <a:srgbClr val="000000"/>
                </a:solidFill>
                <a:effectLst/>
              </a:rPr>
            </a:br>
            <a:r>
              <a:rPr lang="nn-NO" dirty="0">
                <a:solidFill>
                  <a:srgbClr val="000000"/>
                </a:solidFill>
                <a:effectLst/>
              </a:rPr>
              <a:t>  i += </a:t>
            </a:r>
            <a:r>
              <a:rPr lang="nn-NO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</a:rPr>
              <a:t>enako kot i=i+1</a:t>
            </a:r>
            <a:endParaRPr lang="sl-SI" dirty="0">
              <a:solidFill>
                <a:srgbClr val="008000"/>
              </a:solidFill>
              <a:effectLst/>
            </a:endParaRPr>
          </a:p>
          <a:p>
            <a:pPr marL="0" indent="0">
              <a:buNone/>
            </a:pPr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4871355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zanke (</a:t>
            </a:r>
            <a:r>
              <a:rPr lang="sl-SI" b="1" dirty="0" err="1">
                <a:solidFill>
                  <a:srgbClr val="FF0000"/>
                </a:solidFill>
              </a:rPr>
              <a:t>while</a:t>
            </a:r>
            <a:r>
              <a:rPr lang="sl-SI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Python ima dva standardna ukaza za zanko:</a:t>
            </a:r>
          </a:p>
          <a:p>
            <a:r>
              <a:rPr lang="pl-PL" dirty="0"/>
              <a:t>while in for</a:t>
            </a:r>
          </a:p>
          <a:p>
            <a:r>
              <a:rPr lang="pl-PL" dirty="0"/>
              <a:t>Z zanko while lahko izvajamo niz stavkov, dokler je pogoj resničen.</a:t>
            </a:r>
          </a:p>
          <a:p>
            <a:r>
              <a:rPr lang="pl-PL" dirty="0"/>
              <a:t>Primer: Izpisuj i, dokler je i manjše od 6:</a:t>
            </a:r>
          </a:p>
          <a:p>
            <a:pPr marL="0" indent="0">
              <a:buNone/>
            </a:pPr>
            <a:r>
              <a:rPr lang="nn-NO" dirty="0">
                <a:solidFill>
                  <a:srgbClr val="000000"/>
                </a:solidFill>
                <a:effectLst/>
              </a:rPr>
              <a:t>i = </a:t>
            </a:r>
            <a:r>
              <a:rPr lang="nn-NO" dirty="0">
                <a:solidFill>
                  <a:srgbClr val="FF0000"/>
                </a:solidFill>
                <a:effectLst/>
              </a:rPr>
              <a:t>1</a:t>
            </a:r>
            <a:br>
              <a:rPr lang="nn-NO" dirty="0">
                <a:solidFill>
                  <a:srgbClr val="000000"/>
                </a:solidFill>
                <a:effectLst/>
              </a:rPr>
            </a:br>
            <a:r>
              <a:rPr lang="nn-NO" dirty="0">
                <a:solidFill>
                  <a:srgbClr val="0000CD"/>
                </a:solidFill>
                <a:effectLst/>
              </a:rPr>
              <a:t>while</a:t>
            </a:r>
            <a:r>
              <a:rPr lang="nn-NO" dirty="0">
                <a:solidFill>
                  <a:srgbClr val="000000"/>
                </a:solidFill>
                <a:effectLst/>
              </a:rPr>
              <a:t> i &lt; </a:t>
            </a:r>
            <a:r>
              <a:rPr lang="nn-NO" dirty="0">
                <a:solidFill>
                  <a:srgbClr val="FF0000"/>
                </a:solidFill>
                <a:effectLst/>
              </a:rPr>
              <a:t>6</a:t>
            </a:r>
            <a:r>
              <a:rPr lang="nn-NO" dirty="0">
                <a:solidFill>
                  <a:srgbClr val="000000"/>
                </a:solidFill>
                <a:effectLst/>
              </a:rPr>
              <a:t>:</a:t>
            </a:r>
            <a:br>
              <a:rPr lang="nn-NO" dirty="0">
                <a:solidFill>
                  <a:srgbClr val="000000"/>
                </a:solidFill>
                <a:effectLst/>
              </a:rPr>
            </a:br>
            <a:r>
              <a:rPr lang="nn-NO" dirty="0">
                <a:solidFill>
                  <a:srgbClr val="000000"/>
                </a:solidFill>
                <a:effectLst/>
              </a:rPr>
              <a:t>  </a:t>
            </a:r>
            <a:r>
              <a:rPr lang="nn-NO" dirty="0">
                <a:solidFill>
                  <a:srgbClr val="0000CD"/>
                </a:solidFill>
                <a:effectLst/>
              </a:rPr>
              <a:t>print</a:t>
            </a:r>
            <a:r>
              <a:rPr lang="nn-NO" dirty="0">
                <a:solidFill>
                  <a:srgbClr val="000000"/>
                </a:solidFill>
                <a:effectLst/>
              </a:rPr>
              <a:t>(i)</a:t>
            </a:r>
            <a:br>
              <a:rPr lang="nn-NO" dirty="0">
                <a:solidFill>
                  <a:srgbClr val="000000"/>
                </a:solidFill>
                <a:effectLst/>
              </a:rPr>
            </a:br>
            <a:r>
              <a:rPr lang="nn-NO" dirty="0">
                <a:solidFill>
                  <a:srgbClr val="000000"/>
                </a:solidFill>
                <a:effectLst/>
              </a:rPr>
              <a:t>  i += </a:t>
            </a:r>
            <a:r>
              <a:rPr lang="nn-NO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</a:rPr>
              <a:t>enako kot i=i+1</a:t>
            </a:r>
            <a:endParaRPr lang="sl-SI" dirty="0">
              <a:solidFill>
                <a:srgbClr val="008000"/>
              </a:solidFill>
              <a:effectLst/>
            </a:endParaRPr>
          </a:p>
          <a:p>
            <a:pPr marL="0" indent="0">
              <a:buNone/>
            </a:pPr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5563224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zanke (</a:t>
            </a:r>
            <a:r>
              <a:rPr lang="sl-SI" b="1" dirty="0" err="1">
                <a:solidFill>
                  <a:srgbClr val="FF0000"/>
                </a:solidFill>
              </a:rPr>
              <a:t>while</a:t>
            </a:r>
            <a:r>
              <a:rPr lang="sl-SI" b="1" dirty="0">
                <a:solidFill>
                  <a:srgbClr val="FF0000"/>
                </a:solidFill>
              </a:rPr>
              <a:t> in </a:t>
            </a:r>
            <a:r>
              <a:rPr lang="sl-SI" b="1" dirty="0" err="1">
                <a:solidFill>
                  <a:srgbClr val="FF0000"/>
                </a:solidFill>
              </a:rPr>
              <a:t>break</a:t>
            </a:r>
            <a:r>
              <a:rPr lang="sl-SI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Za zanko while je treba pripraviti ustrezne spremenljivke, v tem primeru moramo določiti indeksno spremenljivko i, ki jo nastavimo na 1 (nastavimo števec na vrednost 1).</a:t>
            </a:r>
          </a:p>
          <a:p>
            <a:r>
              <a:rPr lang="it-IT" dirty="0" err="1"/>
              <a:t>Opomba</a:t>
            </a:r>
            <a:r>
              <a:rPr lang="it-IT" dirty="0"/>
              <a:t>: ne </a:t>
            </a:r>
            <a:r>
              <a:rPr lang="it-IT" dirty="0" err="1"/>
              <a:t>pozabite</a:t>
            </a:r>
            <a:r>
              <a:rPr lang="it-IT" dirty="0"/>
              <a:t> </a:t>
            </a:r>
            <a:r>
              <a:rPr lang="it-IT" dirty="0" err="1"/>
              <a:t>povečati</a:t>
            </a:r>
            <a:r>
              <a:rPr lang="it-IT" dirty="0"/>
              <a:t> </a:t>
            </a:r>
            <a:r>
              <a:rPr lang="it-IT" dirty="0" err="1"/>
              <a:t>vrednosti</a:t>
            </a:r>
            <a:r>
              <a:rPr lang="it-IT" dirty="0"/>
              <a:t> i, </a:t>
            </a:r>
            <a:r>
              <a:rPr lang="it-IT" dirty="0" err="1"/>
              <a:t>sicer</a:t>
            </a:r>
            <a:r>
              <a:rPr lang="it-IT" dirty="0"/>
              <a:t> se bo </a:t>
            </a:r>
            <a:r>
              <a:rPr lang="it-IT" dirty="0" err="1"/>
              <a:t>zanka</a:t>
            </a:r>
            <a:r>
              <a:rPr lang="it-IT" dirty="0"/>
              <a:t> </a:t>
            </a:r>
            <a:r>
              <a:rPr lang="it-IT" dirty="0" err="1"/>
              <a:t>nadaljevala</a:t>
            </a:r>
            <a:r>
              <a:rPr lang="it-IT" dirty="0"/>
              <a:t> v </a:t>
            </a:r>
            <a:r>
              <a:rPr lang="it-IT" dirty="0" err="1"/>
              <a:t>nedogled</a:t>
            </a:r>
            <a:r>
              <a:rPr lang="it-IT" dirty="0"/>
              <a:t>.</a:t>
            </a:r>
            <a:endParaRPr lang="sl-SI" dirty="0"/>
          </a:p>
          <a:p>
            <a:r>
              <a:rPr lang="pl-PL" dirty="0"/>
              <a:t>Z ukazom break lahko ustavimo zanko, tudi če je pogoj while resničen:</a:t>
            </a:r>
          </a:p>
          <a:p>
            <a:r>
              <a:rPr lang="pl-PL" dirty="0"/>
              <a:t>Primer: Zapustite zanko, ko je i enak 3: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i = 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while</a:t>
            </a:r>
            <a:r>
              <a:rPr lang="sl-SI" dirty="0">
                <a:solidFill>
                  <a:srgbClr val="000000"/>
                </a:solidFill>
                <a:effectLst/>
              </a:rPr>
              <a:t> i &lt; </a:t>
            </a:r>
            <a:r>
              <a:rPr lang="sl-SI" dirty="0">
                <a:solidFill>
                  <a:srgbClr val="FF0000"/>
                </a:solidFill>
                <a:effectLst/>
              </a:rPr>
              <a:t>6</a:t>
            </a:r>
            <a:r>
              <a:rPr lang="sl-SI" dirty="0">
                <a:solidFill>
                  <a:srgbClr val="000000"/>
                </a:solidFill>
                <a:effectLst/>
              </a:rPr>
              <a:t>: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</a:t>
            </a: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(i)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 err="1">
                <a:solidFill>
                  <a:srgbClr val="0000CD"/>
                </a:solidFill>
                <a:effectLst/>
              </a:rPr>
              <a:t>if</a:t>
            </a:r>
            <a:r>
              <a:rPr lang="sl-SI" dirty="0">
                <a:solidFill>
                  <a:srgbClr val="000000"/>
                </a:solidFill>
                <a:effectLst/>
              </a:rPr>
              <a:t> i ==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: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 err="1">
                <a:solidFill>
                  <a:srgbClr val="0000CD"/>
                </a:solidFill>
                <a:effectLst/>
              </a:rPr>
              <a:t>break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i += </a:t>
            </a:r>
            <a:r>
              <a:rPr lang="sl-SI" dirty="0">
                <a:solidFill>
                  <a:srgbClr val="FF0000"/>
                </a:solidFill>
                <a:effectLst/>
              </a:rPr>
              <a:t>1 </a:t>
            </a:r>
            <a:endParaRPr lang="pl-PL" dirty="0"/>
          </a:p>
          <a:p>
            <a:endParaRPr lang="pl-PL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797609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zanke (</a:t>
            </a:r>
            <a:r>
              <a:rPr lang="sl-SI" b="1" dirty="0" err="1">
                <a:solidFill>
                  <a:srgbClr val="FF0000"/>
                </a:solidFill>
              </a:rPr>
              <a:t>for</a:t>
            </a:r>
            <a:r>
              <a:rPr lang="sl-SI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Zanka for se uporablja za iteracijo po zaporedju čez (sezname, tuple, direktorije, množice ali nize).</a:t>
            </a:r>
          </a:p>
          <a:p>
            <a:r>
              <a:rPr lang="pl-PL" dirty="0"/>
              <a:t>Ta zanka je manj podobna ključni besedi for v drugih programskih jezikih in deluje bolj kot metoda iteratorja, ki jo najdemo v drugih objektno usmerjenih programskih jezikih.</a:t>
            </a:r>
          </a:p>
          <a:p>
            <a:r>
              <a:rPr lang="pl-PL" dirty="0"/>
              <a:t>Z zanko for lahko izvedemo niz stavkov, enkrat za vsak element na seznamu, tuplu, množici itd.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6371703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zanke (</a:t>
            </a:r>
            <a:r>
              <a:rPr lang="sl-SI" b="1" dirty="0" err="1">
                <a:solidFill>
                  <a:srgbClr val="FF0000"/>
                </a:solidFill>
              </a:rPr>
              <a:t>for</a:t>
            </a:r>
            <a:r>
              <a:rPr lang="sl-SI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Primer: Izpišite vsako sadje posebej iz seznama: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pl-PL" dirty="0"/>
              <a:t>Za zanko for ni treba predhodno nastaviti indeksne spremenljivke.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311495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niz in </a:t>
            </a:r>
            <a:r>
              <a:rPr lang="sl-SI" b="1" dirty="0" err="1">
                <a:solidFill>
                  <a:srgbClr val="FF0000"/>
                </a:solidFill>
              </a:rPr>
              <a:t>break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Tudi nizi so iterabilni objekti in vsebujejo zaporedje znakov:</a:t>
            </a:r>
          </a:p>
          <a:p>
            <a:r>
              <a:rPr lang="pl-PL" dirty="0"/>
              <a:t>Primer: </a:t>
            </a:r>
            <a:r>
              <a:rPr lang="it-IT" dirty="0" err="1"/>
              <a:t>Preletite</a:t>
            </a:r>
            <a:r>
              <a:rPr lang="it-IT" dirty="0"/>
              <a:t> </a:t>
            </a:r>
            <a:r>
              <a:rPr lang="it-IT" dirty="0" err="1"/>
              <a:t>črke</a:t>
            </a:r>
            <a:r>
              <a:rPr lang="it-IT" dirty="0"/>
              <a:t> v </a:t>
            </a:r>
            <a:r>
              <a:rPr lang="it-IT" dirty="0" err="1"/>
              <a:t>besedi</a:t>
            </a:r>
            <a:r>
              <a:rPr lang="it-IT" dirty="0"/>
              <a:t> "banana":</a:t>
            </a:r>
            <a:endParaRPr lang="sl-SI" dirty="0"/>
          </a:p>
          <a:p>
            <a:pPr marL="0" indent="0">
              <a:buNone/>
            </a:pPr>
            <a:r>
              <a:rPr lang="sl-SI" dirty="0" err="1">
                <a:solidFill>
                  <a:srgbClr val="0000CD"/>
                </a:solidFill>
                <a:effectLst/>
              </a:rPr>
              <a:t>for</a:t>
            </a:r>
            <a:r>
              <a:rPr lang="sl-SI" dirty="0">
                <a:solidFill>
                  <a:srgbClr val="000000"/>
                </a:solidFill>
                <a:effectLst/>
              </a:rPr>
              <a:t> x </a:t>
            </a:r>
            <a:r>
              <a:rPr lang="sl-SI" dirty="0">
                <a:solidFill>
                  <a:srgbClr val="0000CD"/>
                </a:solidFill>
                <a:effectLst/>
              </a:rPr>
              <a:t>in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:  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(x)</a:t>
            </a:r>
          </a:p>
          <a:p>
            <a:r>
              <a:rPr lang="sl-SI" dirty="0">
                <a:solidFill>
                  <a:srgbClr val="000000"/>
                </a:solidFill>
              </a:rPr>
              <a:t>Z ukazom </a:t>
            </a:r>
            <a:r>
              <a:rPr lang="sl-SI" dirty="0" err="1">
                <a:solidFill>
                  <a:srgbClr val="000000"/>
                </a:solidFill>
              </a:rPr>
              <a:t>break</a:t>
            </a:r>
            <a:r>
              <a:rPr lang="sl-SI" dirty="0">
                <a:solidFill>
                  <a:srgbClr val="000000"/>
                </a:solidFill>
              </a:rPr>
              <a:t> lahko zanko ustavimo, še preden je pregledala vse elemente:</a:t>
            </a:r>
          </a:p>
          <a:p>
            <a:r>
              <a:rPr lang="pl-PL" dirty="0">
                <a:solidFill>
                  <a:srgbClr val="000000"/>
                </a:solidFill>
              </a:rPr>
              <a:t>Primer: Zapustite zanko, ko je x enak "banana":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==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 </a:t>
            </a:r>
            <a:r>
              <a:rPr lang="en-US" dirty="0">
                <a:solidFill>
                  <a:srgbClr val="0000CD"/>
                </a:solidFill>
                <a:effectLst/>
              </a:rPr>
              <a:t>break</a:t>
            </a:r>
            <a:r>
              <a:rPr lang="sl-SI" dirty="0">
                <a:solidFill>
                  <a:srgbClr val="0000CD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ukaz </a:t>
            </a:r>
            <a:r>
              <a:rPr lang="sl-SI" dirty="0" err="1">
                <a:solidFill>
                  <a:srgbClr val="008000"/>
                </a:solidFill>
                <a:effectLst/>
              </a:rPr>
              <a:t>break</a:t>
            </a:r>
            <a:r>
              <a:rPr lang="sl-SI" dirty="0">
                <a:solidFill>
                  <a:srgbClr val="008000"/>
                </a:solidFill>
                <a:effectLst/>
              </a:rPr>
              <a:t> je na koncu, izpiše jabolko banana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3873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niz in </a:t>
            </a:r>
            <a:r>
              <a:rPr lang="sl-SI" b="1" dirty="0" err="1">
                <a:solidFill>
                  <a:srgbClr val="FF0000"/>
                </a:solidFill>
              </a:rPr>
              <a:t>break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Primer 2: Zaključite zanko, ko je x "banana", vendar tokrat prekinitev pride pred tiskanjem: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==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 </a:t>
            </a:r>
            <a:r>
              <a:rPr lang="en-US" dirty="0">
                <a:solidFill>
                  <a:srgbClr val="0000CD"/>
                </a:solidFill>
                <a:effectLst/>
              </a:rPr>
              <a:t>break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</a:rPr>
              <a:t>tokrat je </a:t>
            </a:r>
            <a:r>
              <a:rPr lang="sl-SI" dirty="0" err="1">
                <a:solidFill>
                  <a:srgbClr val="008000"/>
                </a:solidFill>
              </a:rPr>
              <a:t>print</a:t>
            </a:r>
            <a:r>
              <a:rPr lang="sl-SI" dirty="0">
                <a:solidFill>
                  <a:srgbClr val="008000"/>
                </a:solidFill>
              </a:rPr>
              <a:t> za ukazom </a:t>
            </a:r>
            <a:r>
              <a:rPr lang="sl-SI" dirty="0" err="1">
                <a:solidFill>
                  <a:srgbClr val="008000"/>
                </a:solidFill>
              </a:rPr>
              <a:t>break</a:t>
            </a:r>
            <a:r>
              <a:rPr lang="sl-SI" dirty="0">
                <a:solidFill>
                  <a:srgbClr val="008000"/>
                </a:solidFill>
              </a:rPr>
              <a:t>, izpisalo bo zgolj jabolko</a:t>
            </a:r>
            <a:endParaRPr lang="sl-SI" dirty="0">
              <a:solidFill>
                <a:srgbClr val="008000"/>
              </a:solidFill>
              <a:effectLst/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223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Ukaz </a:t>
            </a:r>
            <a:r>
              <a:rPr lang="sl-SI" b="1" dirty="0" err="1">
                <a:solidFill>
                  <a:srgbClr val="FF0000"/>
                </a:solidFill>
              </a:rPr>
              <a:t>continue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Z ukazom </a:t>
            </a:r>
            <a:r>
              <a:rPr lang="sl-SI" dirty="0" err="1">
                <a:solidFill>
                  <a:srgbClr val="000000"/>
                </a:solidFill>
              </a:rPr>
              <a:t>continue</a:t>
            </a:r>
            <a:r>
              <a:rPr lang="sl-SI" dirty="0">
                <a:solidFill>
                  <a:srgbClr val="000000"/>
                </a:solidFill>
              </a:rPr>
              <a:t> lahko ustavimo trenutno iteracijo zanke in nadaljujemo z naslednjo:</a:t>
            </a:r>
          </a:p>
          <a:p>
            <a:r>
              <a:rPr lang="sl-SI" dirty="0">
                <a:solidFill>
                  <a:srgbClr val="000000"/>
                </a:solidFill>
              </a:rPr>
              <a:t>Primer: Ne </a:t>
            </a:r>
            <a:r>
              <a:rPr lang="sl-SI" dirty="0" err="1">
                <a:solidFill>
                  <a:srgbClr val="000000"/>
                </a:solidFill>
              </a:rPr>
              <a:t>izpisite</a:t>
            </a:r>
            <a:r>
              <a:rPr lang="sl-SI" dirty="0">
                <a:solidFill>
                  <a:srgbClr val="000000"/>
                </a:solidFill>
              </a:rPr>
              <a:t> banane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==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 </a:t>
            </a:r>
            <a:r>
              <a:rPr lang="en-US" dirty="0">
                <a:solidFill>
                  <a:srgbClr val="0000CD"/>
                </a:solidFill>
                <a:effectLst/>
              </a:rPr>
              <a:t>continue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4624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Funkcija range()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Če želimo v zanki pregledati niz kode določeno število krat, lahko uporabimo funkcijo range(),</a:t>
            </a:r>
          </a:p>
          <a:p>
            <a:r>
              <a:rPr lang="sl-SI" dirty="0">
                <a:solidFill>
                  <a:srgbClr val="000000"/>
                </a:solidFill>
              </a:rPr>
              <a:t>Funkcija range() vrne zaporedje številk, ki se privzeto začne z 0, se poveča za 1 (privzeto) in konča pri določenem številu.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6</a:t>
            </a:r>
            <a:r>
              <a:rPr lang="en-US" dirty="0">
                <a:solidFill>
                  <a:srgbClr val="000000"/>
                </a:solidFill>
                <a:effectLst/>
              </a:rPr>
              <a:t>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Izpis: 0 1 2 3 4 5</a:t>
            </a:r>
            <a:endParaRPr lang="sl-SI" dirty="0">
              <a:solidFill>
                <a:srgbClr val="008000"/>
              </a:solidFill>
            </a:endParaRPr>
          </a:p>
          <a:p>
            <a:r>
              <a:rPr lang="pl-PL" dirty="0">
                <a:effectLst/>
              </a:rPr>
              <a:t>Upoštevajte, da range(6) niso vrednosti od 0 do 6, temveč vrednosti od 0 do 5.</a:t>
            </a:r>
            <a:endParaRPr lang="sl-SI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439248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Funkcija range()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Začetna vrednost funkcije range() je privzeta vrednost 0, vendar lahko začetno vrednost določite tako, da dodate parameter: range(2, 6), kar pomeni vrednosti od 2 do 6 (vendar ne vključno s 6):</a:t>
            </a:r>
          </a:p>
          <a:p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6</a:t>
            </a:r>
            <a:r>
              <a:rPr lang="en-US" dirty="0">
                <a:solidFill>
                  <a:srgbClr val="000000"/>
                </a:solidFill>
                <a:effectLst/>
              </a:rPr>
              <a:t>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Izpis: 2 3 4 5</a:t>
            </a:r>
            <a:endParaRPr lang="sl-SI" dirty="0">
              <a:solidFill>
                <a:srgbClr val="008000"/>
              </a:solidFill>
            </a:endParaRPr>
          </a:p>
          <a:p>
            <a:r>
              <a:rPr lang="sl-SI" dirty="0">
                <a:effectLst/>
              </a:rPr>
              <a:t>Funkcija range() privzeto poveča zaporedje za 1, vendar je mogoče določiti vrednost povečanja z dodajanjem tretjega parametra: range(2, 30, 3):</a:t>
            </a:r>
          </a:p>
          <a:p>
            <a:r>
              <a:rPr lang="sl-SI" dirty="0"/>
              <a:t>Primer: </a:t>
            </a:r>
            <a:r>
              <a:rPr lang="pl-PL" dirty="0"/>
              <a:t>Povečajte zaporedje s 3 (privzeto je 1):</a:t>
            </a:r>
            <a:endParaRPr lang="sl-SI" dirty="0"/>
          </a:p>
          <a:p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30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Izpis: 2 5 8 11 14 17 20 23 26 29</a:t>
            </a:r>
            <a:br>
              <a:rPr lang="sl-SI" dirty="0"/>
            </a:br>
            <a:endParaRPr lang="sl-SI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79663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Else</a:t>
            </a:r>
            <a:r>
              <a:rPr lang="sl-SI" b="1" dirty="0">
                <a:solidFill>
                  <a:srgbClr val="FF0000"/>
                </a:solidFill>
              </a:rPr>
              <a:t> v zanki </a:t>
            </a:r>
            <a:r>
              <a:rPr lang="sl-SI" b="1" dirty="0" err="1">
                <a:solidFill>
                  <a:srgbClr val="FF0000"/>
                </a:solidFill>
              </a:rPr>
              <a:t>for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Ključna beseda else v zanki for določa blok kode, ki se izvede po koncu zanke:</a:t>
            </a:r>
            <a:endParaRPr lang="sl-SI" dirty="0"/>
          </a:p>
          <a:p>
            <a:r>
              <a:rPr lang="sl-SI" dirty="0"/>
              <a:t>Primer: Izpiše vsa števila od 0 do 5 in izpiše sporočilo, ko se zanka konča: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6</a:t>
            </a:r>
            <a:r>
              <a:rPr lang="en-US" dirty="0">
                <a:solidFill>
                  <a:srgbClr val="000000"/>
                </a:solidFill>
                <a:effectLst/>
              </a:rPr>
              <a:t>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else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Koncno</a:t>
            </a:r>
            <a:r>
              <a:rPr lang="sl-SI" dirty="0">
                <a:solidFill>
                  <a:srgbClr val="A52A2A"/>
                </a:solidFill>
                <a:effectLst/>
              </a:rPr>
              <a:t> konec zanke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Izpis: 0 1 2 3 4 5 </a:t>
            </a:r>
            <a:r>
              <a:rPr lang="sl-SI" dirty="0" err="1">
                <a:solidFill>
                  <a:srgbClr val="008000"/>
                </a:solidFill>
                <a:effectLst/>
              </a:rPr>
              <a:t>Koncno</a:t>
            </a:r>
            <a:r>
              <a:rPr lang="sl-SI" dirty="0">
                <a:solidFill>
                  <a:srgbClr val="008000"/>
                </a:solidFill>
                <a:effectLst/>
              </a:rPr>
              <a:t> konec zanke!</a:t>
            </a:r>
          </a:p>
          <a:p>
            <a:pPr marL="0" indent="0">
              <a:buNone/>
            </a:pPr>
            <a:br>
              <a:rPr lang="sl-SI" dirty="0"/>
            </a:br>
            <a:endParaRPr lang="sl-SI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994459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Else</a:t>
            </a:r>
            <a:r>
              <a:rPr lang="sl-SI" b="1" dirty="0">
                <a:solidFill>
                  <a:srgbClr val="FF0000"/>
                </a:solidFill>
              </a:rPr>
              <a:t> v zanki </a:t>
            </a:r>
            <a:r>
              <a:rPr lang="sl-SI" b="1" dirty="0" err="1">
                <a:solidFill>
                  <a:srgbClr val="FF0000"/>
                </a:solidFill>
              </a:rPr>
              <a:t>for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Opomba: Blok </a:t>
            </a:r>
            <a:r>
              <a:rPr lang="sl-SI" dirty="0" err="1"/>
              <a:t>else</a:t>
            </a:r>
            <a:r>
              <a:rPr lang="sl-SI" dirty="0"/>
              <a:t> se NE izvede, če je zanka prekinjena z ukazom </a:t>
            </a:r>
            <a:r>
              <a:rPr lang="sl-SI" dirty="0" err="1"/>
              <a:t>break</a:t>
            </a:r>
            <a:r>
              <a:rPr lang="sl-SI" dirty="0"/>
              <a:t>. </a:t>
            </a:r>
          </a:p>
          <a:p>
            <a:r>
              <a:rPr lang="sl-SI" dirty="0"/>
              <a:t>Primer: Prekinite zanko, ko je x enak 3, in preverite, kaj se zgodi z blokom </a:t>
            </a:r>
            <a:r>
              <a:rPr lang="sl-SI" dirty="0" err="1"/>
              <a:t>else</a:t>
            </a:r>
            <a:r>
              <a:rPr lang="sl-SI" dirty="0"/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6</a:t>
            </a:r>
            <a:r>
              <a:rPr lang="en-US" dirty="0">
                <a:solidFill>
                  <a:srgbClr val="000000"/>
                </a:solidFill>
                <a:effectLst/>
              </a:rPr>
              <a:t>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== 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0000CD"/>
                </a:solidFill>
                <a:effectLst/>
              </a:rPr>
              <a:t>break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else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Koncno</a:t>
            </a:r>
            <a:r>
              <a:rPr lang="sl-SI" dirty="0">
                <a:solidFill>
                  <a:srgbClr val="A52A2A"/>
                </a:solidFill>
                <a:effectLst/>
              </a:rPr>
              <a:t> konec zanke</a:t>
            </a:r>
            <a:r>
              <a:rPr lang="en-US" dirty="0">
                <a:solidFill>
                  <a:srgbClr val="A52A2A"/>
                </a:solidFill>
                <a:effectLst/>
              </a:rPr>
              <a:t>!"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0 1 2; ker je x==3 je konec (</a:t>
            </a:r>
            <a:r>
              <a:rPr lang="sl-SI" dirty="0" err="1">
                <a:solidFill>
                  <a:srgbClr val="008000"/>
                </a:solidFill>
                <a:effectLst/>
              </a:rPr>
              <a:t>break</a:t>
            </a:r>
            <a:r>
              <a:rPr lang="sl-SI" dirty="0">
                <a:solidFill>
                  <a:srgbClr val="008000"/>
                </a:solidFill>
                <a:effectLst/>
              </a:rPr>
              <a:t>)</a:t>
            </a:r>
            <a:br>
              <a:rPr lang="sl-SI" dirty="0"/>
            </a:br>
            <a:endParaRPr lang="sl-SI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14604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Vgnezdene</a:t>
            </a:r>
            <a:r>
              <a:rPr lang="sl-SI" b="1" dirty="0">
                <a:solidFill>
                  <a:srgbClr val="FF0000"/>
                </a:solidFill>
              </a:rPr>
              <a:t> zanke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 err="1"/>
              <a:t>Vgnezdena</a:t>
            </a:r>
            <a:r>
              <a:rPr lang="sl-SI" dirty="0"/>
              <a:t> zanka je zanka znotraj zanke.</a:t>
            </a:r>
          </a:p>
          <a:p>
            <a:r>
              <a:rPr lang="sl-SI" dirty="0"/>
              <a:t>Notranja zanka se izvede enkrat za vsako iteracijo zunanje zanke:</a:t>
            </a:r>
          </a:p>
          <a:p>
            <a:r>
              <a:rPr lang="sl-SI" dirty="0">
                <a:effectLst/>
              </a:rPr>
              <a:t>Primer: </a:t>
            </a:r>
            <a:r>
              <a:rPr lang="sl-SI" dirty="0"/>
              <a:t>Izpise</a:t>
            </a:r>
            <a:r>
              <a:rPr lang="sv-SE" dirty="0">
                <a:effectLst/>
              </a:rPr>
              <a:t> vsak pridevnik za vsak sadež:</a:t>
            </a:r>
            <a:endParaRPr lang="sl-SI" dirty="0">
              <a:effectLst/>
            </a:endParaRP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pridevnik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rdec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velik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socen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pridevnik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y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(x, y)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</a:t>
            </a:r>
            <a:r>
              <a:rPr lang="sl-SI" dirty="0" err="1">
                <a:solidFill>
                  <a:srgbClr val="008000"/>
                </a:solidFill>
                <a:effectLst/>
              </a:rPr>
              <a:t>rdec</a:t>
            </a:r>
            <a:r>
              <a:rPr lang="sl-SI" dirty="0">
                <a:solidFill>
                  <a:srgbClr val="008000"/>
                </a:solidFill>
                <a:effectLst/>
              </a:rPr>
              <a:t> jabolko </a:t>
            </a:r>
            <a:r>
              <a:rPr lang="sl-SI" dirty="0" err="1">
                <a:solidFill>
                  <a:srgbClr val="008000"/>
                </a:solidFill>
                <a:effectLst/>
              </a:rPr>
              <a:t>rdec</a:t>
            </a:r>
            <a:r>
              <a:rPr lang="sl-SI" dirty="0">
                <a:solidFill>
                  <a:srgbClr val="008000"/>
                </a:solidFill>
                <a:effectLst/>
              </a:rPr>
              <a:t> banana </a:t>
            </a:r>
            <a:r>
              <a:rPr lang="sl-SI" dirty="0" err="1">
                <a:solidFill>
                  <a:srgbClr val="008000"/>
                </a:solidFill>
                <a:effectLst/>
              </a:rPr>
              <a:t>rdec</a:t>
            </a:r>
            <a:r>
              <a:rPr lang="sl-SI" dirty="0">
                <a:solidFill>
                  <a:srgbClr val="008000"/>
                </a:solidFill>
                <a:effectLst/>
              </a:rPr>
              <a:t>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 velik jabolko velik banana velik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 </a:t>
            </a:r>
            <a:r>
              <a:rPr lang="sl-SI" dirty="0" err="1">
                <a:solidFill>
                  <a:srgbClr val="008000"/>
                </a:solidFill>
                <a:effectLst/>
              </a:rPr>
              <a:t>socen</a:t>
            </a:r>
            <a:r>
              <a:rPr lang="sl-SI" dirty="0">
                <a:solidFill>
                  <a:srgbClr val="008000"/>
                </a:solidFill>
                <a:effectLst/>
              </a:rPr>
              <a:t> jabolko </a:t>
            </a:r>
            <a:r>
              <a:rPr lang="sl-SI" dirty="0" err="1">
                <a:solidFill>
                  <a:srgbClr val="008000"/>
                </a:solidFill>
                <a:effectLst/>
              </a:rPr>
              <a:t>socen</a:t>
            </a:r>
            <a:r>
              <a:rPr lang="sl-SI" dirty="0">
                <a:solidFill>
                  <a:srgbClr val="008000"/>
                </a:solidFill>
                <a:effectLst/>
              </a:rPr>
              <a:t> banana </a:t>
            </a:r>
            <a:r>
              <a:rPr lang="sl-SI" dirty="0" err="1">
                <a:solidFill>
                  <a:srgbClr val="008000"/>
                </a:solidFill>
                <a:effectLst/>
              </a:rPr>
              <a:t>socen</a:t>
            </a:r>
            <a:r>
              <a:rPr lang="sl-SI" dirty="0">
                <a:solidFill>
                  <a:srgbClr val="008000"/>
                </a:solidFill>
                <a:effectLst/>
              </a:rPr>
              <a:t>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endParaRPr lang="sl-SI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34996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Izjava </a:t>
            </a:r>
            <a:r>
              <a:rPr lang="sl-SI" b="1" dirty="0" err="1">
                <a:solidFill>
                  <a:srgbClr val="FF0000"/>
                </a:solidFill>
              </a:rPr>
              <a:t>pass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Zanke </a:t>
            </a:r>
            <a:r>
              <a:rPr lang="sl-SI" dirty="0" err="1"/>
              <a:t>for</a:t>
            </a:r>
            <a:r>
              <a:rPr lang="sl-SI" dirty="0"/>
              <a:t> ne smejo biti prazne, če pa imate zanko </a:t>
            </a:r>
            <a:r>
              <a:rPr lang="sl-SI" dirty="0" err="1"/>
              <a:t>for</a:t>
            </a:r>
            <a:r>
              <a:rPr lang="sl-SI" dirty="0"/>
              <a:t> brez vsebine, vstavite stavek </a:t>
            </a:r>
            <a:r>
              <a:rPr lang="sl-SI" dirty="0" err="1"/>
              <a:t>pass</a:t>
            </a:r>
            <a:r>
              <a:rPr lang="sl-SI" dirty="0"/>
              <a:t>, da se izognete napaki.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CD"/>
                </a:solidFill>
                <a:effectLst/>
              </a:rPr>
              <a:t>for</a:t>
            </a:r>
            <a:r>
              <a:rPr lang="sl-SI" dirty="0">
                <a:solidFill>
                  <a:srgbClr val="000000"/>
                </a:solidFill>
                <a:effectLst/>
              </a:rPr>
              <a:t> x </a:t>
            </a:r>
            <a:r>
              <a:rPr lang="sl-SI" dirty="0">
                <a:solidFill>
                  <a:srgbClr val="0000CD"/>
                </a:solidFill>
                <a:effectLst/>
              </a:rPr>
              <a:t>in</a:t>
            </a:r>
            <a:r>
              <a:rPr lang="sl-SI" dirty="0">
                <a:solidFill>
                  <a:srgbClr val="000000"/>
                </a:solidFill>
                <a:effectLst/>
              </a:rPr>
              <a:t> [</a:t>
            </a:r>
            <a:r>
              <a:rPr lang="sl-SI" dirty="0">
                <a:solidFill>
                  <a:srgbClr val="FF0000"/>
                </a:solidFill>
                <a:effectLst/>
              </a:rPr>
              <a:t>0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]: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 err="1">
                <a:solidFill>
                  <a:srgbClr val="0000CD"/>
                </a:solidFill>
                <a:effectLst/>
              </a:rPr>
              <a:t>pass</a:t>
            </a:r>
            <a:endParaRPr lang="sl-SI" dirty="0">
              <a:solidFill>
                <a:srgbClr val="0000CD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če bi imeli prazno zanko </a:t>
            </a:r>
            <a:r>
              <a:rPr lang="sl-SI" dirty="0" err="1">
                <a:solidFill>
                  <a:srgbClr val="008000"/>
                </a:solidFill>
                <a:effectLst/>
              </a:rPr>
              <a:t>for</a:t>
            </a:r>
            <a:r>
              <a:rPr lang="sl-SI" dirty="0">
                <a:solidFill>
                  <a:srgbClr val="008000"/>
                </a:solidFill>
                <a:effectLst/>
              </a:rPr>
              <a:t>, kot je ta, bi se brez izjave </a:t>
            </a:r>
            <a:r>
              <a:rPr lang="sl-SI" dirty="0" err="1">
                <a:solidFill>
                  <a:srgbClr val="008000"/>
                </a:solidFill>
                <a:effectLst/>
              </a:rPr>
              <a:t>pass</a:t>
            </a:r>
            <a:r>
              <a:rPr lang="sl-SI" dirty="0">
                <a:solidFill>
                  <a:srgbClr val="008000"/>
                </a:solidFill>
                <a:effectLst/>
              </a:rPr>
              <a:t> pojavila napaka</a:t>
            </a:r>
          </a:p>
        </p:txBody>
      </p:sp>
    </p:spTree>
    <p:extLst>
      <p:ext uri="{BB962C8B-B14F-4D97-AF65-F5344CB8AC3E}">
        <p14:creationId xmlns:p14="http://schemas.microsoft.com/office/powerpoint/2010/main" val="282934108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Zbirke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(polja)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V programskem jeziku </a:t>
            </a:r>
            <a:r>
              <a:rPr lang="sl-SI" dirty="0" err="1"/>
              <a:t>Python</a:t>
            </a:r>
            <a:r>
              <a:rPr lang="sl-SI" dirty="0"/>
              <a:t> obstajajo štiri podatkovne vrste zbirke:</a:t>
            </a:r>
          </a:p>
          <a:p>
            <a:r>
              <a:rPr lang="sl-SI" dirty="0"/>
              <a:t>    Seznam je zbirka, ki je urejena in spremenljiva. Omogoča podvajanje članov.</a:t>
            </a:r>
          </a:p>
          <a:p>
            <a:r>
              <a:rPr lang="sl-SI" dirty="0"/>
              <a:t>    </a:t>
            </a:r>
            <a:r>
              <a:rPr lang="sl-SI" dirty="0" err="1"/>
              <a:t>Tuple</a:t>
            </a:r>
            <a:r>
              <a:rPr lang="sl-SI" dirty="0"/>
              <a:t> je zbirka, ki je urejena in nespremenljiva. Omogoča podvojene člane.</a:t>
            </a:r>
          </a:p>
          <a:p>
            <a:r>
              <a:rPr lang="sl-SI" dirty="0"/>
              <a:t>    Set je zbirka, ki je neurejena, nespremenljiva* in </a:t>
            </a:r>
            <a:r>
              <a:rPr lang="sl-SI" dirty="0" err="1"/>
              <a:t>neindeksirana</a:t>
            </a:r>
            <a:r>
              <a:rPr lang="sl-SI" dirty="0"/>
              <a:t>. Ni podvojenih članov.</a:t>
            </a:r>
          </a:p>
          <a:p>
            <a:r>
              <a:rPr lang="sl-SI" dirty="0"/>
              <a:t>    Slovar je zbirka, ki je urejena in spremenljiva. Ni podvojenih članov.</a:t>
            </a:r>
          </a:p>
        </p:txBody>
      </p:sp>
    </p:spTree>
    <p:extLst>
      <p:ext uri="{BB962C8B-B14F-4D97-AF65-F5344CB8AC3E}">
        <p14:creationId xmlns:p14="http://schemas.microsoft.com/office/powerpoint/2010/main" val="94697006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Zbirke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(polja)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Nastavljenih elementov ni mogoče spreminjati, lahko pa jih odstranite in/ali dodate, kadar koli želite.</a:t>
            </a:r>
          </a:p>
          <a:p>
            <a:r>
              <a:rPr lang="sl-SI" dirty="0"/>
              <a:t>Od različice </a:t>
            </a:r>
            <a:r>
              <a:rPr lang="sl-SI" dirty="0" err="1"/>
              <a:t>Python</a:t>
            </a:r>
            <a:r>
              <a:rPr lang="sl-SI" dirty="0"/>
              <a:t> 3.7 so slovarji urejeni. V različici </a:t>
            </a:r>
            <a:r>
              <a:rPr lang="sl-SI" dirty="0" err="1"/>
              <a:t>Python</a:t>
            </a:r>
            <a:r>
              <a:rPr lang="sl-SI" dirty="0"/>
              <a:t> 3.6 in prejšnjih so slovarji neurejeni.</a:t>
            </a:r>
          </a:p>
          <a:p>
            <a:r>
              <a:rPr lang="sl-SI" dirty="0"/>
              <a:t>Pri izbiri vrste zbirke je koristno razumeti lastnosti te vrste. Izbira pravega tipa za določeno zbirko podatkov lahko pomeni ohranitev pomena, lahko pa tudi povečanje učinkovitosti ali varnosti.</a:t>
            </a:r>
          </a:p>
        </p:txBody>
      </p:sp>
    </p:spTree>
    <p:extLst>
      <p:ext uri="{BB962C8B-B14F-4D97-AF65-F5344CB8AC3E}">
        <p14:creationId xmlns:p14="http://schemas.microsoft.com/office/powerpoint/2010/main" val="25239054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Seznami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Seznami se uporabljajo za shranjevanje več elementov v eni spremenljivki.</a:t>
            </a:r>
          </a:p>
          <a:p>
            <a:pPr marL="0" indent="0">
              <a:buNone/>
            </a:pPr>
            <a:endParaRPr lang="sl-SI" dirty="0"/>
          </a:p>
          <a:p>
            <a:r>
              <a:rPr lang="sl-SI" dirty="0"/>
              <a:t>Seznami so eden od štirih vgrajenih podatkovnih tipov v </a:t>
            </a:r>
            <a:r>
              <a:rPr lang="sl-SI" dirty="0" err="1"/>
              <a:t>Pythonu</a:t>
            </a:r>
            <a:r>
              <a:rPr lang="sl-SI" dirty="0"/>
              <a:t>, ki se uporabljajo za shranjevanje zbirk podatkov; drugi trije so </a:t>
            </a:r>
            <a:r>
              <a:rPr lang="sl-SI" dirty="0" err="1"/>
              <a:t>Tuple</a:t>
            </a:r>
            <a:r>
              <a:rPr lang="sl-SI" dirty="0"/>
              <a:t>, Set in </a:t>
            </a:r>
            <a:r>
              <a:rPr lang="sl-SI" dirty="0" err="1"/>
              <a:t>Dictionary</a:t>
            </a:r>
            <a:r>
              <a:rPr lang="sl-SI" dirty="0"/>
              <a:t>, vsi z različnimi lastnostmi in uporabo.</a:t>
            </a:r>
          </a:p>
          <a:p>
            <a:endParaRPr lang="sl-SI" dirty="0"/>
          </a:p>
          <a:p>
            <a:r>
              <a:rPr lang="sl-SI" dirty="0"/>
              <a:t>Seznami so ustvarjeni z uporabo oglatih oklepajev:</a:t>
            </a:r>
            <a:endParaRPr lang="sl-SI" dirty="0">
              <a:solidFill>
                <a:srgbClr val="008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585966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Seznami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(List)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Primer: Ustvarite seznam: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effectLst/>
              </a:rPr>
              <a:t>Elementi seznama so urejeni, spremenljivi in omogočajo podvajanje vrednosti.</a:t>
            </a:r>
          </a:p>
          <a:p>
            <a:r>
              <a:rPr lang="sl-SI" dirty="0">
                <a:effectLst/>
              </a:rPr>
              <a:t>Elementi seznama so indeksirani, prvi element ima indeks [0], drugi element ima indeks [1] itd.</a:t>
            </a:r>
          </a:p>
        </p:txBody>
      </p:sp>
    </p:spTree>
    <p:extLst>
      <p:ext uri="{BB962C8B-B14F-4D97-AF65-F5344CB8AC3E}">
        <p14:creationId xmlns:p14="http://schemas.microsoft.com/office/powerpoint/2010/main" val="177547253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Seznami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(List)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Ko rečemo, da so seznami urejeni, to pomeni, da imajo elementi določen vrstni red, ki se ne spreminja.</a:t>
            </a:r>
          </a:p>
          <a:p>
            <a:endParaRPr lang="sl-SI" dirty="0"/>
          </a:p>
          <a:p>
            <a:r>
              <a:rPr lang="sl-SI" dirty="0"/>
              <a:t>Če na seznam dodate nove elemente, bodo ti postavljeni na konec seznama.</a:t>
            </a:r>
          </a:p>
          <a:p>
            <a:endParaRPr lang="sl-SI" dirty="0"/>
          </a:p>
          <a:p>
            <a:r>
              <a:rPr lang="sl-SI" dirty="0"/>
              <a:t>Opomba: Nekatere metode seznamom spremenijo vrstni red, vendar na splošno velja: vrstni red elementov se ne bo spremenil.</a:t>
            </a:r>
          </a:p>
        </p:txBody>
      </p:sp>
    </p:spTree>
    <p:extLst>
      <p:ext uri="{BB962C8B-B14F-4D97-AF65-F5344CB8AC3E}">
        <p14:creationId xmlns:p14="http://schemas.microsoft.com/office/powerpoint/2010/main" val="21165281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Seznami v programu </a:t>
            </a:r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(List)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/>
              <a:t>Seznam je spremenljiv, kar pomeni, da lahko spreminjamo, dodajamo in odstranjujemo elemente na seznamu, potem ko je bil ustvarjen.</a:t>
            </a:r>
          </a:p>
          <a:p>
            <a:r>
              <a:rPr lang="sl-SI" dirty="0"/>
              <a:t>Ker so seznami indeksirani, imajo lahko seznami elemente z enako vrednostjo: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/>
              <a:t>Če želite ugotoviti, koliko elementov ima seznam, uporabite funkcijo len(): Primer: Izpiše število elementov na seznamu: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 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CD"/>
                </a:solidFill>
                <a:effectLst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 </a:t>
            </a:r>
            <a:r>
              <a:rPr lang="sl-SI" dirty="0">
                <a:solidFill>
                  <a:srgbClr val="008000"/>
                </a:solidFill>
                <a:effectLst/>
              </a:rPr>
              <a:t>vrne vrednost 3</a:t>
            </a:r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602996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Elementi za dostop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Elementi seznama so indeksirani in do njih lahko dostopate s sklicevanjem na številko indeksa:</a:t>
            </a:r>
          </a:p>
          <a:p>
            <a:r>
              <a:rPr lang="sl-SI" dirty="0"/>
              <a:t>Primer: Izpise drugi element seznama: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izpise banana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06287725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Negativno indeksiranje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Negativno indeksiranje pomeni, da začnete s konca.</a:t>
            </a:r>
          </a:p>
          <a:p>
            <a:r>
              <a:rPr lang="sl-SI" dirty="0"/>
              <a:t>-1 se nanaša na zadnji element, -2 se nanaša na predzadnji element itd.</a:t>
            </a:r>
          </a:p>
          <a:p>
            <a:r>
              <a:rPr lang="sl-SI" dirty="0"/>
              <a:t>Primer: Izpise zadnji element seznama: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[-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izpise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5988034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Obseg indeksov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Določite lahko območje indeksov tako, da določite, kje naj se območje začne in kje naj se konča.</a:t>
            </a:r>
          </a:p>
          <a:p>
            <a:r>
              <a:rPr lang="sl-SI" dirty="0"/>
              <a:t>Če določite razpon, bo vrnjena vrednost nov seznam z navedenimi elementi.</a:t>
            </a:r>
          </a:p>
          <a:p>
            <a:r>
              <a:rPr lang="sl-SI" dirty="0"/>
              <a:t>Primer: </a:t>
            </a:r>
            <a:r>
              <a:rPr lang="it-IT" dirty="0" err="1"/>
              <a:t>Vrnite</a:t>
            </a:r>
            <a:r>
              <a:rPr lang="it-IT" dirty="0"/>
              <a:t> </a:t>
            </a:r>
            <a:r>
              <a:rPr lang="it-IT" dirty="0" err="1"/>
              <a:t>tretji</a:t>
            </a:r>
            <a:r>
              <a:rPr lang="it-IT" dirty="0"/>
              <a:t>, </a:t>
            </a:r>
            <a:r>
              <a:rPr lang="it-IT" dirty="0" err="1"/>
              <a:t>četrti</a:t>
            </a:r>
            <a:r>
              <a:rPr lang="it-IT" dirty="0"/>
              <a:t> in peti </a:t>
            </a:r>
            <a:r>
              <a:rPr lang="it-IT" dirty="0" err="1"/>
              <a:t>element</a:t>
            </a:r>
            <a:r>
              <a:rPr lang="it-IT" dirty="0"/>
              <a:t>:</a:t>
            </a:r>
            <a:endParaRPr lang="sl-SI" dirty="0"/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"mandarina"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"melona"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[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:</a:t>
            </a:r>
            <a:r>
              <a:rPr lang="sl-SI" dirty="0">
                <a:solidFill>
                  <a:srgbClr val="FF0000"/>
                </a:solidFill>
                <a:effectLst/>
              </a:rPr>
              <a:t>5</a:t>
            </a:r>
            <a:r>
              <a:rPr lang="sl-SI" dirty="0">
                <a:solidFill>
                  <a:srgbClr val="000000"/>
                </a:solidFill>
                <a:effectLst/>
              </a:rPr>
              <a:t>])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izpise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, kivi, mandarina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0741446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Obseg indeksov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izpustite začetno vrednost, se bo območje začelo pri prvem elementu: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"mandarina"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"melona"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[:</a:t>
            </a:r>
            <a:r>
              <a:rPr lang="sl-SI" dirty="0">
                <a:solidFill>
                  <a:srgbClr val="FF0000"/>
                </a:solidFill>
                <a:effectLst/>
              </a:rPr>
              <a:t>4</a:t>
            </a:r>
            <a:r>
              <a:rPr lang="sl-SI" dirty="0">
                <a:solidFill>
                  <a:srgbClr val="000000"/>
                </a:solidFill>
                <a:effectLst/>
              </a:rPr>
              <a:t>])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izpise jabolko, banana,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, kivi</a:t>
            </a:r>
          </a:p>
          <a:p>
            <a:r>
              <a:rPr lang="sl-SI" dirty="0"/>
              <a:t>Če izpustite končno vrednost, bo območje segalo do konca seznama: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"mandarina"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"melona"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[2:])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izpise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 pa vse do konca seznama</a:t>
            </a:r>
          </a:p>
          <a:p>
            <a:endParaRPr lang="sl-SI" dirty="0"/>
          </a:p>
          <a:p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1042169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Preverjanje obstoja elementa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želite ugotoviti, ali je določen element prisoten na seznamu, uporabite ključno besedo in:</a:t>
            </a:r>
          </a:p>
          <a:p>
            <a:r>
              <a:rPr lang="sl-SI" dirty="0"/>
              <a:t>Primer: </a:t>
            </a:r>
            <a:r>
              <a:rPr lang="pl-PL" dirty="0"/>
              <a:t>Preverite, ali je "jabolko" prisotno na seznamu:</a:t>
            </a:r>
            <a:endParaRPr lang="sl-SI" dirty="0"/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Da, jabolko je </a:t>
            </a:r>
            <a:r>
              <a:rPr lang="sl-SI">
                <a:solidFill>
                  <a:srgbClr val="A52A2A"/>
                </a:solidFill>
                <a:effectLst/>
              </a:rPr>
              <a:t>na seznamu!</a:t>
            </a:r>
            <a:r>
              <a:rPr lang="en-US">
                <a:solidFill>
                  <a:srgbClr val="A52A2A"/>
                </a:solidFill>
                <a:effectLst/>
              </a:rPr>
              <a:t>"</a:t>
            </a:r>
            <a:r>
              <a:rPr lang="en-US">
                <a:solidFill>
                  <a:srgbClr val="000000"/>
                </a:solidFill>
                <a:effectLst/>
              </a:rPr>
              <a:t>) </a:t>
            </a:r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2124485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Sprememba vrednosti elementa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želite spremeniti vrednost določenega elementa, glejte številko indeksa.</a:t>
            </a:r>
          </a:p>
          <a:p>
            <a:r>
              <a:rPr lang="sl-SI" dirty="0"/>
              <a:t>Primer: Spremeni drugi element: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</a:t>
            </a:r>
            <a:r>
              <a:rPr lang="en-US" dirty="0">
                <a:solidFill>
                  <a:srgbClr val="A52A2A"/>
                </a:solidFill>
                <a:effectLst/>
              </a:rPr>
              <a:t>a</a:t>
            </a:r>
            <a:r>
              <a:rPr lang="sl-SI" dirty="0" err="1">
                <a:solidFill>
                  <a:srgbClr val="A52A2A"/>
                </a:solidFill>
                <a:effectLst/>
              </a:rPr>
              <a:t>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]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mandarina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9596981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Spreminjanje razpona vrednosti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želite spremeniti vrednost elementov v določenem območju, določite seznam z novimi vrednostmi in se sklicujte na območje indeksnih številk, kamor želite vstaviti nove vrednosti.</a:t>
            </a:r>
          </a:p>
          <a:p>
            <a:r>
              <a:rPr lang="sl-SI" dirty="0"/>
              <a:t>Primer: Vrednosti "banana" in "</a:t>
            </a:r>
            <a:r>
              <a:rPr lang="sl-SI" dirty="0" err="1"/>
              <a:t>visnja</a:t>
            </a:r>
            <a:r>
              <a:rPr lang="sl-SI" dirty="0"/>
              <a:t>" zamenjajte z vrednostma "</a:t>
            </a:r>
            <a:r>
              <a:rPr lang="sl-SI" dirty="0" err="1"/>
              <a:t>hruska</a:t>
            </a:r>
            <a:r>
              <a:rPr lang="sl-SI" dirty="0"/>
              <a:t>" in "lubenica":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pomaranca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[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: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] = [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hruska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"lubenica"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jabolko ostane, zamenja se banana in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, nato vse enako, kot prej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046345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Spreminjanje razpona vrednosti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vstavite več elementov, kot jih zamenjate, bodo novi elementi vstavljeni na določeno mesto, preostali elementi pa se bodo ustrezno premaknili.</a:t>
            </a:r>
          </a:p>
          <a:p>
            <a:r>
              <a:rPr lang="sl-SI" dirty="0"/>
              <a:t>Primer: Drugo vrednost spremenite tako, da jo nadomestite z dvema novima vrednostma: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]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hruska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lubenica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jabolko ostane, banano zamenjata elementa </a:t>
            </a:r>
            <a:r>
              <a:rPr lang="sl-SI" dirty="0" err="1">
                <a:solidFill>
                  <a:srgbClr val="008000"/>
                </a:solidFill>
                <a:effectLst/>
              </a:rPr>
              <a:t>hruska</a:t>
            </a:r>
            <a:r>
              <a:rPr lang="sl-SI" dirty="0">
                <a:solidFill>
                  <a:srgbClr val="008000"/>
                </a:solidFill>
              </a:rPr>
              <a:t>, lubenica, na koncu se izpise tudi </a:t>
            </a:r>
            <a:r>
              <a:rPr lang="sl-SI" dirty="0" err="1">
                <a:solidFill>
                  <a:srgbClr val="008000"/>
                </a:solidFill>
              </a:rPr>
              <a:t>visnja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78517658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Spreminjanje razpona vrednosti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/>
              <a:t>Opomba: Dolžina seznama se spremeni, če se število vstavljenih elementov ne ujema s številom zamenjanih elementov.</a:t>
            </a:r>
          </a:p>
          <a:p>
            <a:r>
              <a:rPr lang="sl-SI" dirty="0"/>
              <a:t>Če vstavite manj elementov, kot jih zamenjate, bodo novi elementi vstavljeni na mesto, ki ste ga določili, preostali elementi pa se bodo ustrezno premaknili.</a:t>
            </a:r>
          </a:p>
          <a:p>
            <a:r>
              <a:rPr lang="sl-SI" dirty="0"/>
              <a:t>Primer: Drugo in tretjo vrednost spremenite tako, da jo nadomestite z eno vrednostjo: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]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lubenica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jabolko ostane, banano in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visnjo</a:t>
            </a:r>
            <a:r>
              <a:rPr lang="sl-SI" dirty="0">
                <a:solidFill>
                  <a:srgbClr val="008000"/>
                </a:solidFill>
                <a:effectLst/>
              </a:rPr>
              <a:t> zamenja element lubenica-&gt;izpis; jabolko, lubenica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5344330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Vstavljanje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želimo vstaviti nov element seznama, ne da bi pri tem zamenjali obstoječe vrednosti, lahko uporabimo metodo insert().</a:t>
            </a:r>
          </a:p>
          <a:p>
            <a:r>
              <a:rPr lang="sl-SI" dirty="0"/>
              <a:t>Metoda insert() vstavi element na določeno indeksno mesto.</a:t>
            </a:r>
          </a:p>
          <a:p>
            <a:r>
              <a:rPr lang="sl-SI" dirty="0"/>
              <a:t>Primer: Kot tretjo postavko vstavite element "lubenica":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.insert(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lubenica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jabolko, banana ostaneta na svoji poziciji, nato se vstavi element lubenica, za elementom pa ostane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, ki spremeni pozicijo iz 2 na 3</a:t>
            </a:r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82739898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dirty="0"/>
              <a:t>Če želite element dodati na konec seznama, uporabite metodo </a:t>
            </a:r>
            <a:r>
              <a:rPr lang="sl-SI" dirty="0" err="1"/>
              <a:t>append</a:t>
            </a:r>
            <a:r>
              <a:rPr lang="sl-SI" dirty="0"/>
              <a:t>(). Primer: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.append(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mandarina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element mandarina se doda na konec seznama</a:t>
            </a:r>
          </a:p>
          <a:p>
            <a:r>
              <a:rPr lang="sl-SI" dirty="0"/>
              <a:t>Če želite trenutnemu seznamu dodati elemente z drugega seznama, uporabite metodo </a:t>
            </a:r>
            <a:r>
              <a:rPr lang="sl-SI" dirty="0" err="1"/>
              <a:t>extend</a:t>
            </a:r>
            <a:r>
              <a:rPr lang="sl-SI" dirty="0"/>
              <a:t>().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seznam1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seznam2 = [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"ananas"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"mandarina"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seznam1.extend(seznam2)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(seznam1)</a:t>
            </a:r>
            <a:r>
              <a:rPr lang="en-US" dirty="0">
                <a:solidFill>
                  <a:srgbClr val="008000"/>
                </a:solidFill>
                <a:effectLst/>
              </a:rPr>
              <a:t> #</a:t>
            </a:r>
            <a:r>
              <a:rPr lang="sl-SI" dirty="0">
                <a:solidFill>
                  <a:srgbClr val="008000"/>
                </a:solidFill>
                <a:effectLst/>
              </a:rPr>
              <a:t>elementi seznama 2 se dodajo na konec seznama 1</a:t>
            </a:r>
          </a:p>
          <a:p>
            <a:r>
              <a:rPr lang="sl-SI" dirty="0"/>
              <a:t>Metoda </a:t>
            </a:r>
            <a:r>
              <a:rPr lang="sl-SI" dirty="0" err="1"/>
              <a:t>extend</a:t>
            </a:r>
            <a:r>
              <a:rPr lang="sl-SI" dirty="0"/>
              <a:t>() omogoča dodajanje katerega koli objekta (</a:t>
            </a:r>
            <a:r>
              <a:rPr lang="sl-SI" dirty="0" err="1"/>
              <a:t>iterabilnega</a:t>
            </a:r>
            <a:r>
              <a:rPr lang="sl-SI" dirty="0"/>
              <a:t>) tudi v druge sezname(</a:t>
            </a:r>
            <a:r>
              <a:rPr lang="sl-SI" dirty="0" err="1"/>
              <a:t>tuple</a:t>
            </a:r>
            <a:r>
              <a:rPr lang="sl-SI" dirty="0"/>
              <a:t>, </a:t>
            </a:r>
            <a:r>
              <a:rPr lang="sl-SI" dirty="0" err="1"/>
              <a:t>sets</a:t>
            </a:r>
            <a:r>
              <a:rPr lang="sl-SI" dirty="0"/>
              <a:t>, </a:t>
            </a:r>
            <a:r>
              <a:rPr lang="sl-SI" dirty="0" err="1"/>
              <a:t>dict</a:t>
            </a:r>
            <a:r>
              <a:rPr lang="sl-SI" dirty="0"/>
              <a:t>, itd.).</a:t>
            </a:r>
          </a:p>
          <a:p>
            <a:pPr marL="0" indent="0">
              <a:buNone/>
            </a:pP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55425583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/>
              <a:t>Metoda </a:t>
            </a:r>
            <a:r>
              <a:rPr lang="sl-SI" dirty="0" err="1"/>
              <a:t>remove</a:t>
            </a:r>
            <a:r>
              <a:rPr lang="sl-SI" dirty="0"/>
              <a:t>() odstrani določen element.</a:t>
            </a:r>
          </a:p>
          <a:p>
            <a:r>
              <a:rPr lang="sl-SI" dirty="0"/>
              <a:t>Primer: Iz seznama izbriši element “banana“: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.remove(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jabolko,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 </a:t>
            </a:r>
          </a:p>
          <a:p>
            <a:r>
              <a:rPr lang="pl-PL" dirty="0"/>
              <a:t>Metoda pop() odstrani določen indeks.</a:t>
            </a:r>
          </a:p>
          <a:p>
            <a:r>
              <a:rPr lang="pl-PL" dirty="0"/>
              <a:t>Primer: Odstranite drugi element: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.pop(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55547143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indeksa ne določite, metoda pop() odstrani zadnji element.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.pop()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jabolko, banana </a:t>
            </a:r>
          </a:p>
          <a:p>
            <a:r>
              <a:rPr lang="sv-SE" dirty="0"/>
              <a:t>Ključna beseda del odstrani tudi določen indeks</a:t>
            </a:r>
            <a:r>
              <a:rPr lang="sl-SI" dirty="0"/>
              <a:t>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del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FF0000"/>
                </a:solidFill>
                <a:effectLst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odstrani element jabolko</a:t>
            </a:r>
            <a:endParaRPr lang="sl-SI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0714273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/>
              <a:t>S ključno besedo del lahko seznam tudi popolnoma izbrišete. V tem primeru tolmač javi napako, da ste uspešno pobrisali seznam in seznam ne obstaja več</a:t>
            </a:r>
          </a:p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del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pobriše celoten seznam</a:t>
            </a:r>
          </a:p>
          <a:p>
            <a:r>
              <a:rPr lang="sl-SI" dirty="0"/>
              <a:t>Metoda </a:t>
            </a:r>
            <a:r>
              <a:rPr lang="sl-SI" dirty="0" err="1"/>
              <a:t>clear</a:t>
            </a:r>
            <a:r>
              <a:rPr lang="sl-SI" dirty="0"/>
              <a:t>() izprazni seznam.</a:t>
            </a:r>
          </a:p>
          <a:p>
            <a:r>
              <a:rPr lang="sl-SI" dirty="0"/>
              <a:t>Seznam še vedno ostane, vendar je brez vsebine.</a:t>
            </a:r>
          </a:p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.clear()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en-US" dirty="0">
                <a:solidFill>
                  <a:srgbClr val="008000"/>
                </a:solidFill>
                <a:effectLst/>
              </a:rPr>
              <a:t> #</a:t>
            </a:r>
            <a:r>
              <a:rPr lang="sl-SI" dirty="0">
                <a:solidFill>
                  <a:srgbClr val="008000"/>
                </a:solidFill>
                <a:effectLst/>
              </a:rPr>
              <a:t>pobriše vsebino celotnega seznama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64518302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seznam (</a:t>
            </a:r>
            <a:r>
              <a:rPr lang="sl-SI" b="1" dirty="0" err="1">
                <a:solidFill>
                  <a:srgbClr val="FF0000"/>
                </a:solidFill>
              </a:rPr>
              <a:t>for</a:t>
            </a:r>
            <a:r>
              <a:rPr lang="sl-SI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Elemente seznama lahko pregledate z zanko </a:t>
            </a:r>
            <a:r>
              <a:rPr lang="sl-SI" dirty="0" err="1"/>
              <a:t>for</a:t>
            </a:r>
            <a:r>
              <a:rPr lang="sl-SI" dirty="0"/>
              <a:t>.</a:t>
            </a:r>
          </a:p>
          <a:p>
            <a:r>
              <a:rPr lang="sl-SI" dirty="0"/>
              <a:t>Primer: </a:t>
            </a:r>
            <a:r>
              <a:rPr lang="pl-PL" dirty="0"/>
              <a:t>Izpišite vse elemente na seznamu, enega za drugim: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 </a:t>
            </a:r>
            <a:endParaRPr lang="sl-SI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7468355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seznam (</a:t>
            </a:r>
            <a:r>
              <a:rPr lang="sl-SI" b="1" dirty="0" err="1">
                <a:solidFill>
                  <a:srgbClr val="FF0000"/>
                </a:solidFill>
              </a:rPr>
              <a:t>for</a:t>
            </a:r>
            <a:r>
              <a:rPr lang="sl-SI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Po elementih seznama lahko krožite tudi s sklicevanjem na njihovo indeksno številko.</a:t>
            </a:r>
          </a:p>
          <a:p>
            <a:r>
              <a:rPr lang="sl-SI" dirty="0">
                <a:solidFill>
                  <a:srgbClr val="000000"/>
                </a:solidFill>
              </a:rPr>
              <a:t>Uporabite funkciji range() in len(), da ustvarite ustrezno </a:t>
            </a:r>
            <a:r>
              <a:rPr lang="sl-SI" dirty="0" err="1">
                <a:solidFill>
                  <a:srgbClr val="000000"/>
                </a:solidFill>
              </a:rPr>
              <a:t>iterabilno</a:t>
            </a:r>
            <a:r>
              <a:rPr lang="sl-SI" dirty="0">
                <a:solidFill>
                  <a:srgbClr val="000000"/>
                </a:solidFill>
              </a:rPr>
              <a:t> datoteko.</a:t>
            </a:r>
          </a:p>
          <a:p>
            <a:r>
              <a:rPr lang="sl-SI" dirty="0"/>
              <a:t>Primer: Izpišite vse elemente s sklicevanjem na njihovo indeksno številko: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CD"/>
                </a:solidFill>
                <a:effectLst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])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ustvarijo se indeksi 0 1 2 ter izpis elementov</a:t>
            </a:r>
            <a:endParaRPr lang="sl-SI" dirty="0"/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85753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seznam (</a:t>
            </a:r>
            <a:r>
              <a:rPr lang="sl-SI" b="1" dirty="0" err="1">
                <a:solidFill>
                  <a:srgbClr val="FF0000"/>
                </a:solidFill>
              </a:rPr>
              <a:t>while</a:t>
            </a:r>
            <a:r>
              <a:rPr lang="sl-SI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Po elementih seznama lahko krožite v zanki z uporabo zanke </a:t>
            </a:r>
            <a:r>
              <a:rPr lang="sl-SI" dirty="0" err="1">
                <a:solidFill>
                  <a:srgbClr val="000000"/>
                </a:solidFill>
              </a:rPr>
              <a:t>while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S funkcijo len() določite dolžino seznama, nato pa začnite pri 0 in se z zanko prebijate skozi elemente seznama s sklicevanjem na njihove indekse.</a:t>
            </a:r>
          </a:p>
          <a:p>
            <a:r>
              <a:rPr lang="sl-SI" dirty="0">
                <a:solidFill>
                  <a:srgbClr val="000000"/>
                </a:solidFill>
              </a:rPr>
              <a:t>Ne pozabite, da po vsaki iteraciji povečate indeks za 1.</a:t>
            </a:r>
          </a:p>
          <a:p>
            <a:r>
              <a:rPr lang="sl-SI" dirty="0">
                <a:solidFill>
                  <a:srgbClr val="000000"/>
                </a:solidFill>
              </a:rPr>
              <a:t>Primer: Izpišite vse elemente z uporabo zanke </a:t>
            </a:r>
            <a:r>
              <a:rPr lang="sl-SI" dirty="0" err="1">
                <a:solidFill>
                  <a:srgbClr val="000000"/>
                </a:solidFill>
              </a:rPr>
              <a:t>while</a:t>
            </a:r>
            <a:r>
              <a:rPr lang="sl-SI" dirty="0">
                <a:solidFill>
                  <a:srgbClr val="000000"/>
                </a:solidFill>
              </a:rPr>
              <a:t>, za prehod skozi vse številke indeksov.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FF0000"/>
                </a:solidFill>
                <a:effectLst/>
              </a:rPr>
              <a:t>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&lt; </a:t>
            </a:r>
            <a:r>
              <a:rPr lang="en-US" dirty="0" err="1">
                <a:solidFill>
                  <a:srgbClr val="0000CD"/>
                </a:solidFill>
                <a:effectLst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+ 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4164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Razumevanje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Razumevanje seznama ponuja krajšo sintakso, kadar želite ustvariti nov seznam na podlagi vrednosti obstoječega seznama.</a:t>
            </a:r>
          </a:p>
          <a:p>
            <a:r>
              <a:rPr lang="sl-SI" dirty="0">
                <a:solidFill>
                  <a:srgbClr val="000000"/>
                </a:solidFill>
              </a:rPr>
              <a:t>Primer: Na podlagi seznama sadja želite ustvariti nov seznam, ki bo vseboval samo sadje s črko "a" v imenu.</a:t>
            </a:r>
          </a:p>
          <a:p>
            <a:r>
              <a:rPr lang="sl-SI" dirty="0">
                <a:solidFill>
                  <a:srgbClr val="000000"/>
                </a:solidFill>
              </a:rPr>
              <a:t>Brez razumevanja seznamov boste morali napisati stavek </a:t>
            </a:r>
            <a:r>
              <a:rPr lang="sl-SI" dirty="0" err="1">
                <a:solidFill>
                  <a:srgbClr val="000000"/>
                </a:solidFill>
              </a:rPr>
              <a:t>for</a:t>
            </a:r>
            <a:r>
              <a:rPr lang="sl-SI" dirty="0">
                <a:solidFill>
                  <a:srgbClr val="000000"/>
                </a:solidFill>
              </a:rPr>
              <a:t> z notranjim pogojnim testom: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kivi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"mango"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"a"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x: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.append(x)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izpišejo se vsi elementi, ki vsebujejo črko a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644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Razumevanje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Z razumevanjem seznama lahko vse to storite z eno samo vrstico kode.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kivi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"mango"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[x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"a"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x]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vse v eni vrstici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24092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Razumevanje seznama (sintaksa)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>
                <a:solidFill>
                  <a:srgbClr val="000000"/>
                </a:solidFill>
              </a:rPr>
              <a:t>nov_seznam</a:t>
            </a:r>
            <a:r>
              <a:rPr lang="sl-SI" dirty="0">
                <a:solidFill>
                  <a:srgbClr val="000000"/>
                </a:solidFill>
              </a:rPr>
              <a:t> = [izraz za element in spremenljivki </a:t>
            </a:r>
            <a:r>
              <a:rPr lang="sl-SI" dirty="0" err="1">
                <a:solidFill>
                  <a:srgbClr val="000000"/>
                </a:solidFill>
              </a:rPr>
              <a:t>if</a:t>
            </a:r>
            <a:r>
              <a:rPr lang="sl-SI" dirty="0">
                <a:solidFill>
                  <a:srgbClr val="000000"/>
                </a:solidFill>
              </a:rPr>
              <a:t> pogoj == </a:t>
            </a:r>
            <a:r>
              <a:rPr lang="sl-SI" dirty="0" err="1">
                <a:solidFill>
                  <a:srgbClr val="000000"/>
                </a:solidFill>
              </a:rPr>
              <a:t>True</a:t>
            </a:r>
            <a:r>
              <a:rPr lang="sl-SI" dirty="0">
                <a:solidFill>
                  <a:srgbClr val="000000"/>
                </a:solidFill>
              </a:rPr>
              <a:t>]</a:t>
            </a:r>
          </a:p>
          <a:p>
            <a:r>
              <a:rPr lang="sl-SI" dirty="0">
                <a:solidFill>
                  <a:srgbClr val="000000"/>
                </a:solidFill>
              </a:rPr>
              <a:t>Vrnjena vrednost je nov seznam, pri čemer stari seznam ostane nespremenjen.</a:t>
            </a:r>
          </a:p>
          <a:p>
            <a:r>
              <a:rPr lang="sl-SI" dirty="0">
                <a:solidFill>
                  <a:srgbClr val="000000"/>
                </a:solidFill>
              </a:rPr>
              <a:t>Pogoj je kot filter, ki sprejme samo elemente z vrednostjo </a:t>
            </a:r>
            <a:r>
              <a:rPr lang="sl-SI" dirty="0" err="1">
                <a:solidFill>
                  <a:srgbClr val="000000"/>
                </a:solidFill>
              </a:rPr>
              <a:t>True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Sprejmite samo predmete, ki niso "jabolka":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[x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!=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Pogoj </a:t>
            </a:r>
            <a:r>
              <a:rPr lang="sl-SI" dirty="0" err="1">
                <a:solidFill>
                  <a:srgbClr val="000000"/>
                </a:solidFill>
              </a:rPr>
              <a:t>if</a:t>
            </a:r>
            <a:r>
              <a:rPr lang="sl-SI" dirty="0">
                <a:solidFill>
                  <a:srgbClr val="000000"/>
                </a:solidFill>
              </a:rPr>
              <a:t> x != "jabolko" bo vrnil </a:t>
            </a:r>
            <a:r>
              <a:rPr lang="sl-SI" dirty="0" err="1">
                <a:solidFill>
                  <a:srgbClr val="000000"/>
                </a:solidFill>
              </a:rPr>
              <a:t>True</a:t>
            </a:r>
            <a:r>
              <a:rPr lang="sl-SI" dirty="0">
                <a:solidFill>
                  <a:srgbClr val="000000"/>
                </a:solidFill>
              </a:rPr>
              <a:t> za vse elemente, ki niso "jabolko", tako da bo novi seznam vseboval vse sadje razen "jabolka".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07430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Razumevanje seznama (sintaksa)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l-SI" dirty="0">
                <a:solidFill>
                  <a:srgbClr val="000000"/>
                </a:solidFill>
              </a:rPr>
              <a:t>Pogoj ni obvezen in ga lahko izpustite: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</a:rPr>
              <a:t>n</a:t>
            </a:r>
            <a:r>
              <a:rPr lang="sl-SI" dirty="0" err="1">
                <a:solidFill>
                  <a:srgbClr val="000000"/>
                </a:solidFill>
                <a:effectLst/>
              </a:rPr>
              <a:t>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[x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] 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 err="1">
                <a:solidFill>
                  <a:srgbClr val="000000"/>
                </a:solidFill>
              </a:rPr>
              <a:t>Iterabilen</a:t>
            </a:r>
            <a:r>
              <a:rPr lang="sl-SI" dirty="0">
                <a:solidFill>
                  <a:srgbClr val="000000"/>
                </a:solidFill>
              </a:rPr>
              <a:t> je lahko kateri koli objekt, na primer seznam,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,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, </a:t>
            </a:r>
            <a:r>
              <a:rPr lang="sl-SI" dirty="0" err="1">
                <a:solidFill>
                  <a:srgbClr val="000000"/>
                </a:solidFill>
              </a:rPr>
              <a:t>dict</a:t>
            </a:r>
            <a:r>
              <a:rPr lang="sl-SI" dirty="0">
                <a:solidFill>
                  <a:srgbClr val="000000"/>
                </a:solidFill>
              </a:rPr>
              <a:t> itd.</a:t>
            </a:r>
          </a:p>
          <a:p>
            <a:r>
              <a:rPr lang="sl-SI" dirty="0">
                <a:solidFill>
                  <a:srgbClr val="000000"/>
                </a:solidFill>
              </a:rPr>
              <a:t>Funkcijo range() lahko uporabite za ustvarjanje </a:t>
            </a:r>
            <a:r>
              <a:rPr lang="sl-SI" dirty="0" err="1">
                <a:solidFill>
                  <a:srgbClr val="000000"/>
                </a:solidFill>
              </a:rPr>
              <a:t>iterabilnosti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</a:rPr>
              <a:t>n</a:t>
            </a:r>
            <a:r>
              <a:rPr lang="sl-SI" dirty="0" err="1">
                <a:solidFill>
                  <a:srgbClr val="000000"/>
                </a:solidFill>
                <a:effectLst/>
              </a:rPr>
              <a:t>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[x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</a:rPr>
              <a:t>)]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  <a:effectLst/>
              </a:rPr>
              <a:t>Enak primer, vendar s pogojem: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</a:rPr>
              <a:t>n</a:t>
            </a:r>
            <a:r>
              <a:rPr lang="sl-SI" dirty="0" err="1">
                <a:solidFill>
                  <a:srgbClr val="000000"/>
                </a:solidFill>
                <a:effectLst/>
              </a:rPr>
              <a:t>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[x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  <a:effectLst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&lt;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]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Sprejme samo številke, manjše od 5</a:t>
            </a:r>
            <a:endParaRPr lang="sl-SI" dirty="0">
              <a:solidFill>
                <a:schemeClr val="accent6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8627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Razumevanje seznama (sintaksa)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Izraz je trenutna postavka v iteraciji, vendar je tudi rezultat, ki ga lahko spremenite, preden se konča kot postavka seznama v novem seznamu.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l-PL" dirty="0">
                <a:solidFill>
                  <a:srgbClr val="000000"/>
                </a:solidFill>
              </a:rPr>
              <a:t>Vrednosti na novem seznamu nastavite na velike črke: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 err="1">
                <a:solidFill>
                  <a:srgbClr val="000000"/>
                </a:solidFill>
                <a:effectLst/>
              </a:rPr>
              <a:t>x.upper</a:t>
            </a:r>
            <a:r>
              <a:rPr lang="en-US" dirty="0">
                <a:solidFill>
                  <a:srgbClr val="000000"/>
                </a:solidFill>
                <a:effectLst/>
              </a:rPr>
              <a:t>()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pl-PL" dirty="0">
                <a:solidFill>
                  <a:srgbClr val="000000"/>
                </a:solidFill>
              </a:rPr>
              <a:t>Rezultat lahko nastavite na poljubno vrednost.</a:t>
            </a:r>
          </a:p>
          <a:p>
            <a:r>
              <a:rPr lang="pl-PL" dirty="0">
                <a:solidFill>
                  <a:srgbClr val="000000"/>
                </a:solidFill>
              </a:rPr>
              <a:t>Primer: Nastavite vse vrednosti v novem seznamu na 'hello’: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'</a:t>
            </a:r>
            <a:r>
              <a:rPr lang="sl-SI" dirty="0">
                <a:solidFill>
                  <a:srgbClr val="A52A2A"/>
                </a:solidFill>
                <a:effectLst/>
              </a:rPr>
              <a:t>zdravo</a:t>
            </a:r>
            <a:r>
              <a:rPr lang="en-US" dirty="0">
                <a:solidFill>
                  <a:srgbClr val="A52A2A"/>
                </a:solidFill>
                <a:effectLst/>
              </a:rPr>
              <a:t>'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endParaRPr lang="pl-PL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01174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Razumevanje seznama (sintaksa)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Izraz lahko vsebuje tudi pogoje, vendar ne kot filter, temveč kot način manipulacije rezultata.</a:t>
            </a:r>
          </a:p>
          <a:p>
            <a:r>
              <a:rPr lang="sl-SI" dirty="0">
                <a:solidFill>
                  <a:srgbClr val="000000"/>
                </a:solidFill>
              </a:rPr>
              <a:t>Primer: Vrnite "lubenica" namesto "banana":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[x </a:t>
            </a: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x !=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else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lubenica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Izraz v zgornjem primeru pravi: "Če element ni banana, ga vrni, če je banana, vrni lubenica".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70332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Abecedno-številčno razvrščanje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Objekti seznama imajo metodo sort(), ki privzeto razvrsti seznam po abecedno-številčnem vrstnem redu, naraščajoče</a:t>
            </a:r>
          </a:p>
          <a:p>
            <a:r>
              <a:rPr lang="sl-SI" dirty="0">
                <a:solidFill>
                  <a:srgbClr val="000000"/>
                </a:solidFill>
              </a:rPr>
              <a:t>Primer1: Seznam razvrstite po abecedi: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"ananas"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mojseznam.sort</a:t>
            </a:r>
            <a:r>
              <a:rPr lang="sl-SI" dirty="0">
                <a:solidFill>
                  <a:srgbClr val="000000"/>
                </a:solidFill>
                <a:effectLst/>
              </a:rPr>
              <a:t>()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od A-Z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57565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Abecedno-številčno razvrščanje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Primer 2: Seznam razvrstite numerično: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FF0000"/>
                </a:solidFill>
                <a:effectLst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50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65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82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23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.sort()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od 1 do n </a:t>
            </a:r>
          </a:p>
          <a:p>
            <a:r>
              <a:rPr lang="sl-SI" dirty="0">
                <a:solidFill>
                  <a:srgbClr val="000000"/>
                </a:solidFill>
              </a:rPr>
              <a:t>Če želite razvrščati padajoče, uporabite argument ključne besede </a:t>
            </a:r>
            <a:r>
              <a:rPr lang="sl-SI" dirty="0" err="1">
                <a:solidFill>
                  <a:srgbClr val="000000"/>
                </a:solidFill>
              </a:rPr>
              <a:t>reverse</a:t>
            </a:r>
            <a:r>
              <a:rPr lang="sl-SI" dirty="0">
                <a:solidFill>
                  <a:srgbClr val="000000"/>
                </a:solidFill>
              </a:rPr>
              <a:t> = </a:t>
            </a:r>
            <a:r>
              <a:rPr lang="sl-SI" dirty="0" err="1">
                <a:solidFill>
                  <a:srgbClr val="000000"/>
                </a:solidFill>
              </a:rPr>
              <a:t>True</a:t>
            </a: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Primer3: Seznam razvrstite padajoče: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"ananas"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mojseznam.sort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reverse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 err="1">
                <a:solidFill>
                  <a:srgbClr val="0000CD"/>
                </a:solidFill>
                <a:effectLst/>
              </a:rPr>
              <a:t>True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od Z do A 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14361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Abecedno-številčno razvrščanje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Primer 4: Seznam razvrstite numerično padajoče: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FF0000"/>
                </a:solidFill>
                <a:effectLst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50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65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82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23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mojseznam.sort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reverse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 err="1">
                <a:solidFill>
                  <a:srgbClr val="0000CD"/>
                </a:solidFill>
                <a:effectLst/>
              </a:rPr>
              <a:t>True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od n do 1 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1121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Abecedno-številčno razvrščanje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Svojo funkcijo lahko prilagodite tudi tako, da uporabite argument ključne besede </a:t>
            </a:r>
            <a:r>
              <a:rPr lang="sl-SI" dirty="0" err="1">
                <a:solidFill>
                  <a:srgbClr val="000000"/>
                </a:solidFill>
              </a:rPr>
              <a:t>key</a:t>
            </a:r>
            <a:r>
              <a:rPr lang="sl-SI" dirty="0">
                <a:solidFill>
                  <a:srgbClr val="000000"/>
                </a:solidFill>
              </a:rPr>
              <a:t> = </a:t>
            </a:r>
            <a:r>
              <a:rPr lang="sl-SI" dirty="0" err="1">
                <a:solidFill>
                  <a:srgbClr val="000000"/>
                </a:solidFill>
              </a:rPr>
              <a:t>function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Funkcija bo vrnila število, ki se bo uporabilo za razvrščanje seznama (najprej najnižje število).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l-PL" dirty="0">
                <a:solidFill>
                  <a:srgbClr val="000000"/>
                </a:solidFill>
              </a:rPr>
              <a:t>Razvrstite seznam glede na to, kako blizu so s številom 50: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</a:rPr>
              <a:t> m</a:t>
            </a:r>
            <a:r>
              <a:rPr lang="sl-SI" dirty="0" err="1">
                <a:solidFill>
                  <a:srgbClr val="000000"/>
                </a:solidFill>
                <a:effectLst/>
              </a:rPr>
              <a:t>ojafunkcija</a:t>
            </a:r>
            <a:r>
              <a:rPr lang="en-US" dirty="0">
                <a:solidFill>
                  <a:srgbClr val="000000"/>
                </a:solidFill>
                <a:effectLst/>
              </a:rPr>
              <a:t>(n):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abs</a:t>
            </a:r>
            <a:r>
              <a:rPr lang="en-US" dirty="0">
                <a:solidFill>
                  <a:srgbClr val="000000"/>
                </a:solidFill>
                <a:effectLst/>
              </a:rPr>
              <a:t>(n - </a:t>
            </a:r>
            <a:r>
              <a:rPr lang="en-US" dirty="0">
                <a:solidFill>
                  <a:srgbClr val="FF0000"/>
                </a:solidFill>
                <a:effectLst/>
              </a:rPr>
              <a:t>50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FF0000"/>
                </a:solidFill>
                <a:effectLst/>
              </a:rPr>
              <a:t>100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50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65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82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23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.sort(key = m</a:t>
            </a:r>
            <a:r>
              <a:rPr lang="sl-SI" dirty="0" err="1">
                <a:solidFill>
                  <a:srgbClr val="000000"/>
                </a:solidFill>
                <a:effectLst/>
              </a:rPr>
              <a:t>ojafunkcija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9262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Abecedno-številčno razvrščanje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Privzeto je metoda sort() občutljiva na velike in male črke, zato so vse velike črke razvrščene pred malimi črkami.</a:t>
            </a:r>
          </a:p>
          <a:p>
            <a:r>
              <a:rPr lang="sl-SI" dirty="0">
                <a:solidFill>
                  <a:srgbClr val="000000"/>
                </a:solidFill>
              </a:rPr>
              <a:t>Primer: Pri razvrščanju, ki upošteva velike in male črke, lahko pride do nepričakovanega rezultata: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"Ki</a:t>
            </a:r>
            <a:r>
              <a:rPr lang="sl-SI" dirty="0">
                <a:solidFill>
                  <a:srgbClr val="A52A2A"/>
                </a:solidFill>
                <a:effectLst/>
              </a:rPr>
              <a:t>v</a:t>
            </a:r>
            <a:r>
              <a:rPr lang="en-US" dirty="0" err="1">
                <a:solidFill>
                  <a:srgbClr val="A52A2A"/>
                </a:solidFill>
                <a:effectLst/>
              </a:rPr>
              <a:t>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.sort()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Jabolko, Kivi,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, banana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17248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Abecedno-številčno razvrščanje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Na srečo lahko pri razvrščanju seznama kot ključne funkcije uporabimo vgrajene funkcije.</a:t>
            </a:r>
          </a:p>
          <a:p>
            <a:r>
              <a:rPr lang="sl-SI" dirty="0">
                <a:solidFill>
                  <a:srgbClr val="000000"/>
                </a:solidFill>
              </a:rPr>
              <a:t>Če torej želite funkcijo razvrščanja, ki ne upošteva velikih in malih črk, kot ključno funkcijo, uporabite </a:t>
            </a:r>
            <a:r>
              <a:rPr lang="sl-SI" dirty="0" err="1">
                <a:solidFill>
                  <a:srgbClr val="000000"/>
                </a:solidFill>
              </a:rPr>
              <a:t>str.lower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Izvede razvrščanje seznama brez upoštevanja velikih in malih črk: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"Ki</a:t>
            </a:r>
            <a:r>
              <a:rPr lang="sl-SI" dirty="0">
                <a:solidFill>
                  <a:srgbClr val="A52A2A"/>
                </a:solidFill>
                <a:effectLst/>
              </a:rPr>
              <a:t>v</a:t>
            </a:r>
            <a:r>
              <a:rPr lang="en-US" dirty="0" err="1">
                <a:solidFill>
                  <a:srgbClr val="A52A2A"/>
                </a:solidFill>
                <a:effectLst/>
              </a:rPr>
              <a:t>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.sort(key = </a:t>
            </a:r>
            <a:r>
              <a:rPr lang="en-US" dirty="0" err="1">
                <a:solidFill>
                  <a:srgbClr val="0000CD"/>
                </a:solidFill>
                <a:effectLst/>
              </a:rPr>
              <a:t>str</a:t>
            </a:r>
            <a:r>
              <a:rPr lang="en-US" dirty="0" err="1">
                <a:solidFill>
                  <a:srgbClr val="000000"/>
                </a:solidFill>
                <a:effectLst/>
              </a:rPr>
              <a:t>.lower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banana, Jabolko, Kivi,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74543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Abecedno-številčno razvrščanje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Kaj pa, če želite obrniti vrstni red seznama, ne glede na abecedo?</a:t>
            </a:r>
          </a:p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reverse</a:t>
            </a:r>
            <a:r>
              <a:rPr lang="sl-SI" dirty="0">
                <a:solidFill>
                  <a:srgbClr val="000000"/>
                </a:solidFill>
              </a:rPr>
              <a:t>() spremeni trenutni vrstni red elementov.</a:t>
            </a:r>
          </a:p>
          <a:p>
            <a:r>
              <a:rPr lang="sl-SI" dirty="0">
                <a:solidFill>
                  <a:srgbClr val="000000"/>
                </a:solidFill>
              </a:rPr>
              <a:t>Primer: Obrnite vrstni red elementov seznama: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"Ki</a:t>
            </a:r>
            <a:r>
              <a:rPr lang="sl-SI" dirty="0">
                <a:solidFill>
                  <a:srgbClr val="A52A2A"/>
                </a:solidFill>
                <a:effectLst/>
              </a:rPr>
              <a:t>v</a:t>
            </a:r>
            <a:r>
              <a:rPr lang="en-US" dirty="0" err="1">
                <a:solidFill>
                  <a:srgbClr val="A52A2A"/>
                </a:solidFill>
                <a:effectLst/>
              </a:rPr>
              <a:t>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.reverse()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, Kivi, Jabolko, banana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5988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Kopiranje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Seznama ne morete kopirati tako, da preprosto vnesete seznam2 = seznam1, ker: seznam2 bo samo referenca na seznam1 in spremembe, ki so bile narejene v seznamu1, se bodo samodejno izvedle tudi v seznamu2.</a:t>
            </a:r>
          </a:p>
          <a:p>
            <a:r>
              <a:rPr lang="sl-SI" dirty="0">
                <a:solidFill>
                  <a:srgbClr val="000000"/>
                </a:solidFill>
              </a:rPr>
              <a:t>Obstajajo načini za kopiranje, eden od njih je uporaba vgrajene metode seznama </a:t>
            </a:r>
            <a:r>
              <a:rPr lang="sl-SI" dirty="0" err="1">
                <a:solidFill>
                  <a:srgbClr val="000000"/>
                </a:solidFill>
              </a:rPr>
              <a:t>copy</a:t>
            </a:r>
            <a:r>
              <a:rPr lang="sl-SI" dirty="0">
                <a:solidFill>
                  <a:srgbClr val="000000"/>
                </a:solidFill>
              </a:rPr>
              <a:t>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l-PL" dirty="0">
                <a:solidFill>
                  <a:srgbClr val="000000"/>
                </a:solidFill>
              </a:rPr>
              <a:t>Z metodo copy() naredite kopijo seznama: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seznam = [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 err="1">
                <a:solidFill>
                  <a:srgbClr val="000000"/>
                </a:solidFill>
                <a:effectLst/>
              </a:rPr>
              <a:t>seznam.copy</a:t>
            </a:r>
            <a:r>
              <a:rPr lang="sl-SI" dirty="0">
                <a:solidFill>
                  <a:srgbClr val="000000"/>
                </a:solidFill>
                <a:effectLst/>
              </a:rPr>
              <a:t>()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94956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Kopiranje seznama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Drug način za izdelavo kopije je uporaba vgrajene metode list().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l-PL" dirty="0">
                <a:solidFill>
                  <a:srgbClr val="000000"/>
                </a:solidFill>
              </a:rPr>
              <a:t>Z metodo list() naredite kopijo seznama:</a:t>
            </a: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  <a:effectLst/>
              </a:rPr>
              <a:t>seznam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0000CD"/>
                </a:solidFill>
                <a:effectLst/>
              </a:rPr>
              <a:t>list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5360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Združevanje seznamov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V </a:t>
            </a:r>
            <a:r>
              <a:rPr lang="sl-SI" dirty="0" err="1">
                <a:solidFill>
                  <a:srgbClr val="000000"/>
                </a:solidFill>
              </a:rPr>
              <a:t>Pythonu</a:t>
            </a:r>
            <a:r>
              <a:rPr lang="sl-SI" dirty="0">
                <a:solidFill>
                  <a:srgbClr val="000000"/>
                </a:solidFill>
              </a:rPr>
              <a:t> obstaja več načinov združevanja ali povezovanja dveh ali več seznamov.</a:t>
            </a:r>
          </a:p>
          <a:p>
            <a:r>
              <a:rPr lang="sl-SI" dirty="0">
                <a:solidFill>
                  <a:srgbClr val="000000"/>
                </a:solidFill>
              </a:rPr>
              <a:t>Eden najlažjih načinov je uporaba operatorja +.</a:t>
            </a:r>
          </a:p>
          <a:p>
            <a:r>
              <a:rPr lang="sl-SI" dirty="0">
                <a:solidFill>
                  <a:srgbClr val="000000"/>
                </a:solidFill>
              </a:rPr>
              <a:t>Primer: Združi dva seznama: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seznam1 = [</a:t>
            </a:r>
            <a:r>
              <a:rPr lang="sl-SI" dirty="0">
                <a:solidFill>
                  <a:srgbClr val="A52A2A"/>
                </a:solidFill>
                <a:effectLst/>
              </a:rPr>
              <a:t>"a"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"c"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seznam2 = [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seznam3 = seznam1 + seznam2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(seznam2)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83690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Združevanje seznamov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Dva seznama lahko združite tudi tako, da vse elemente s seznama2 enega za drugim dodate na seznam1.</a:t>
            </a:r>
          </a:p>
          <a:p>
            <a:r>
              <a:rPr lang="sl-SI" dirty="0">
                <a:solidFill>
                  <a:srgbClr val="000000"/>
                </a:solidFill>
              </a:rPr>
              <a:t>Primer: seznam2 dodajte v seznam1: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seznam1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A52A2A"/>
                </a:solidFill>
                <a:effectLst/>
              </a:rPr>
              <a:t>"a"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"b"</a:t>
            </a:r>
            <a:r>
              <a:rPr lang="en-US" dirty="0">
                <a:solidFill>
                  <a:srgbClr val="000000"/>
                </a:solidFill>
                <a:effectLst/>
              </a:rPr>
              <a:t> , </a:t>
            </a:r>
            <a:r>
              <a:rPr lang="en-US" dirty="0">
                <a:solidFill>
                  <a:srgbClr val="A52A2A"/>
                </a:solidFill>
                <a:effectLst/>
              </a:rPr>
              <a:t>"c"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seznam2</a:t>
            </a:r>
            <a:r>
              <a:rPr lang="en-US" dirty="0">
                <a:solidFill>
                  <a:srgbClr val="000000"/>
                </a:solidFill>
                <a:effectLst/>
              </a:rPr>
              <a:t> = [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seznam2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>
                <a:solidFill>
                  <a:srgbClr val="000000"/>
                </a:solidFill>
                <a:effectLst/>
              </a:rPr>
              <a:t>seznam1</a:t>
            </a:r>
            <a:r>
              <a:rPr lang="en-US" dirty="0">
                <a:solidFill>
                  <a:srgbClr val="000000"/>
                </a:solidFill>
                <a:effectLst/>
              </a:rPr>
              <a:t>.append(x)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seznam1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64853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Združevanje seznamov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Uporabite lahko tudi metodo </a:t>
            </a:r>
            <a:r>
              <a:rPr lang="sl-SI" dirty="0" err="1">
                <a:solidFill>
                  <a:srgbClr val="000000"/>
                </a:solidFill>
              </a:rPr>
              <a:t>extend</a:t>
            </a:r>
            <a:r>
              <a:rPr lang="sl-SI" dirty="0">
                <a:solidFill>
                  <a:srgbClr val="000000"/>
                </a:solidFill>
              </a:rPr>
              <a:t>(), katere namen je dodajanje elementov z enega seznama na drug seznam.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l-PL" dirty="0">
                <a:solidFill>
                  <a:srgbClr val="000000"/>
                </a:solidFill>
              </a:rPr>
              <a:t>Z metodo extend() dodajte seznam2 na konec seznama1: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seznam1 = [</a:t>
            </a:r>
            <a:r>
              <a:rPr lang="sl-SI" dirty="0">
                <a:solidFill>
                  <a:srgbClr val="A52A2A"/>
                </a:solidFill>
                <a:effectLst/>
              </a:rPr>
              <a:t>"a"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"b"</a:t>
            </a:r>
            <a:r>
              <a:rPr lang="sl-SI" dirty="0">
                <a:solidFill>
                  <a:srgbClr val="000000"/>
                </a:solidFill>
                <a:effectLst/>
              </a:rPr>
              <a:t> , </a:t>
            </a:r>
            <a:r>
              <a:rPr lang="sl-SI" dirty="0">
                <a:solidFill>
                  <a:srgbClr val="A52A2A"/>
                </a:solidFill>
                <a:effectLst/>
              </a:rPr>
              <a:t>"c"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seznam2 = [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seznam1.extend(seznam2)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(seznam1)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53067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</a:t>
            </a:r>
            <a:r>
              <a:rPr lang="sl-SI" b="1" dirty="0" err="1">
                <a:solidFill>
                  <a:srgbClr val="FF0000"/>
                </a:solidFill>
              </a:rPr>
              <a:t>Tuples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>
                <a:solidFill>
                  <a:srgbClr val="000000"/>
                </a:solidFill>
              </a:rPr>
              <a:t>Tupli</a:t>
            </a:r>
            <a:r>
              <a:rPr lang="sl-SI" dirty="0">
                <a:solidFill>
                  <a:srgbClr val="000000"/>
                </a:solidFill>
              </a:rPr>
              <a:t> se uporabljajo za shranjevanje več elementov v eni spremenljivki.</a:t>
            </a:r>
          </a:p>
          <a:p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je eden od štirih vgrajenih podatkovnih tipov v </a:t>
            </a:r>
            <a:r>
              <a:rPr lang="sl-SI" dirty="0" err="1">
                <a:solidFill>
                  <a:srgbClr val="000000"/>
                </a:solidFill>
              </a:rPr>
              <a:t>Pythonu</a:t>
            </a:r>
            <a:r>
              <a:rPr lang="sl-SI" dirty="0">
                <a:solidFill>
                  <a:srgbClr val="000000"/>
                </a:solidFill>
              </a:rPr>
              <a:t>, ki se uporabljajo za shranjevanje zbirk podatkov.</a:t>
            </a:r>
          </a:p>
          <a:p>
            <a:r>
              <a:rPr lang="sl-SI" dirty="0">
                <a:solidFill>
                  <a:srgbClr val="000000"/>
                </a:solidFill>
              </a:rPr>
              <a:t>Drugi trije so seznam,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in </a:t>
            </a:r>
            <a:r>
              <a:rPr lang="sl-SI" dirty="0" err="1">
                <a:solidFill>
                  <a:srgbClr val="000000"/>
                </a:solidFill>
              </a:rPr>
              <a:t>dict</a:t>
            </a:r>
            <a:r>
              <a:rPr lang="sl-SI" dirty="0">
                <a:solidFill>
                  <a:srgbClr val="000000"/>
                </a:solidFill>
              </a:rPr>
              <a:t>, vsi z različnimi lastnostmi in uporabo.</a:t>
            </a:r>
          </a:p>
          <a:p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je zbirka, ki je urejena in nespremenljiva.</a:t>
            </a:r>
          </a:p>
          <a:p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zapišemo z navadnimi oklepaji.</a:t>
            </a:r>
          </a:p>
        </p:txBody>
      </p:sp>
    </p:spTree>
    <p:extLst>
      <p:ext uri="{BB962C8B-B14F-4D97-AF65-F5344CB8AC3E}">
        <p14:creationId xmlns:p14="http://schemas.microsoft.com/office/powerpoint/2010/main" val="12356701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 </a:t>
            </a:r>
            <a:r>
              <a:rPr lang="sl-SI" b="1" dirty="0" err="1">
                <a:solidFill>
                  <a:srgbClr val="FF0000"/>
                </a:solidFill>
              </a:rPr>
              <a:t>tuple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Elementi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so urejeni, nespremenljivi in omogočajo podvajanje vrednosti.</a:t>
            </a:r>
          </a:p>
          <a:p>
            <a:r>
              <a:rPr lang="sl-SI" dirty="0">
                <a:solidFill>
                  <a:srgbClr val="000000"/>
                </a:solidFill>
              </a:rPr>
              <a:t>Elementi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so indeksirani, prvi element ima indeks [0], drugi element ima indeks [1] itd.</a:t>
            </a: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93575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 </a:t>
            </a:r>
            <a:r>
              <a:rPr lang="sl-SI" b="1" dirty="0" err="1">
                <a:solidFill>
                  <a:srgbClr val="FF0000"/>
                </a:solidFill>
              </a:rPr>
              <a:t>tuple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</a:rPr>
              <a:t>Ko </a:t>
            </a:r>
            <a:r>
              <a:rPr lang="it-IT" dirty="0" err="1">
                <a:solidFill>
                  <a:srgbClr val="000000"/>
                </a:solidFill>
                <a:effectLst/>
              </a:rPr>
              <a:t>rečemo</a:t>
            </a:r>
            <a:r>
              <a:rPr lang="it-IT" dirty="0">
                <a:solidFill>
                  <a:srgbClr val="000000"/>
                </a:solidFill>
                <a:effectLst/>
              </a:rPr>
              <a:t>, da so </a:t>
            </a:r>
            <a:r>
              <a:rPr lang="it-IT" dirty="0" err="1">
                <a:solidFill>
                  <a:srgbClr val="000000"/>
                </a:solidFill>
                <a:effectLst/>
              </a:rPr>
              <a:t>tupli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urejeni</a:t>
            </a:r>
            <a:r>
              <a:rPr lang="it-IT" dirty="0">
                <a:solidFill>
                  <a:srgbClr val="000000"/>
                </a:solidFill>
                <a:effectLst/>
              </a:rPr>
              <a:t>, to </a:t>
            </a:r>
            <a:r>
              <a:rPr lang="it-IT" dirty="0" err="1">
                <a:solidFill>
                  <a:srgbClr val="000000"/>
                </a:solidFill>
                <a:effectLst/>
              </a:rPr>
              <a:t>pomeni</a:t>
            </a:r>
            <a:r>
              <a:rPr lang="it-IT" dirty="0">
                <a:solidFill>
                  <a:srgbClr val="000000"/>
                </a:solidFill>
                <a:effectLst/>
              </a:rPr>
              <a:t>, da </a:t>
            </a:r>
            <a:r>
              <a:rPr lang="it-IT" dirty="0" err="1">
                <a:solidFill>
                  <a:srgbClr val="000000"/>
                </a:solidFill>
                <a:effectLst/>
              </a:rPr>
              <a:t>imajo</a:t>
            </a:r>
            <a:r>
              <a:rPr lang="it-IT" dirty="0">
                <a:solidFill>
                  <a:srgbClr val="000000"/>
                </a:solidFill>
                <a:effectLst/>
              </a:rPr>
              <a:t> elementi </a:t>
            </a:r>
            <a:r>
              <a:rPr lang="it-IT" dirty="0" err="1">
                <a:solidFill>
                  <a:srgbClr val="000000"/>
                </a:solidFill>
                <a:effectLst/>
              </a:rPr>
              <a:t>določen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vrstni</a:t>
            </a:r>
            <a:r>
              <a:rPr lang="it-IT" dirty="0">
                <a:solidFill>
                  <a:srgbClr val="000000"/>
                </a:solidFill>
                <a:effectLst/>
              </a:rPr>
              <a:t> red, </a:t>
            </a:r>
            <a:r>
              <a:rPr lang="it-IT" dirty="0" err="1">
                <a:solidFill>
                  <a:srgbClr val="000000"/>
                </a:solidFill>
                <a:effectLst/>
              </a:rPr>
              <a:t>ki</a:t>
            </a:r>
            <a:r>
              <a:rPr lang="it-IT" dirty="0">
                <a:solidFill>
                  <a:srgbClr val="000000"/>
                </a:solidFill>
                <a:effectLst/>
              </a:rPr>
              <a:t> se ne bo </a:t>
            </a:r>
            <a:r>
              <a:rPr lang="it-IT" dirty="0" err="1">
                <a:solidFill>
                  <a:srgbClr val="000000"/>
                </a:solidFill>
                <a:effectLst/>
              </a:rPr>
              <a:t>spremenil</a:t>
            </a:r>
            <a:r>
              <a:rPr lang="it-IT" dirty="0">
                <a:solidFill>
                  <a:srgbClr val="000000"/>
                </a:solidFill>
                <a:effectLst/>
              </a:rPr>
              <a:t>.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 err="1">
                <a:solidFill>
                  <a:srgbClr val="000000"/>
                </a:solidFill>
              </a:rPr>
              <a:t>Tupli</a:t>
            </a:r>
            <a:r>
              <a:rPr lang="sl-SI" dirty="0">
                <a:solidFill>
                  <a:srgbClr val="000000"/>
                </a:solidFill>
              </a:rPr>
              <a:t> so nespremenljivi, kar pomeni, da po ustvarjenem </a:t>
            </a:r>
            <a:r>
              <a:rPr lang="sl-SI" dirty="0" err="1">
                <a:solidFill>
                  <a:srgbClr val="000000"/>
                </a:solidFill>
              </a:rPr>
              <a:t>tuplu</a:t>
            </a:r>
            <a:r>
              <a:rPr lang="sl-SI" dirty="0">
                <a:solidFill>
                  <a:srgbClr val="000000"/>
                </a:solidFill>
              </a:rPr>
              <a:t> ne moremo spreminjati, dodajati ali odstranjevati elementov.</a:t>
            </a:r>
          </a:p>
          <a:p>
            <a:r>
              <a:rPr lang="it-IT" dirty="0" err="1">
                <a:solidFill>
                  <a:srgbClr val="000000"/>
                </a:solidFill>
              </a:rPr>
              <a:t>Ker</a:t>
            </a:r>
            <a:r>
              <a:rPr lang="it-IT" dirty="0">
                <a:solidFill>
                  <a:srgbClr val="000000"/>
                </a:solidFill>
              </a:rPr>
              <a:t> so </a:t>
            </a:r>
            <a:r>
              <a:rPr lang="it-IT" dirty="0" err="1">
                <a:solidFill>
                  <a:srgbClr val="000000"/>
                </a:solidFill>
              </a:rPr>
              <a:t>tupli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dirty="0" err="1">
                <a:solidFill>
                  <a:srgbClr val="000000"/>
                </a:solidFill>
              </a:rPr>
              <a:t>indeksirani</a:t>
            </a:r>
            <a:r>
              <a:rPr lang="it-IT" dirty="0">
                <a:solidFill>
                  <a:srgbClr val="000000"/>
                </a:solidFill>
              </a:rPr>
              <a:t>, </a:t>
            </a:r>
            <a:r>
              <a:rPr lang="it-IT" dirty="0" err="1">
                <a:solidFill>
                  <a:srgbClr val="000000"/>
                </a:solidFill>
              </a:rPr>
              <a:t>imajo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dirty="0" err="1">
                <a:solidFill>
                  <a:srgbClr val="000000"/>
                </a:solidFill>
              </a:rPr>
              <a:t>lahko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dirty="0" err="1">
                <a:solidFill>
                  <a:srgbClr val="000000"/>
                </a:solidFill>
              </a:rPr>
              <a:t>elemente</a:t>
            </a:r>
            <a:r>
              <a:rPr lang="it-IT" dirty="0">
                <a:solidFill>
                  <a:srgbClr val="000000"/>
                </a:solidFill>
              </a:rPr>
              <a:t> z </a:t>
            </a:r>
            <a:r>
              <a:rPr lang="it-IT" dirty="0" err="1">
                <a:solidFill>
                  <a:srgbClr val="000000"/>
                </a:solidFill>
              </a:rPr>
              <a:t>enako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dirty="0" err="1">
                <a:solidFill>
                  <a:srgbClr val="000000"/>
                </a:solidFill>
              </a:rPr>
              <a:t>vrednostjo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sl-SI" dirty="0" err="1">
                <a:solidFill>
                  <a:srgbClr val="000000"/>
                </a:solidFill>
              </a:rPr>
              <a:t>Tupli</a:t>
            </a:r>
            <a:r>
              <a:rPr lang="sl-SI" dirty="0">
                <a:solidFill>
                  <a:srgbClr val="000000"/>
                </a:solidFill>
              </a:rPr>
              <a:t> omogočajo podvajanje vrednosti:</a:t>
            </a:r>
            <a:endParaRPr lang="sl-SI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04556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 </a:t>
            </a:r>
            <a:r>
              <a:rPr lang="sl-SI" b="1" dirty="0" err="1">
                <a:solidFill>
                  <a:srgbClr val="FF0000"/>
                </a:solidFill>
              </a:rPr>
              <a:t>tuple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err="1">
                <a:solidFill>
                  <a:srgbClr val="000000"/>
                </a:solidFill>
                <a:effectLst/>
              </a:rPr>
              <a:t>Če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želite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ugotoviti</a:t>
            </a:r>
            <a:r>
              <a:rPr lang="it-IT" dirty="0">
                <a:solidFill>
                  <a:srgbClr val="000000"/>
                </a:solidFill>
                <a:effectLst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</a:rPr>
              <a:t>koliko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elementov</a:t>
            </a:r>
            <a:r>
              <a:rPr lang="it-IT" dirty="0">
                <a:solidFill>
                  <a:srgbClr val="000000"/>
                </a:solidFill>
                <a:effectLst/>
              </a:rPr>
              <a:t> ima </a:t>
            </a:r>
            <a:r>
              <a:rPr lang="it-IT" dirty="0" err="1">
                <a:solidFill>
                  <a:srgbClr val="000000"/>
                </a:solidFill>
                <a:effectLst/>
              </a:rPr>
              <a:t>tuple</a:t>
            </a:r>
            <a:r>
              <a:rPr lang="it-IT" dirty="0">
                <a:solidFill>
                  <a:srgbClr val="000000"/>
                </a:solidFill>
                <a:effectLst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</a:rPr>
              <a:t>uporabite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funkcijo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len</a:t>
            </a:r>
            <a:r>
              <a:rPr lang="it-IT" dirty="0">
                <a:solidFill>
                  <a:srgbClr val="000000"/>
                </a:solidFill>
                <a:effectLst/>
              </a:rPr>
              <a:t>()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Primer: Izpiše število elementov v </a:t>
            </a:r>
            <a:r>
              <a:rPr lang="sl-SI" dirty="0" err="1">
                <a:solidFill>
                  <a:srgbClr val="000000"/>
                </a:solidFill>
              </a:rPr>
              <a:t>tuplu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CD"/>
                </a:solidFill>
                <a:effectLst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Če želite ustvariti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s samo enim elementom, morate za elementom dodati vejico, sicer ga </a:t>
            </a:r>
            <a:r>
              <a:rPr lang="sl-SI" dirty="0" err="1">
                <a:solidFill>
                  <a:srgbClr val="000000"/>
                </a:solidFill>
              </a:rPr>
              <a:t>Python</a:t>
            </a:r>
            <a:r>
              <a:rPr lang="sl-SI" dirty="0">
                <a:solidFill>
                  <a:srgbClr val="000000"/>
                </a:solidFill>
              </a:rPr>
              <a:t> ne bo prepoznal kot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0000CD"/>
                </a:solidFill>
                <a:effectLst/>
              </a:rPr>
              <a:t>type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8000"/>
                </a:solidFill>
                <a:effectLst/>
              </a:rPr>
              <a:t>#N</a:t>
            </a:r>
            <a:r>
              <a:rPr lang="sl-SI" dirty="0">
                <a:solidFill>
                  <a:srgbClr val="008000"/>
                </a:solidFill>
                <a:effectLst/>
              </a:rPr>
              <a:t>I</a:t>
            </a:r>
            <a:r>
              <a:rPr lang="en-US" dirty="0">
                <a:solidFill>
                  <a:srgbClr val="008000"/>
                </a:solidFill>
                <a:effectLst/>
              </a:rPr>
              <a:t> tuple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0000CD"/>
                </a:solidFill>
                <a:effectLst/>
              </a:rPr>
              <a:t>type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28867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 </a:t>
            </a:r>
            <a:r>
              <a:rPr lang="sl-SI" b="1" dirty="0" err="1">
                <a:solidFill>
                  <a:srgbClr val="FF0000"/>
                </a:solidFill>
              </a:rPr>
              <a:t>tuple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</a:rPr>
              <a:t>Elementi </a:t>
            </a:r>
            <a:r>
              <a:rPr lang="it-IT" dirty="0" err="1">
                <a:solidFill>
                  <a:srgbClr val="000000"/>
                </a:solidFill>
                <a:effectLst/>
              </a:rPr>
              <a:t>tuple</a:t>
            </a:r>
            <a:r>
              <a:rPr lang="it-IT" dirty="0">
                <a:solidFill>
                  <a:srgbClr val="000000"/>
                </a:solidFill>
                <a:effectLst/>
              </a:rPr>
              <a:t> so </a:t>
            </a:r>
            <a:r>
              <a:rPr lang="it-IT" dirty="0" err="1">
                <a:solidFill>
                  <a:srgbClr val="000000"/>
                </a:solidFill>
                <a:effectLst/>
              </a:rPr>
              <a:t>lahko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katere</a:t>
            </a:r>
            <a:r>
              <a:rPr lang="it-IT" dirty="0">
                <a:solidFill>
                  <a:srgbClr val="000000"/>
                </a:solidFill>
                <a:effectLst/>
              </a:rPr>
              <a:t> koli </a:t>
            </a:r>
            <a:r>
              <a:rPr lang="it-IT" dirty="0" err="1">
                <a:solidFill>
                  <a:srgbClr val="000000"/>
                </a:solidFill>
                <a:effectLst/>
              </a:rPr>
              <a:t>podatkovne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vrste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Podatkovne vrste </a:t>
            </a:r>
            <a:r>
              <a:rPr lang="sl-SI" dirty="0" err="1">
                <a:solidFill>
                  <a:srgbClr val="000000"/>
                </a:solidFill>
              </a:rPr>
              <a:t>string</a:t>
            </a:r>
            <a:r>
              <a:rPr lang="sl-SI" dirty="0">
                <a:solidFill>
                  <a:srgbClr val="000000"/>
                </a:solidFill>
              </a:rPr>
              <a:t>, </a:t>
            </a:r>
            <a:r>
              <a:rPr lang="sl-SI" dirty="0" err="1">
                <a:solidFill>
                  <a:srgbClr val="000000"/>
                </a:solidFill>
              </a:rPr>
              <a:t>int</a:t>
            </a:r>
            <a:r>
              <a:rPr lang="sl-SI" dirty="0">
                <a:solidFill>
                  <a:srgbClr val="000000"/>
                </a:solidFill>
              </a:rPr>
              <a:t> in </a:t>
            </a:r>
            <a:r>
              <a:rPr lang="sl-SI" dirty="0" err="1">
                <a:solidFill>
                  <a:srgbClr val="000000"/>
                </a:solidFill>
              </a:rPr>
              <a:t>boolean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mojseznam1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mojseznam2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7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mojseznam3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0000CD"/>
                </a:solidFill>
                <a:effectLst/>
              </a:rPr>
              <a:t>True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0000CD"/>
                </a:solidFill>
                <a:effectLst/>
              </a:rPr>
              <a:t>False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0000CD"/>
                </a:solidFill>
                <a:effectLst/>
              </a:rPr>
              <a:t>False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lahko vsebuje različne vrste podatkov.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 err="1">
                <a:solidFill>
                  <a:srgbClr val="A52A2A"/>
                </a:solidFill>
                <a:effectLst/>
              </a:rPr>
              <a:t>abc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34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0000CD"/>
                </a:solidFill>
                <a:effectLst/>
              </a:rPr>
              <a:t>True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40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moski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0312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 </a:t>
            </a:r>
            <a:r>
              <a:rPr lang="sl-SI" b="1" dirty="0" err="1">
                <a:solidFill>
                  <a:srgbClr val="FF0000"/>
                </a:solidFill>
              </a:rPr>
              <a:t>tuple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</a:rPr>
              <a:t>Z </a:t>
            </a:r>
            <a:r>
              <a:rPr lang="it-IT" dirty="0" err="1">
                <a:solidFill>
                  <a:srgbClr val="000000"/>
                </a:solidFill>
                <a:effectLst/>
              </a:rPr>
              <a:t>vidika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Pythona</a:t>
            </a:r>
            <a:r>
              <a:rPr lang="it-IT" dirty="0">
                <a:solidFill>
                  <a:srgbClr val="000000"/>
                </a:solidFill>
                <a:effectLst/>
              </a:rPr>
              <a:t> so </a:t>
            </a:r>
            <a:r>
              <a:rPr lang="it-IT" dirty="0" err="1">
                <a:solidFill>
                  <a:srgbClr val="000000"/>
                </a:solidFill>
                <a:effectLst/>
              </a:rPr>
              <a:t>tupli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definirani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kot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objekti</a:t>
            </a:r>
            <a:r>
              <a:rPr lang="it-IT" dirty="0">
                <a:solidFill>
                  <a:srgbClr val="000000"/>
                </a:solidFill>
                <a:effectLst/>
              </a:rPr>
              <a:t> s </a:t>
            </a:r>
            <a:r>
              <a:rPr lang="it-IT" dirty="0" err="1">
                <a:solidFill>
                  <a:srgbClr val="000000"/>
                </a:solidFill>
                <a:effectLst/>
              </a:rPr>
              <a:t>podatkovnim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tipom</a:t>
            </a:r>
            <a:r>
              <a:rPr lang="it-IT" dirty="0">
                <a:solidFill>
                  <a:srgbClr val="000000"/>
                </a:solidFill>
                <a:effectLst/>
              </a:rPr>
              <a:t> '</a:t>
            </a:r>
            <a:r>
              <a:rPr lang="it-IT" dirty="0" err="1">
                <a:solidFill>
                  <a:srgbClr val="000000"/>
                </a:solidFill>
                <a:effectLst/>
              </a:rPr>
              <a:t>tuple</a:t>
            </a:r>
            <a:r>
              <a:rPr lang="it-IT" dirty="0">
                <a:solidFill>
                  <a:srgbClr val="000000"/>
                </a:solidFill>
                <a:effectLst/>
              </a:rPr>
              <a:t>‘</a:t>
            </a:r>
            <a:r>
              <a:rPr lang="sl-SI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l-PL" dirty="0">
                <a:solidFill>
                  <a:srgbClr val="000000"/>
                </a:solidFill>
              </a:rPr>
              <a:t>Kakšna je podatkovna vrsta tupla?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(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CD"/>
                </a:solidFill>
                <a:effectLst/>
              </a:rPr>
              <a:t>type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Izpis: &lt;</a:t>
            </a:r>
            <a:r>
              <a:rPr lang="sl-SI" dirty="0" err="1">
                <a:solidFill>
                  <a:srgbClr val="008000"/>
                </a:solidFill>
                <a:effectLst/>
              </a:rPr>
              <a:t>class</a:t>
            </a:r>
            <a:r>
              <a:rPr lang="sl-SI" dirty="0">
                <a:solidFill>
                  <a:srgbClr val="008000"/>
                </a:solidFill>
                <a:effectLst/>
              </a:rPr>
              <a:t> ‘</a:t>
            </a:r>
            <a:r>
              <a:rPr lang="sl-SI" dirty="0" err="1">
                <a:solidFill>
                  <a:srgbClr val="008000"/>
                </a:solidFill>
                <a:effectLst/>
              </a:rPr>
              <a:t>tuple</a:t>
            </a:r>
            <a:r>
              <a:rPr lang="sl-SI" dirty="0">
                <a:solidFill>
                  <a:srgbClr val="008000"/>
                </a:solidFill>
                <a:effectLst/>
              </a:rPr>
              <a:t>‘&gt; </a:t>
            </a:r>
            <a:endParaRPr lang="sl-SI" dirty="0"/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63851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 do elementov </a:t>
            </a:r>
            <a:r>
              <a:rPr lang="sl-SI" b="1" dirty="0" err="1">
                <a:solidFill>
                  <a:srgbClr val="FF0000"/>
                </a:solidFill>
              </a:rPr>
              <a:t>tupla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</a:rPr>
              <a:t>Do </a:t>
            </a:r>
            <a:r>
              <a:rPr lang="it-IT" dirty="0" err="1">
                <a:solidFill>
                  <a:srgbClr val="000000"/>
                </a:solidFill>
                <a:effectLst/>
              </a:rPr>
              <a:t>elementov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tuple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lahko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dostopate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tako</a:t>
            </a:r>
            <a:r>
              <a:rPr lang="it-IT" dirty="0">
                <a:solidFill>
                  <a:srgbClr val="000000"/>
                </a:solidFill>
                <a:effectLst/>
              </a:rPr>
              <a:t>, da se </a:t>
            </a:r>
            <a:r>
              <a:rPr lang="it-IT" dirty="0" err="1">
                <a:solidFill>
                  <a:srgbClr val="000000"/>
                </a:solidFill>
                <a:effectLst/>
              </a:rPr>
              <a:t>sklicujete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na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številko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indeksa</a:t>
            </a:r>
            <a:r>
              <a:rPr lang="it-IT" dirty="0">
                <a:solidFill>
                  <a:srgbClr val="000000"/>
                </a:solidFill>
                <a:effectLst/>
              </a:rPr>
              <a:t> v </a:t>
            </a:r>
            <a:r>
              <a:rPr lang="it-IT" dirty="0" err="1">
                <a:solidFill>
                  <a:srgbClr val="000000"/>
                </a:solidFill>
                <a:effectLst/>
              </a:rPr>
              <a:t>oglatih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oklepajih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pl-PL" dirty="0">
                <a:solidFill>
                  <a:srgbClr val="000000"/>
                </a:solidFill>
              </a:rPr>
              <a:t>Primer: Izpišite drugi element v nizu: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Negativno indeksiranje pomeni, da začnete s konca.</a:t>
            </a:r>
          </a:p>
          <a:p>
            <a:r>
              <a:rPr lang="sl-SI" dirty="0">
                <a:solidFill>
                  <a:srgbClr val="000000"/>
                </a:solidFill>
              </a:rPr>
              <a:t>-1 se nanaša na zadnji element, -2 se nanaša na predzadnji element itd.</a:t>
            </a: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12141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 do elementov </a:t>
            </a:r>
            <a:r>
              <a:rPr lang="sl-SI" b="1" dirty="0" err="1">
                <a:solidFill>
                  <a:srgbClr val="FF0000"/>
                </a:solidFill>
              </a:rPr>
              <a:t>tupla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Primer: </a:t>
            </a:r>
            <a:r>
              <a:rPr lang="pl-PL" dirty="0">
                <a:solidFill>
                  <a:srgbClr val="000000"/>
                </a:solidFill>
                <a:effectLst/>
              </a:rPr>
              <a:t>Izpišite zadnjo postavko s seznama: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[-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Določite lahko območje indeksov tako, da določite, kje naj se območje začne in kje naj se konča.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Če navedete razpon, bo vrnjena vrednost nov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z navedenimi elementi.</a:t>
            </a: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15233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 do elementov </a:t>
            </a:r>
            <a:r>
              <a:rPr lang="sl-SI" b="1" dirty="0" err="1">
                <a:solidFill>
                  <a:srgbClr val="FF0000"/>
                </a:solidFill>
              </a:rPr>
              <a:t>tupla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Primer: </a:t>
            </a:r>
            <a:r>
              <a:rPr lang="it-IT" dirty="0" err="1">
                <a:solidFill>
                  <a:srgbClr val="000000"/>
                </a:solidFill>
                <a:effectLst/>
              </a:rPr>
              <a:t>Vrnite</a:t>
            </a:r>
            <a:r>
              <a:rPr lang="it-IT" dirty="0">
                <a:solidFill>
                  <a:srgbClr val="000000"/>
                </a:solidFill>
                <a:effectLst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</a:rPr>
              <a:t>tretji</a:t>
            </a:r>
            <a:r>
              <a:rPr lang="it-IT" dirty="0">
                <a:solidFill>
                  <a:srgbClr val="000000"/>
                </a:solidFill>
                <a:effectLst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</a:rPr>
              <a:t>četrti</a:t>
            </a:r>
            <a:r>
              <a:rPr lang="it-IT" dirty="0">
                <a:solidFill>
                  <a:srgbClr val="000000"/>
                </a:solidFill>
                <a:effectLst/>
              </a:rPr>
              <a:t> in peti </a:t>
            </a:r>
            <a:r>
              <a:rPr lang="it-IT" dirty="0" err="1">
                <a:solidFill>
                  <a:srgbClr val="000000"/>
                </a:solidFill>
                <a:effectLst/>
              </a:rPr>
              <a:t>element</a:t>
            </a:r>
            <a:r>
              <a:rPr lang="it-IT" dirty="0">
                <a:solidFill>
                  <a:srgbClr val="000000"/>
                </a:solidFill>
                <a:effectLst/>
              </a:rPr>
              <a:t>: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(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"mandarina"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"melona"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[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:</a:t>
            </a:r>
            <a:r>
              <a:rPr lang="sl-SI" dirty="0">
                <a:solidFill>
                  <a:srgbClr val="FF0000"/>
                </a:solidFill>
                <a:effectLst/>
              </a:rPr>
              <a:t>5</a:t>
            </a:r>
            <a:r>
              <a:rPr lang="sl-SI" dirty="0">
                <a:solidFill>
                  <a:srgbClr val="000000"/>
                </a:solidFill>
                <a:effectLst/>
              </a:rPr>
              <a:t>])</a:t>
            </a:r>
          </a:p>
          <a:p>
            <a:r>
              <a:rPr lang="sl-SI" dirty="0">
                <a:solidFill>
                  <a:srgbClr val="000000"/>
                </a:solidFill>
              </a:rPr>
              <a:t>Opomba: Iskanje se začne pri indeksu 2 (vključen) in konča pri indeksu 5 (ni vključen).</a:t>
            </a:r>
          </a:p>
          <a:p>
            <a:r>
              <a:rPr lang="sl-SI" dirty="0">
                <a:solidFill>
                  <a:srgbClr val="000000"/>
                </a:solidFill>
              </a:rPr>
              <a:t>Če izpustite začetno vrednost, se bo območje začelo pri prvem elementu.</a:t>
            </a:r>
          </a:p>
          <a:p>
            <a:r>
              <a:rPr lang="sl-SI" dirty="0">
                <a:solidFill>
                  <a:srgbClr val="000000"/>
                </a:solidFill>
              </a:rPr>
              <a:t>Če izpustite končno vrednost, bo območje segalo do konca seznama:</a:t>
            </a:r>
          </a:p>
        </p:txBody>
      </p:sp>
    </p:spTree>
    <p:extLst>
      <p:ext uri="{BB962C8B-B14F-4D97-AF65-F5344CB8AC3E}">
        <p14:creationId xmlns:p14="http://schemas.microsoft.com/office/powerpoint/2010/main" val="135274235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 do elementov </a:t>
            </a:r>
            <a:r>
              <a:rPr lang="sl-SI" b="1" dirty="0" err="1">
                <a:solidFill>
                  <a:srgbClr val="FF0000"/>
                </a:solidFill>
              </a:rPr>
              <a:t>tupla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Če želite ugotoviti, ali je določen element prisoten v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tuplu</a:t>
            </a:r>
            <a:r>
              <a:rPr lang="sl-SI" dirty="0">
                <a:solidFill>
                  <a:srgbClr val="000000"/>
                </a:solidFill>
                <a:effectLst/>
              </a:rPr>
              <a:t>, uporabite ključno besedo in.</a:t>
            </a:r>
          </a:p>
          <a:p>
            <a:r>
              <a:rPr lang="sl-SI" dirty="0">
                <a:solidFill>
                  <a:srgbClr val="000000"/>
                </a:solidFill>
              </a:rPr>
              <a:t>Primer: Preverite, ali je beseda "jabolko" prisotna na seznamu:</a:t>
            </a:r>
          </a:p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Da</a:t>
            </a:r>
            <a:r>
              <a:rPr lang="en-US" dirty="0">
                <a:solidFill>
                  <a:srgbClr val="A52A2A"/>
                </a:solidFill>
                <a:effectLst/>
              </a:rPr>
              <a:t>, '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‘ </a:t>
            </a:r>
            <a:r>
              <a:rPr lang="sl-SI" dirty="0">
                <a:solidFill>
                  <a:srgbClr val="A52A2A"/>
                </a:solidFill>
                <a:effectLst/>
              </a:rPr>
              <a:t>je prisoten na seznamu!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98298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Posodabljanje </a:t>
            </a:r>
            <a:r>
              <a:rPr lang="sl-SI" b="1" dirty="0" err="1">
                <a:solidFill>
                  <a:srgbClr val="FF0000"/>
                </a:solidFill>
              </a:rPr>
              <a:t>tuplov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Ko je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tuple</a:t>
            </a:r>
            <a:r>
              <a:rPr lang="sl-SI" dirty="0">
                <a:solidFill>
                  <a:srgbClr val="000000"/>
                </a:solidFill>
                <a:effectLst/>
              </a:rPr>
              <a:t> ustvarjen, njegovih vrednosti ne morete spreminjati.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Tupli</a:t>
            </a:r>
            <a:r>
              <a:rPr lang="sl-SI" dirty="0">
                <a:solidFill>
                  <a:srgbClr val="000000"/>
                </a:solidFill>
                <a:effectLst/>
              </a:rPr>
              <a:t> so nespremenljivi ali nespremenljivi, kot se temu tudi reče.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Vendar obstaja rešitev.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Tuple</a:t>
            </a:r>
            <a:r>
              <a:rPr lang="sl-SI" dirty="0">
                <a:solidFill>
                  <a:srgbClr val="000000"/>
                </a:solidFill>
                <a:effectLst/>
              </a:rPr>
              <a:t> lahko pretvorite v seznam, spremenite seznam in seznam pretvorite nazaj v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tuple</a:t>
            </a:r>
            <a:r>
              <a:rPr lang="sl-SI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it-IT" dirty="0" err="1">
                <a:solidFill>
                  <a:srgbClr val="000000"/>
                </a:solidFill>
              </a:rPr>
              <a:t>Tuple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dirty="0" err="1">
                <a:solidFill>
                  <a:srgbClr val="000000"/>
                </a:solidFill>
              </a:rPr>
              <a:t>pretvorite</a:t>
            </a:r>
            <a:r>
              <a:rPr lang="it-IT" dirty="0">
                <a:solidFill>
                  <a:srgbClr val="000000"/>
                </a:solidFill>
              </a:rPr>
              <a:t> v </a:t>
            </a:r>
            <a:r>
              <a:rPr lang="it-IT" dirty="0" err="1">
                <a:solidFill>
                  <a:srgbClr val="000000"/>
                </a:solidFill>
              </a:rPr>
              <a:t>seznam</a:t>
            </a:r>
            <a:r>
              <a:rPr lang="it-IT" dirty="0">
                <a:solidFill>
                  <a:srgbClr val="000000"/>
                </a:solidFill>
              </a:rPr>
              <a:t>, da </a:t>
            </a:r>
            <a:r>
              <a:rPr lang="it-IT" dirty="0" err="1">
                <a:solidFill>
                  <a:srgbClr val="000000"/>
                </a:solidFill>
              </a:rPr>
              <a:t>ga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dirty="0" err="1">
                <a:solidFill>
                  <a:srgbClr val="000000"/>
                </a:solidFill>
              </a:rPr>
              <a:t>lahko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dirty="0" err="1">
                <a:solidFill>
                  <a:srgbClr val="000000"/>
                </a:solidFill>
              </a:rPr>
              <a:t>spremenite</a:t>
            </a:r>
            <a:r>
              <a:rPr lang="it-IT" dirty="0">
                <a:solidFill>
                  <a:srgbClr val="000000"/>
                </a:solidFill>
              </a:rPr>
              <a:t>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rgbClr val="000000"/>
                </a:solidFill>
                <a:effectLst/>
              </a:rPr>
              <a:t>x = (</a:t>
            </a:r>
            <a:r>
              <a:rPr lang="es-E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s-ES" dirty="0">
                <a:solidFill>
                  <a:srgbClr val="A52A2A"/>
                </a:solidFill>
                <a:effectLst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</a:rPr>
              <a:t>, </a:t>
            </a:r>
            <a:r>
              <a:rPr lang="es-ES" dirty="0">
                <a:solidFill>
                  <a:srgbClr val="A52A2A"/>
                </a:solidFill>
                <a:effectLst/>
              </a:rPr>
              <a:t>"banana"</a:t>
            </a:r>
            <a:r>
              <a:rPr lang="es-ES" dirty="0">
                <a:solidFill>
                  <a:srgbClr val="000000"/>
                </a:solidFill>
                <a:effectLst/>
              </a:rPr>
              <a:t>, </a:t>
            </a:r>
            <a:r>
              <a:rPr lang="es-E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s-ES" dirty="0">
                <a:solidFill>
                  <a:srgbClr val="A52A2A"/>
                </a:solidFill>
                <a:effectLst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</a:rPr>
              <a:t>)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00"/>
                </a:solidFill>
                <a:effectLst/>
              </a:rPr>
              <a:t>y = </a:t>
            </a:r>
            <a:r>
              <a:rPr lang="es-ES" dirty="0">
                <a:solidFill>
                  <a:srgbClr val="0000CD"/>
                </a:solidFill>
                <a:effectLst/>
              </a:rPr>
              <a:t>list</a:t>
            </a:r>
            <a:r>
              <a:rPr lang="es-ES" dirty="0">
                <a:solidFill>
                  <a:srgbClr val="000000"/>
                </a:solidFill>
                <a:effectLst/>
              </a:rPr>
              <a:t>(x)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00"/>
                </a:solidFill>
                <a:effectLst/>
              </a:rPr>
              <a:t>y[</a:t>
            </a:r>
            <a:r>
              <a:rPr lang="es-ES" dirty="0">
                <a:solidFill>
                  <a:srgbClr val="FF0000"/>
                </a:solidFill>
                <a:effectLst/>
              </a:rPr>
              <a:t>1</a:t>
            </a:r>
            <a:r>
              <a:rPr lang="es-ES" dirty="0">
                <a:solidFill>
                  <a:srgbClr val="000000"/>
                </a:solidFill>
                <a:effectLst/>
              </a:rPr>
              <a:t>] = </a:t>
            </a:r>
            <a:r>
              <a:rPr lang="es-E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kivi</a:t>
            </a:r>
            <a:r>
              <a:rPr lang="es-ES" dirty="0">
                <a:solidFill>
                  <a:srgbClr val="A52A2A"/>
                </a:solidFill>
                <a:effectLst/>
              </a:rPr>
              <a:t>"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00"/>
                </a:solidFill>
                <a:effectLst/>
              </a:rPr>
              <a:t>x = </a:t>
            </a:r>
            <a:r>
              <a:rPr lang="es-ES" dirty="0">
                <a:solidFill>
                  <a:srgbClr val="0000CD"/>
                </a:solidFill>
                <a:effectLst/>
              </a:rPr>
              <a:t>tuple</a:t>
            </a:r>
            <a:r>
              <a:rPr lang="es-ES" dirty="0">
                <a:solidFill>
                  <a:srgbClr val="000000"/>
                </a:solidFill>
                <a:effectLst/>
              </a:rPr>
              <a:t>(y)</a:t>
            </a:r>
            <a:br>
              <a:rPr lang="es-ES" dirty="0">
                <a:solidFill>
                  <a:srgbClr val="000000"/>
                </a:solidFill>
                <a:effectLst/>
              </a:rPr>
            </a:br>
            <a:br>
              <a:rPr lang="es-ES" dirty="0">
                <a:solidFill>
                  <a:srgbClr val="000000"/>
                </a:solidFill>
                <a:effectLst/>
              </a:rPr>
            </a:br>
            <a:r>
              <a:rPr lang="es-ES" dirty="0">
                <a:solidFill>
                  <a:srgbClr val="0000CD"/>
                </a:solidFill>
                <a:effectLst/>
              </a:rPr>
              <a:t>print</a:t>
            </a:r>
            <a:r>
              <a:rPr lang="es-E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68836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Ker so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tupli</a:t>
            </a:r>
            <a:r>
              <a:rPr lang="sl-SI" dirty="0">
                <a:solidFill>
                  <a:srgbClr val="000000"/>
                </a:solidFill>
                <a:effectLst/>
              </a:rPr>
              <a:t> nespremenljivi, nimajo vgrajene metode </a:t>
            </a:r>
            <a:r>
              <a:rPr lang="sl-SI" dirty="0" err="1">
                <a:solidFill>
                  <a:srgbClr val="000000"/>
                </a:solidFill>
                <a:effectLst/>
              </a:rPr>
              <a:t>append</a:t>
            </a:r>
            <a:r>
              <a:rPr lang="sl-SI" dirty="0">
                <a:solidFill>
                  <a:srgbClr val="000000"/>
                </a:solidFill>
                <a:effectLst/>
              </a:rPr>
              <a:t>(), vendar obstajajo drugi načini dodajanja elementov v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tuple</a:t>
            </a:r>
            <a:r>
              <a:rPr lang="sl-SI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1.Način: Pretvarjanje v seznam; Podobno kot pri spreminjanju </a:t>
            </a:r>
            <a:r>
              <a:rPr lang="sl-SI" dirty="0" err="1">
                <a:solidFill>
                  <a:srgbClr val="000000"/>
                </a:solidFill>
                <a:effectLst/>
              </a:rPr>
              <a:t>tupla</a:t>
            </a:r>
            <a:r>
              <a:rPr lang="sl-SI" dirty="0">
                <a:solidFill>
                  <a:srgbClr val="000000"/>
                </a:solidFill>
                <a:effectLst/>
              </a:rPr>
              <a:t> ga lahko pretvorite v seznam, dodate elemente in ga pretvorite nazaj v </a:t>
            </a:r>
            <a:r>
              <a:rPr lang="sl-SI" dirty="0" err="1">
                <a:solidFill>
                  <a:srgbClr val="000000"/>
                </a:solidFill>
                <a:effectLst/>
              </a:rPr>
              <a:t>tupel</a:t>
            </a:r>
            <a:r>
              <a:rPr lang="sl-SI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pretvorite v seznam, dodajte "kivi" in ga pretvorite nazaj v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y = </a:t>
            </a:r>
            <a:r>
              <a:rPr lang="en-US" dirty="0">
                <a:solidFill>
                  <a:srgbClr val="0000CD"/>
                </a:solidFill>
                <a:effectLst/>
              </a:rPr>
              <a:t>list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 err="1">
                <a:solidFill>
                  <a:srgbClr val="000000"/>
                </a:solidFill>
                <a:effectLst/>
              </a:rPr>
              <a:t>y.append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kivi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 err="1">
                <a:solidFill>
                  <a:srgbClr val="000000"/>
                </a:solidFill>
                <a:effectLst/>
              </a:rPr>
              <a:t>thistuple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0000CD"/>
                </a:solidFill>
                <a:effectLst/>
              </a:rPr>
              <a:t>tuple</a:t>
            </a:r>
            <a:r>
              <a:rPr lang="en-US" dirty="0">
                <a:solidFill>
                  <a:srgbClr val="000000"/>
                </a:solidFill>
                <a:effectLst/>
              </a:rPr>
              <a:t>(y)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61756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</a:t>
            </a:r>
            <a:r>
              <a:rPr lang="sl-SI" dirty="0"/>
              <a:t> Način: Dodajanje </a:t>
            </a:r>
            <a:r>
              <a:rPr lang="sl-SI" dirty="0" err="1"/>
              <a:t>tuple</a:t>
            </a:r>
            <a:r>
              <a:rPr lang="sl-SI" dirty="0"/>
              <a:t> v </a:t>
            </a:r>
            <a:r>
              <a:rPr lang="sl-SI" dirty="0" err="1"/>
              <a:t>tuple</a:t>
            </a:r>
            <a:r>
              <a:rPr lang="sl-SI" dirty="0"/>
              <a:t>. </a:t>
            </a:r>
            <a:r>
              <a:rPr lang="sl-SI" dirty="0" err="1"/>
              <a:t>Tuple</a:t>
            </a:r>
            <a:r>
              <a:rPr lang="sl-SI" dirty="0"/>
              <a:t> lahko dodajate v </a:t>
            </a:r>
            <a:r>
              <a:rPr lang="sl-SI" dirty="0" err="1"/>
              <a:t>tuple</a:t>
            </a:r>
            <a:r>
              <a:rPr lang="sl-SI" dirty="0"/>
              <a:t>, zato, če želite dodati en element (ali več elementov), ustvarite nov </a:t>
            </a:r>
            <a:r>
              <a:rPr lang="sl-SI" dirty="0" err="1"/>
              <a:t>tuple</a:t>
            </a:r>
            <a:r>
              <a:rPr lang="sl-SI" dirty="0"/>
              <a:t> z elementi in ga dodajte obstoječemu </a:t>
            </a:r>
            <a:r>
              <a:rPr lang="sl-SI" dirty="0" err="1"/>
              <a:t>tuplu</a:t>
            </a:r>
            <a:r>
              <a:rPr lang="sl-SI" dirty="0"/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Ustvarite nov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z vrednostjo "kivi" in dodajte ta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y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kivi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+= y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enako kot </a:t>
            </a:r>
            <a:r>
              <a:rPr lang="sl-SI" dirty="0" err="1">
                <a:solidFill>
                  <a:srgbClr val="008000"/>
                </a:solidFill>
                <a:effectLst/>
              </a:rPr>
              <a:t>mojseznam</a:t>
            </a:r>
            <a:r>
              <a:rPr lang="sl-SI" dirty="0">
                <a:solidFill>
                  <a:srgbClr val="008000"/>
                </a:solidFill>
                <a:effectLst/>
              </a:rPr>
              <a:t>=</a:t>
            </a:r>
            <a:r>
              <a:rPr lang="sl-SI" dirty="0" err="1">
                <a:solidFill>
                  <a:srgbClr val="008000"/>
                </a:solidFill>
                <a:effectLst/>
              </a:rPr>
              <a:t>mojseznam+y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75302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2.</a:t>
            </a:r>
            <a:r>
              <a:rPr lang="sl-SI" dirty="0"/>
              <a:t> Način: Dodajanje </a:t>
            </a:r>
            <a:r>
              <a:rPr lang="sl-SI" dirty="0" err="1"/>
              <a:t>tuple</a:t>
            </a:r>
            <a:r>
              <a:rPr lang="sl-SI" dirty="0"/>
              <a:t> v </a:t>
            </a:r>
            <a:r>
              <a:rPr lang="sl-SI" dirty="0" err="1"/>
              <a:t>tuple</a:t>
            </a:r>
            <a:r>
              <a:rPr lang="sl-SI" dirty="0"/>
              <a:t>. </a:t>
            </a:r>
            <a:r>
              <a:rPr lang="sl-SI" dirty="0" err="1"/>
              <a:t>Tuple</a:t>
            </a:r>
            <a:r>
              <a:rPr lang="sl-SI" dirty="0"/>
              <a:t> lahko dodajate v </a:t>
            </a:r>
            <a:r>
              <a:rPr lang="sl-SI" dirty="0" err="1"/>
              <a:t>tuple</a:t>
            </a:r>
            <a:r>
              <a:rPr lang="sl-SI" dirty="0"/>
              <a:t>, zato, če želite dodati en element (ali več elementov), ustvarite nov </a:t>
            </a:r>
            <a:r>
              <a:rPr lang="sl-SI" dirty="0" err="1"/>
              <a:t>tuple</a:t>
            </a:r>
            <a:r>
              <a:rPr lang="sl-SI" dirty="0"/>
              <a:t> z elementi in ga dodajte obstoječemu </a:t>
            </a:r>
            <a:r>
              <a:rPr lang="sl-SI" dirty="0" err="1"/>
              <a:t>tuplu</a:t>
            </a:r>
            <a:r>
              <a:rPr lang="sl-SI" dirty="0"/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Ustvarite nov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z vrednostjo "kivi" in dodajte ta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y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kivi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+= y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enako kot </a:t>
            </a:r>
            <a:r>
              <a:rPr lang="sl-SI" dirty="0" err="1">
                <a:solidFill>
                  <a:srgbClr val="008000"/>
                </a:solidFill>
                <a:effectLst/>
              </a:rPr>
              <a:t>mojseznam</a:t>
            </a:r>
            <a:r>
              <a:rPr lang="sl-SI" dirty="0">
                <a:solidFill>
                  <a:srgbClr val="008000"/>
                </a:solidFill>
                <a:effectLst/>
              </a:rPr>
              <a:t>=</a:t>
            </a:r>
            <a:r>
              <a:rPr lang="sl-SI" dirty="0" err="1">
                <a:solidFill>
                  <a:srgbClr val="008000"/>
                </a:solidFill>
                <a:effectLst/>
              </a:rPr>
              <a:t>mojseznam+y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Opomba: Ko ustvarjate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z enim samim elementom, ne pozabite za elementom dodati vejice, sicer ne bo prepoznan kot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90698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Opomba</a:t>
            </a:r>
            <a:r>
              <a:rPr lang="en-US" dirty="0"/>
              <a:t>: </a:t>
            </a:r>
            <a:r>
              <a:rPr lang="en-US" dirty="0" err="1"/>
              <a:t>Elementov</a:t>
            </a:r>
            <a:r>
              <a:rPr lang="en-US" dirty="0"/>
              <a:t> v </a:t>
            </a:r>
            <a:r>
              <a:rPr lang="en-US" dirty="0" err="1"/>
              <a:t>tuplu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mogoče</a:t>
            </a:r>
            <a:r>
              <a:rPr lang="en-US" dirty="0"/>
              <a:t> </a:t>
            </a:r>
            <a:r>
              <a:rPr lang="en-US" dirty="0" err="1"/>
              <a:t>odstraniti</a:t>
            </a:r>
            <a:r>
              <a:rPr lang="en-US" dirty="0"/>
              <a:t>.</a:t>
            </a:r>
          </a:p>
          <a:p>
            <a:r>
              <a:rPr lang="en-US" dirty="0" err="1"/>
              <a:t>Tuplov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mogoče</a:t>
            </a:r>
            <a:r>
              <a:rPr lang="en-US" dirty="0"/>
              <a:t> </a:t>
            </a:r>
            <a:r>
              <a:rPr lang="en-US" dirty="0" err="1"/>
              <a:t>spreminjati</a:t>
            </a:r>
            <a:r>
              <a:rPr lang="en-US" dirty="0"/>
              <a:t>,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ne </a:t>
            </a:r>
            <a:r>
              <a:rPr lang="en-US" dirty="0" err="1"/>
              <a:t>morete</a:t>
            </a:r>
            <a:r>
              <a:rPr lang="en-US" dirty="0"/>
              <a:t> </a:t>
            </a:r>
            <a:r>
              <a:rPr lang="en-US" dirty="0" err="1"/>
              <a:t>odstraniti</a:t>
            </a:r>
            <a:r>
              <a:rPr lang="en-US" dirty="0"/>
              <a:t> </a:t>
            </a:r>
            <a:r>
              <a:rPr lang="en-US" dirty="0" err="1"/>
              <a:t>elementov</a:t>
            </a:r>
            <a:r>
              <a:rPr lang="en-US" dirty="0"/>
              <a:t>, </a:t>
            </a:r>
            <a:r>
              <a:rPr lang="en-US" dirty="0" err="1"/>
              <a:t>lahko</a:t>
            </a:r>
            <a:r>
              <a:rPr lang="en-US" dirty="0"/>
              <a:t> pa </a:t>
            </a:r>
            <a:r>
              <a:rPr lang="en-US" dirty="0" err="1"/>
              <a:t>uporabite</a:t>
            </a:r>
            <a:r>
              <a:rPr lang="en-US" dirty="0"/>
              <a:t> </a:t>
            </a:r>
            <a:r>
              <a:rPr lang="en-US" dirty="0" err="1"/>
              <a:t>enako</a:t>
            </a:r>
            <a:r>
              <a:rPr lang="en-US" dirty="0"/>
              <a:t> </a:t>
            </a:r>
            <a:r>
              <a:rPr lang="en-US" dirty="0" err="1"/>
              <a:t>rešitev</a:t>
            </a:r>
            <a:r>
              <a:rPr lang="en-US" dirty="0"/>
              <a:t>, </a:t>
            </a:r>
            <a:r>
              <a:rPr lang="en-US" dirty="0" err="1"/>
              <a:t>kot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jo </a:t>
            </a:r>
            <a:r>
              <a:rPr lang="en-US" dirty="0" err="1"/>
              <a:t>uporabili</a:t>
            </a:r>
            <a:r>
              <a:rPr lang="en-US" dirty="0"/>
              <a:t> za </a:t>
            </a:r>
            <a:r>
              <a:rPr lang="en-US" dirty="0" err="1"/>
              <a:t>spreminjanje</a:t>
            </a:r>
            <a:r>
              <a:rPr lang="en-US" dirty="0"/>
              <a:t> in </a:t>
            </a:r>
            <a:r>
              <a:rPr lang="en-US" dirty="0" err="1"/>
              <a:t>dodajanje</a:t>
            </a:r>
            <a:r>
              <a:rPr lang="en-US" dirty="0"/>
              <a:t> </a:t>
            </a:r>
            <a:r>
              <a:rPr lang="en-US" dirty="0" err="1"/>
              <a:t>elementov</a:t>
            </a:r>
            <a:r>
              <a:rPr lang="en-US" dirty="0"/>
              <a:t> </a:t>
            </a:r>
            <a:r>
              <a:rPr lang="en-US" dirty="0" err="1"/>
              <a:t>tuplov</a:t>
            </a:r>
            <a:r>
              <a:rPr lang="sl-SI" dirty="0"/>
              <a:t>.</a:t>
            </a:r>
          </a:p>
          <a:p>
            <a:r>
              <a:rPr lang="sl-SI" dirty="0"/>
              <a:t>Primer: </a:t>
            </a:r>
            <a:r>
              <a:rPr lang="sl-SI" dirty="0" err="1"/>
              <a:t>Tuple</a:t>
            </a:r>
            <a:r>
              <a:rPr lang="sl-SI" dirty="0"/>
              <a:t> pretvorite v seznam, odstranite "jabolko" in ga pretvorite nazaj v </a:t>
            </a:r>
            <a:r>
              <a:rPr lang="sl-SI" dirty="0" err="1"/>
              <a:t>tuple</a:t>
            </a:r>
            <a:r>
              <a:rPr lang="sl-SI" dirty="0"/>
              <a:t>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y = </a:t>
            </a:r>
            <a:r>
              <a:rPr lang="en-US" dirty="0">
                <a:solidFill>
                  <a:srgbClr val="0000CD"/>
                </a:solidFill>
                <a:effectLst/>
              </a:rPr>
              <a:t>list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 err="1">
                <a:solidFill>
                  <a:srgbClr val="000000"/>
                </a:solidFill>
                <a:effectLst/>
              </a:rPr>
              <a:t>y.remove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0000CD"/>
                </a:solidFill>
                <a:effectLst/>
              </a:rPr>
              <a:t>tuple</a:t>
            </a:r>
            <a:r>
              <a:rPr lang="en-US" dirty="0">
                <a:solidFill>
                  <a:srgbClr val="000000"/>
                </a:solidFill>
                <a:effectLst/>
              </a:rPr>
              <a:t>(y)</a:t>
            </a:r>
            <a:endParaRPr lang="sl-SI" dirty="0"/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45037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Lahko</a:t>
            </a:r>
            <a:r>
              <a:rPr lang="en-US" dirty="0"/>
              <a:t> pa tuple v </a:t>
            </a:r>
            <a:r>
              <a:rPr lang="en-US" dirty="0" err="1"/>
              <a:t>celoti</a:t>
            </a:r>
            <a:r>
              <a:rPr lang="en-US" dirty="0"/>
              <a:t> </a:t>
            </a:r>
            <a:r>
              <a:rPr lang="en-US" dirty="0" err="1"/>
              <a:t>izbrišete</a:t>
            </a:r>
            <a:r>
              <a:rPr lang="sl-SI" dirty="0"/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S ključno besedo del lahko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popolnoma izbrišete.</a:t>
            </a:r>
          </a:p>
          <a:p>
            <a:r>
              <a:rPr lang="sl-SI" dirty="0">
                <a:solidFill>
                  <a:srgbClr val="000000"/>
                </a:solidFill>
              </a:rPr>
              <a:t>Primer: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del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tukaj tolmač javi napako, saj </a:t>
            </a:r>
            <a:r>
              <a:rPr lang="sl-SI" dirty="0" err="1">
                <a:solidFill>
                  <a:srgbClr val="008000"/>
                </a:solidFill>
                <a:effectLst/>
              </a:rPr>
              <a:t>tuple</a:t>
            </a:r>
            <a:r>
              <a:rPr lang="sl-SI" dirty="0">
                <a:solidFill>
                  <a:srgbClr val="008000"/>
                </a:solidFill>
                <a:effectLst/>
              </a:rPr>
              <a:t> ne obstaja več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59741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Razpakiranje</a:t>
            </a:r>
            <a:r>
              <a:rPr lang="sl-SI" b="1" dirty="0">
                <a:solidFill>
                  <a:srgbClr val="FF0000"/>
                </a:solidFill>
              </a:rPr>
              <a:t> </a:t>
            </a:r>
            <a:r>
              <a:rPr lang="sl-SI" b="1" dirty="0" err="1">
                <a:solidFill>
                  <a:srgbClr val="FF0000"/>
                </a:solidFill>
              </a:rPr>
              <a:t>tupla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Ko </a:t>
            </a:r>
            <a:r>
              <a:rPr lang="en-US" dirty="0" err="1"/>
              <a:t>ustvarimo</a:t>
            </a:r>
            <a:r>
              <a:rPr lang="en-US" dirty="0"/>
              <a:t> tuple, mu </a:t>
            </a:r>
            <a:r>
              <a:rPr lang="en-US" dirty="0" err="1"/>
              <a:t>običajno</a:t>
            </a:r>
            <a:r>
              <a:rPr lang="en-US" dirty="0"/>
              <a:t> </a:t>
            </a:r>
            <a:r>
              <a:rPr lang="en-US" dirty="0" err="1"/>
              <a:t>dodelimo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. </a:t>
            </a:r>
            <a:r>
              <a:rPr lang="en-US" dirty="0" err="1"/>
              <a:t>Temu</a:t>
            </a:r>
            <a:r>
              <a:rPr lang="en-US" dirty="0"/>
              <a:t> </a:t>
            </a:r>
            <a:r>
              <a:rPr lang="en-US" dirty="0" err="1"/>
              <a:t>pravimo</a:t>
            </a:r>
            <a:r>
              <a:rPr lang="en-US" dirty="0"/>
              <a:t> "</a:t>
            </a:r>
            <a:r>
              <a:rPr lang="en-US" dirty="0" err="1"/>
              <a:t>pakiranje</a:t>
            </a:r>
            <a:r>
              <a:rPr lang="en-US" dirty="0"/>
              <a:t>" tuple</a:t>
            </a:r>
            <a:r>
              <a:rPr lang="sl-SI" dirty="0"/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Pakiranje </a:t>
            </a:r>
            <a:r>
              <a:rPr lang="sl-SI" dirty="0" err="1">
                <a:solidFill>
                  <a:srgbClr val="000000"/>
                </a:solidFill>
              </a:rPr>
              <a:t>tupla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sadje= (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sl-SI" dirty="0">
                <a:solidFill>
                  <a:srgbClr val="000000"/>
                </a:solidFill>
              </a:rPr>
              <a:t>V </a:t>
            </a:r>
            <a:r>
              <a:rPr lang="sl-SI" dirty="0" err="1">
                <a:solidFill>
                  <a:srgbClr val="000000"/>
                </a:solidFill>
              </a:rPr>
              <a:t>Pythonu</a:t>
            </a:r>
            <a:r>
              <a:rPr lang="sl-SI" dirty="0">
                <a:solidFill>
                  <a:srgbClr val="000000"/>
                </a:solidFill>
              </a:rPr>
              <a:t> pa lahko vrednosti tudi izvlečemo nazaj v spremenljivke. Temu pravimo "</a:t>
            </a:r>
            <a:r>
              <a:rPr lang="sl-SI" dirty="0" err="1">
                <a:solidFill>
                  <a:srgbClr val="000000"/>
                </a:solidFill>
              </a:rPr>
              <a:t>razpakiranje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zelena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000000"/>
                </a:solidFill>
                <a:effectLst/>
              </a:rPr>
              <a:t>rumena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 err="1">
                <a:solidFill>
                  <a:srgbClr val="000000"/>
                </a:solidFill>
                <a:effectLst/>
              </a:rPr>
              <a:t>rdeca</a:t>
            </a:r>
            <a:r>
              <a:rPr lang="en-US" dirty="0">
                <a:solidFill>
                  <a:srgbClr val="000000"/>
                </a:solidFill>
                <a:effectLst/>
              </a:rPr>
              <a:t>) =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zelena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rumena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rdeca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Opomba: Število spremenljivk se mora ujemati s številom vrednosti v </a:t>
            </a:r>
            <a:r>
              <a:rPr lang="sl-SI" dirty="0" err="1">
                <a:solidFill>
                  <a:srgbClr val="000000"/>
                </a:solidFill>
              </a:rPr>
              <a:t>tuplu</a:t>
            </a:r>
            <a:r>
              <a:rPr lang="sl-SI" dirty="0">
                <a:solidFill>
                  <a:srgbClr val="000000"/>
                </a:solidFill>
              </a:rPr>
              <a:t>, v nasprotnem primeru morate uporabiti zvezdico za zbiranje preostalih vrednosti kot seznam.</a:t>
            </a: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2230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Uporaba zvezdice (*)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Če</a:t>
            </a:r>
            <a:r>
              <a:rPr lang="en-US" dirty="0"/>
              <a:t> je </a:t>
            </a:r>
            <a:r>
              <a:rPr lang="en-US" dirty="0" err="1"/>
              <a:t>število</a:t>
            </a:r>
            <a:r>
              <a:rPr lang="en-US" dirty="0"/>
              <a:t> </a:t>
            </a:r>
            <a:r>
              <a:rPr lang="en-US" dirty="0" err="1"/>
              <a:t>spremenljivk</a:t>
            </a:r>
            <a:r>
              <a:rPr lang="en-US" dirty="0"/>
              <a:t> </a:t>
            </a:r>
            <a:r>
              <a:rPr lang="en-US" dirty="0" err="1"/>
              <a:t>manjše</a:t>
            </a:r>
            <a:r>
              <a:rPr lang="en-US" dirty="0"/>
              <a:t> od </a:t>
            </a:r>
            <a:r>
              <a:rPr lang="en-US" dirty="0" err="1"/>
              <a:t>števila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,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imenu</a:t>
            </a:r>
            <a:r>
              <a:rPr lang="en-US" dirty="0"/>
              <a:t> </a:t>
            </a:r>
            <a:r>
              <a:rPr lang="en-US" dirty="0" err="1"/>
              <a:t>spremenljivke</a:t>
            </a:r>
            <a:r>
              <a:rPr lang="en-US" dirty="0"/>
              <a:t> </a:t>
            </a:r>
            <a:r>
              <a:rPr lang="en-US" dirty="0" err="1"/>
              <a:t>dodate</a:t>
            </a:r>
            <a:r>
              <a:rPr lang="en-US" dirty="0"/>
              <a:t> * in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bodo</a:t>
            </a:r>
            <a:r>
              <a:rPr lang="en-US" dirty="0"/>
              <a:t> </a:t>
            </a:r>
            <a:r>
              <a:rPr lang="en-US" dirty="0" err="1"/>
              <a:t>spremenljivki</a:t>
            </a:r>
            <a:r>
              <a:rPr lang="en-US" dirty="0"/>
              <a:t> </a:t>
            </a:r>
            <a:r>
              <a:rPr lang="en-US" dirty="0" err="1"/>
              <a:t>dodeljene</a:t>
            </a:r>
            <a:r>
              <a:rPr lang="en-US" dirty="0"/>
              <a:t> </a:t>
            </a:r>
            <a:r>
              <a:rPr lang="en-US" dirty="0" err="1"/>
              <a:t>kot</a:t>
            </a:r>
            <a:r>
              <a:rPr lang="en-US" dirty="0"/>
              <a:t> </a:t>
            </a:r>
            <a:r>
              <a:rPr lang="en-US" dirty="0" err="1"/>
              <a:t>seznam</a:t>
            </a:r>
            <a:r>
              <a:rPr lang="sl-SI" dirty="0"/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Ostale vrednosti pripišite kot seznam z imenom "modra":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 = (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"jagoda"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"borovnica"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(zeleno, rumena, *modra) = sadje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(zeleno)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(rumena)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(modra)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izpiše jabolko, banana enega pod drugim, ostale pa v isti vrstici[</a:t>
            </a:r>
            <a:r>
              <a:rPr lang="sl-SI" dirty="0" err="1">
                <a:solidFill>
                  <a:srgbClr val="008000"/>
                </a:solidFill>
                <a:effectLst/>
              </a:rPr>
              <a:t>visnja</a:t>
            </a:r>
            <a:r>
              <a:rPr lang="sl-SI" dirty="0">
                <a:solidFill>
                  <a:srgbClr val="008000"/>
                </a:solidFill>
                <a:effectLst/>
              </a:rPr>
              <a:t>, jagoda, borovnica]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35151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Uporaba zvezdice (*)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Če</a:t>
            </a:r>
            <a:r>
              <a:rPr lang="en-US" dirty="0"/>
              <a:t> je </a:t>
            </a:r>
            <a:r>
              <a:rPr lang="en-US" dirty="0" err="1"/>
              <a:t>zvezdica</a:t>
            </a:r>
            <a:r>
              <a:rPr lang="en-US" dirty="0"/>
              <a:t> </a:t>
            </a:r>
            <a:r>
              <a:rPr lang="en-US" dirty="0" err="1"/>
              <a:t>dodana</a:t>
            </a:r>
            <a:r>
              <a:rPr lang="en-US" dirty="0"/>
              <a:t> </a:t>
            </a:r>
            <a:r>
              <a:rPr lang="en-US" dirty="0" err="1"/>
              <a:t>drugemu</a:t>
            </a:r>
            <a:r>
              <a:rPr lang="en-US" dirty="0"/>
              <a:t> </a:t>
            </a:r>
            <a:r>
              <a:rPr lang="en-US" dirty="0" err="1"/>
              <a:t>imenu</a:t>
            </a:r>
            <a:r>
              <a:rPr lang="en-US" dirty="0"/>
              <a:t> </a:t>
            </a:r>
            <a:r>
              <a:rPr lang="en-US" dirty="0" err="1"/>
              <a:t>spremenljivke</a:t>
            </a:r>
            <a:r>
              <a:rPr lang="en-US" dirty="0"/>
              <a:t> </a:t>
            </a:r>
            <a:r>
              <a:rPr lang="en-US" dirty="0" err="1"/>
              <a:t>kot</a:t>
            </a:r>
            <a:r>
              <a:rPr lang="en-US" dirty="0"/>
              <a:t> </a:t>
            </a:r>
            <a:r>
              <a:rPr lang="en-US" dirty="0" err="1"/>
              <a:t>zadnjemu</a:t>
            </a:r>
            <a:r>
              <a:rPr lang="en-US" dirty="0"/>
              <a:t>, </a:t>
            </a:r>
            <a:r>
              <a:rPr lang="en-US" dirty="0" err="1"/>
              <a:t>bo</a:t>
            </a:r>
            <a:r>
              <a:rPr lang="en-US" dirty="0"/>
              <a:t> Python </a:t>
            </a:r>
            <a:r>
              <a:rPr lang="en-US" dirty="0" err="1"/>
              <a:t>spremenljivki</a:t>
            </a:r>
            <a:r>
              <a:rPr lang="en-US" dirty="0"/>
              <a:t> </a:t>
            </a:r>
            <a:r>
              <a:rPr lang="en-US" dirty="0" err="1"/>
              <a:t>dodeljeval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, </a:t>
            </a:r>
            <a:r>
              <a:rPr lang="en-US" dirty="0" err="1"/>
              <a:t>dokler</a:t>
            </a:r>
            <a:r>
              <a:rPr lang="en-US" dirty="0"/>
              <a:t> se </a:t>
            </a:r>
            <a:r>
              <a:rPr lang="en-US" dirty="0" err="1"/>
              <a:t>število</a:t>
            </a:r>
            <a:r>
              <a:rPr lang="en-US" dirty="0"/>
              <a:t> </a:t>
            </a:r>
            <a:r>
              <a:rPr lang="en-US" dirty="0" err="1"/>
              <a:t>preostalih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ne </a:t>
            </a:r>
            <a:r>
              <a:rPr lang="en-US" dirty="0" err="1"/>
              <a:t>bo</a:t>
            </a:r>
            <a:r>
              <a:rPr lang="en-US" dirty="0"/>
              <a:t> </a:t>
            </a:r>
            <a:r>
              <a:rPr lang="en-US" dirty="0" err="1"/>
              <a:t>ujemalo</a:t>
            </a:r>
            <a:r>
              <a:rPr lang="en-US" dirty="0"/>
              <a:t> s </a:t>
            </a:r>
            <a:r>
              <a:rPr lang="en-US" dirty="0" err="1"/>
              <a:t>številom</a:t>
            </a:r>
            <a:r>
              <a:rPr lang="en-US" dirty="0"/>
              <a:t> </a:t>
            </a:r>
            <a:r>
              <a:rPr lang="en-US" dirty="0" err="1"/>
              <a:t>preostalih</a:t>
            </a:r>
            <a:r>
              <a:rPr lang="en-US" dirty="0"/>
              <a:t> </a:t>
            </a:r>
            <a:r>
              <a:rPr lang="en-US" dirty="0" err="1"/>
              <a:t>spremenljivk</a:t>
            </a:r>
            <a:r>
              <a:rPr lang="en-US" dirty="0"/>
              <a:t>.</a:t>
            </a:r>
            <a:endParaRPr lang="sl-SI" dirty="0"/>
          </a:p>
          <a:p>
            <a:r>
              <a:rPr lang="sl-SI" dirty="0">
                <a:solidFill>
                  <a:srgbClr val="000000"/>
                </a:solidFill>
              </a:rPr>
              <a:t>Primer: Dodajte seznamu vrednosti spremenljivke "tropsko":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"mango"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"papaya"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ananas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zeleno</a:t>
            </a:r>
            <a:r>
              <a:rPr lang="en-US" dirty="0">
                <a:solidFill>
                  <a:srgbClr val="000000"/>
                </a:solidFill>
                <a:effectLst/>
              </a:rPr>
              <a:t>, *trop</a:t>
            </a:r>
            <a:r>
              <a:rPr lang="sl-SI" dirty="0" err="1">
                <a:solidFill>
                  <a:srgbClr val="000000"/>
                </a:solidFill>
                <a:effectLst/>
              </a:rPr>
              <a:t>sko</a:t>
            </a:r>
            <a:r>
              <a:rPr lang="en-US" dirty="0">
                <a:solidFill>
                  <a:srgbClr val="000000"/>
                </a:solidFill>
                <a:effectLst/>
              </a:rPr>
              <a:t>, r</a:t>
            </a:r>
            <a:r>
              <a:rPr lang="sl-SI" dirty="0">
                <a:solidFill>
                  <a:srgbClr val="000000"/>
                </a:solidFill>
                <a:effectLst/>
              </a:rPr>
              <a:t>dece</a:t>
            </a:r>
            <a:r>
              <a:rPr lang="en-US" dirty="0">
                <a:solidFill>
                  <a:srgbClr val="000000"/>
                </a:solidFill>
                <a:effectLst/>
              </a:rPr>
              <a:t>) =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zeleno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00"/>
                </a:solidFill>
                <a:effectLst/>
              </a:rPr>
              <a:t>tropsko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rdece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56967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</a:t>
            </a:r>
            <a:r>
              <a:rPr lang="sl-SI" b="1" dirty="0" err="1">
                <a:solidFill>
                  <a:srgbClr val="FF0000"/>
                </a:solidFill>
              </a:rPr>
              <a:t>tuple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Skozi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tuple </a:t>
            </a:r>
            <a:r>
              <a:rPr lang="en-US" dirty="0" err="1"/>
              <a:t>lahko</a:t>
            </a:r>
            <a:r>
              <a:rPr lang="en-US" dirty="0"/>
              <a:t> </a:t>
            </a:r>
            <a:r>
              <a:rPr lang="en-US" dirty="0" err="1"/>
              <a:t>krožite</a:t>
            </a:r>
            <a:r>
              <a:rPr lang="en-US" dirty="0"/>
              <a:t> v </a:t>
            </a:r>
            <a:r>
              <a:rPr lang="en-US" dirty="0" err="1"/>
              <a:t>zanki</a:t>
            </a:r>
            <a:r>
              <a:rPr lang="en-US" dirty="0"/>
              <a:t> z </a:t>
            </a:r>
            <a:r>
              <a:rPr lang="en-US" dirty="0" err="1"/>
              <a:t>uporabo</a:t>
            </a:r>
            <a:r>
              <a:rPr lang="en-US" dirty="0"/>
              <a:t> </a:t>
            </a:r>
            <a:r>
              <a:rPr lang="en-US" dirty="0" err="1"/>
              <a:t>zanke</a:t>
            </a:r>
            <a:r>
              <a:rPr lang="en-US" dirty="0"/>
              <a:t> for.</a:t>
            </a:r>
            <a:endParaRPr lang="sl-SI" dirty="0"/>
          </a:p>
          <a:p>
            <a:r>
              <a:rPr lang="sl-SI" dirty="0">
                <a:solidFill>
                  <a:srgbClr val="000000"/>
                </a:solidFill>
              </a:rPr>
              <a:t>Primer: Prehajajte skozi elemente in izpišite vrednosti: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Elemente 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 lahko pregledate tudi v zanki s sklicevanjem na njihovo indeksno številko.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Uporabite funkciji range() in len(), da ustvarite ustrezno </a:t>
            </a:r>
            <a:r>
              <a:rPr lang="sl-SI" dirty="0" err="1">
                <a:solidFill>
                  <a:srgbClr val="000000"/>
                </a:solidFill>
              </a:rPr>
              <a:t>iterabilno</a:t>
            </a:r>
            <a:r>
              <a:rPr lang="sl-SI" dirty="0">
                <a:solidFill>
                  <a:srgbClr val="000000"/>
                </a:solidFill>
              </a:rPr>
              <a:t> datoteko.</a:t>
            </a:r>
          </a:p>
        </p:txBody>
      </p:sp>
    </p:spTree>
    <p:extLst>
      <p:ext uri="{BB962C8B-B14F-4D97-AF65-F5344CB8AC3E}">
        <p14:creationId xmlns:p14="http://schemas.microsoft.com/office/powerpoint/2010/main" val="218795327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skozi </a:t>
            </a:r>
            <a:r>
              <a:rPr lang="sl-SI" b="1" dirty="0" err="1">
                <a:solidFill>
                  <a:srgbClr val="FF0000"/>
                </a:solidFill>
              </a:rPr>
              <a:t>tuple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Primer: Izpišite vse elemente s sklicevanjem na njihovo indeksno številko: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CD"/>
                </a:solidFill>
                <a:effectLst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 err="1">
                <a:solidFill>
                  <a:srgbClr val="0000CD"/>
                </a:solidFill>
                <a:effectLst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29457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Uporaba zanke </a:t>
            </a:r>
            <a:r>
              <a:rPr lang="sl-SI" b="1" dirty="0" err="1">
                <a:solidFill>
                  <a:srgbClr val="FF0000"/>
                </a:solidFill>
              </a:rPr>
              <a:t>While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/>
              <a:t>Po elementih seznama lahko krožite v zanki z uporabo zanke </a:t>
            </a:r>
            <a:r>
              <a:rPr lang="sl-SI" dirty="0" err="1"/>
              <a:t>while</a:t>
            </a:r>
            <a:r>
              <a:rPr lang="sl-SI" dirty="0"/>
              <a:t>.</a:t>
            </a:r>
          </a:p>
          <a:p>
            <a:r>
              <a:rPr lang="sl-SI" dirty="0"/>
              <a:t>S funkcijo len() določite dolžino koraka, nato pa začnite pri 0 in se z zanko prebijate skozi elemente koraka s sklicevanjem na njihove indekse.</a:t>
            </a:r>
          </a:p>
          <a:p>
            <a:r>
              <a:rPr lang="sl-SI" dirty="0"/>
              <a:t>Po vsaki iteraciji ne pozabite povečati indeksa za 1.</a:t>
            </a:r>
          </a:p>
          <a:p>
            <a:r>
              <a:rPr lang="sl-SI" dirty="0">
                <a:solidFill>
                  <a:srgbClr val="000000"/>
                </a:solidFill>
              </a:rPr>
              <a:t>Primer: Izpišite vse elemente z uporabo zanke </a:t>
            </a:r>
            <a:r>
              <a:rPr lang="sl-SI" dirty="0" err="1">
                <a:solidFill>
                  <a:srgbClr val="000000"/>
                </a:solidFill>
              </a:rPr>
              <a:t>while</a:t>
            </a:r>
            <a:r>
              <a:rPr lang="sl-SI" dirty="0">
                <a:solidFill>
                  <a:srgbClr val="000000"/>
                </a:solidFill>
              </a:rPr>
              <a:t>, za prehod skozi vse številke indeksov: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(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>
                <a:solidFill>
                  <a:srgbClr val="FF0000"/>
                </a:solidFill>
                <a:effectLst/>
              </a:rPr>
              <a:t>0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&lt; </a:t>
            </a:r>
            <a:r>
              <a:rPr lang="en-US" dirty="0" err="1">
                <a:solidFill>
                  <a:srgbClr val="0000CD"/>
                </a:solidFill>
                <a:effectLst/>
              </a:rPr>
              <a:t>len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</a:rPr>
              <a:t> + </a:t>
            </a:r>
            <a:r>
              <a:rPr lang="en-US" dirty="0">
                <a:solidFill>
                  <a:srgbClr val="FF0000"/>
                </a:solidFill>
                <a:effectLst/>
              </a:rPr>
              <a:t>1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96255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Združevanje dveh </a:t>
            </a:r>
            <a:r>
              <a:rPr lang="sl-SI" b="1" dirty="0" err="1">
                <a:solidFill>
                  <a:srgbClr val="FF0000"/>
                </a:solidFill>
              </a:rPr>
              <a:t>tuplov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Za združevanje dveh ali več </a:t>
            </a:r>
            <a:r>
              <a:rPr lang="sl-SI" dirty="0" err="1"/>
              <a:t>tuplov</a:t>
            </a:r>
            <a:r>
              <a:rPr lang="sl-SI" dirty="0"/>
              <a:t> lahko uporabite operator +.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seznam1 = (</a:t>
            </a:r>
            <a:r>
              <a:rPr lang="sl-SI" dirty="0">
                <a:solidFill>
                  <a:srgbClr val="A52A2A"/>
                </a:solidFill>
                <a:effectLst/>
              </a:rPr>
              <a:t>"a"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"b"</a:t>
            </a:r>
            <a:r>
              <a:rPr lang="sl-SI" dirty="0">
                <a:solidFill>
                  <a:srgbClr val="000000"/>
                </a:solidFill>
                <a:effectLst/>
              </a:rPr>
              <a:t> , </a:t>
            </a:r>
            <a:r>
              <a:rPr lang="sl-SI" dirty="0">
                <a:solidFill>
                  <a:srgbClr val="A52A2A"/>
                </a:solidFill>
                <a:effectLst/>
              </a:rPr>
              <a:t>"c"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seznam2 = (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seznam3 = seznam1 + seznam2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(seznam3)</a:t>
            </a:r>
            <a:endParaRPr lang="sl-SI" dirty="0"/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04747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Združevanje dveh </a:t>
            </a:r>
            <a:r>
              <a:rPr lang="sl-SI" b="1" dirty="0" err="1">
                <a:solidFill>
                  <a:srgbClr val="FF0000"/>
                </a:solidFill>
              </a:rPr>
              <a:t>tuplov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Če želite vsebino </a:t>
            </a:r>
            <a:r>
              <a:rPr lang="sl-SI" dirty="0" err="1"/>
              <a:t>tupla</a:t>
            </a:r>
            <a:r>
              <a:rPr lang="sl-SI" dirty="0"/>
              <a:t> pomnožiti določeno število krat, lahko uporabite operator *</a:t>
            </a:r>
          </a:p>
          <a:p>
            <a:r>
              <a:rPr lang="sl-SI" dirty="0"/>
              <a:t>Primer: </a:t>
            </a:r>
            <a:r>
              <a:rPr lang="pl-PL" dirty="0"/>
              <a:t>Pomnožite tuple sadja z 2:</a:t>
            </a:r>
            <a:endParaRPr lang="sl-SI" dirty="0"/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fr-FR" dirty="0">
                <a:solidFill>
                  <a:srgbClr val="000000"/>
                </a:solidFill>
                <a:effectLst/>
              </a:rPr>
              <a:t> = (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fr-FR" dirty="0">
                <a:solidFill>
                  <a:srgbClr val="000000"/>
                </a:solidFill>
                <a:effectLst/>
              </a:rPr>
              <a:t>, </a:t>
            </a:r>
            <a:r>
              <a:rPr lang="fr-FR" dirty="0">
                <a:solidFill>
                  <a:srgbClr val="A52A2A"/>
                </a:solidFill>
                <a:effectLst/>
              </a:rPr>
              <a:t>"banana"</a:t>
            </a:r>
            <a:r>
              <a:rPr lang="fr-FR" dirty="0">
                <a:solidFill>
                  <a:srgbClr val="000000"/>
                </a:solidFill>
                <a:effectLst/>
              </a:rPr>
              <a:t>, 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fr-FR" dirty="0">
                <a:solidFill>
                  <a:srgbClr val="A52A2A"/>
                </a:solidFill>
                <a:effectLst/>
              </a:rPr>
              <a:t>"</a:t>
            </a:r>
            <a:r>
              <a:rPr lang="fr-FR" dirty="0">
                <a:solidFill>
                  <a:srgbClr val="000000"/>
                </a:solidFill>
                <a:effectLst/>
              </a:rPr>
              <a:t>)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fr-FR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>
                <a:solidFill>
                  <a:srgbClr val="000000"/>
                </a:solidFill>
                <a:effectLst/>
              </a:rPr>
              <a:t>sadje</a:t>
            </a:r>
            <a:r>
              <a:rPr lang="fr-FR" dirty="0">
                <a:solidFill>
                  <a:srgbClr val="000000"/>
                </a:solidFill>
                <a:effectLst/>
              </a:rPr>
              <a:t> * </a:t>
            </a:r>
            <a:r>
              <a:rPr lang="fr-FR" dirty="0">
                <a:solidFill>
                  <a:srgbClr val="FF0000"/>
                </a:solidFill>
                <a:effectLst/>
              </a:rPr>
              <a:t>2</a:t>
            </a:r>
            <a:br>
              <a:rPr lang="fr-FR" dirty="0">
                <a:solidFill>
                  <a:srgbClr val="000000"/>
                </a:solidFill>
                <a:effectLst/>
              </a:rPr>
            </a:br>
            <a:br>
              <a:rPr lang="fr-FR" dirty="0">
                <a:solidFill>
                  <a:srgbClr val="000000"/>
                </a:solidFill>
                <a:effectLst/>
              </a:rPr>
            </a:br>
            <a:r>
              <a:rPr lang="fr-FR" dirty="0">
                <a:solidFill>
                  <a:srgbClr val="0000CD"/>
                </a:solidFill>
                <a:effectLst/>
              </a:rPr>
              <a:t>print</a:t>
            </a:r>
            <a:r>
              <a:rPr lang="fr-FR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fr-FR" dirty="0">
                <a:solidFill>
                  <a:srgbClr val="000000"/>
                </a:solidFill>
                <a:effectLst/>
              </a:rPr>
              <a:t>)</a:t>
            </a:r>
            <a:endParaRPr lang="sl-SI" dirty="0"/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96833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Metode </a:t>
            </a:r>
            <a:r>
              <a:rPr lang="sl-SI" b="1" dirty="0" err="1">
                <a:solidFill>
                  <a:srgbClr val="FF0000"/>
                </a:solidFill>
              </a:rPr>
              <a:t>tuplov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/>
              <a:t>Python</a:t>
            </a:r>
            <a:r>
              <a:rPr lang="sl-SI" dirty="0"/>
              <a:t> ima dve vgrajeni metodi, ki ju lahko uporabite za </a:t>
            </a:r>
            <a:r>
              <a:rPr lang="sl-SI" dirty="0" err="1"/>
              <a:t>tuple</a:t>
            </a:r>
            <a:r>
              <a:rPr lang="sl-SI" dirty="0"/>
              <a:t>.</a:t>
            </a:r>
          </a:p>
          <a:p>
            <a:r>
              <a:rPr lang="sl-SI" dirty="0" err="1">
                <a:solidFill>
                  <a:srgbClr val="000000"/>
                </a:solidFill>
              </a:rPr>
              <a:t>count</a:t>
            </a:r>
            <a:r>
              <a:rPr lang="sl-SI" dirty="0">
                <a:solidFill>
                  <a:srgbClr val="000000"/>
                </a:solidFill>
              </a:rPr>
              <a:t>() Vrne število pojavitev določene vrednosti v </a:t>
            </a:r>
            <a:r>
              <a:rPr lang="sl-SI" dirty="0" err="1">
                <a:solidFill>
                  <a:srgbClr val="000000"/>
                </a:solidFill>
              </a:rPr>
              <a:t>tuplu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 err="1">
                <a:solidFill>
                  <a:srgbClr val="000000"/>
                </a:solidFill>
              </a:rPr>
              <a:t>index</a:t>
            </a:r>
            <a:r>
              <a:rPr lang="sl-SI" dirty="0">
                <a:solidFill>
                  <a:srgbClr val="000000"/>
                </a:solidFill>
              </a:rPr>
              <a:t>() išče določeno vrednost v </a:t>
            </a:r>
            <a:r>
              <a:rPr lang="sl-SI" dirty="0" err="1">
                <a:solidFill>
                  <a:srgbClr val="000000"/>
                </a:solidFill>
              </a:rPr>
              <a:t>tuplu</a:t>
            </a:r>
            <a:r>
              <a:rPr lang="sl-SI" dirty="0">
                <a:solidFill>
                  <a:srgbClr val="000000"/>
                </a:solidFill>
              </a:rPr>
              <a:t> in vrne položaj, na katerem je bila najdena.</a:t>
            </a:r>
          </a:p>
        </p:txBody>
      </p:sp>
    </p:spTree>
    <p:extLst>
      <p:ext uri="{BB962C8B-B14F-4D97-AF65-F5344CB8AC3E}">
        <p14:creationId xmlns:p14="http://schemas.microsoft.com/office/powerpoint/2010/main" val="389923331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Sets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/>
              <a:t>Sets</a:t>
            </a:r>
            <a:r>
              <a:rPr lang="sl-SI" dirty="0"/>
              <a:t> se uporabljajo za shranjevanje več elementov v eni spremenljivki.</a:t>
            </a:r>
          </a:p>
          <a:p>
            <a:r>
              <a:rPr lang="sl-SI" dirty="0" err="1"/>
              <a:t>Sets</a:t>
            </a:r>
            <a:r>
              <a:rPr lang="sl-SI" dirty="0"/>
              <a:t> je eden od štirih vgrajenih podatkovnih tipov v </a:t>
            </a:r>
            <a:r>
              <a:rPr lang="sl-SI" dirty="0" err="1"/>
              <a:t>Pythonu</a:t>
            </a:r>
            <a:r>
              <a:rPr lang="sl-SI" dirty="0"/>
              <a:t>, ki se uporabljajo za shranjevanje zbirk podatkov; drugi trije so List, </a:t>
            </a:r>
            <a:r>
              <a:rPr lang="sl-SI" dirty="0" err="1"/>
              <a:t>Tuple</a:t>
            </a:r>
            <a:r>
              <a:rPr lang="sl-SI" dirty="0"/>
              <a:t> in </a:t>
            </a:r>
            <a:r>
              <a:rPr lang="sl-SI" dirty="0" err="1"/>
              <a:t>Dictionary</a:t>
            </a:r>
            <a:r>
              <a:rPr lang="sl-SI" dirty="0"/>
              <a:t>, vsi z različnimi lastnostmi in uporabo.</a:t>
            </a:r>
          </a:p>
          <a:p>
            <a:r>
              <a:rPr lang="sl-SI" dirty="0" err="1"/>
              <a:t>Sets</a:t>
            </a:r>
            <a:r>
              <a:rPr lang="sl-SI" dirty="0"/>
              <a:t> je zbirka, ki je neurejena, nespremenljiva in </a:t>
            </a:r>
            <a:r>
              <a:rPr lang="sl-SI" dirty="0" err="1"/>
              <a:t>neindeksirana</a:t>
            </a:r>
            <a:r>
              <a:rPr lang="sl-SI" dirty="0"/>
              <a:t>.</a:t>
            </a:r>
          </a:p>
          <a:p>
            <a:r>
              <a:rPr lang="sl-SI" dirty="0"/>
              <a:t>Opomba: Elementi množice so nespremenljivi, vendar lahko elemente odstranite in dodate nove.</a:t>
            </a:r>
          </a:p>
          <a:p>
            <a:r>
              <a:rPr lang="sl-SI" dirty="0" err="1"/>
              <a:t>Sets</a:t>
            </a:r>
            <a:r>
              <a:rPr lang="sl-SI" dirty="0"/>
              <a:t> so zapisani v oglatih oklepajih.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32658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Sets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l-SI" dirty="0"/>
              <a:t>Primer: Kreiraj </a:t>
            </a:r>
            <a:r>
              <a:rPr lang="sl-SI" dirty="0" err="1"/>
              <a:t>Sets</a:t>
            </a:r>
            <a:endParaRPr lang="sl-SI" dirty="0"/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Opomba: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niso urejeni, zato ne morete biti prepričani, v kakšnem vrstnem redu bodo elementi prikazani.</a:t>
            </a:r>
          </a:p>
          <a:p>
            <a:r>
              <a:rPr lang="sl-SI" dirty="0">
                <a:solidFill>
                  <a:srgbClr val="000000"/>
                </a:solidFill>
              </a:rPr>
              <a:t>Elementi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so neurejeni, nespremenljivi in ne omogočajo podvajanja vrednosti.</a:t>
            </a:r>
          </a:p>
          <a:p>
            <a:r>
              <a:rPr lang="sl-SI" dirty="0">
                <a:solidFill>
                  <a:srgbClr val="000000"/>
                </a:solidFill>
              </a:rPr>
              <a:t>Neurejeno pomeni, da elementi v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nimajo določenega vrstnega reda.</a:t>
            </a:r>
          </a:p>
          <a:p>
            <a:r>
              <a:rPr lang="sl-SI" dirty="0">
                <a:solidFill>
                  <a:srgbClr val="000000"/>
                </a:solidFill>
              </a:rPr>
              <a:t>Elementi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se lahko pri vsaki uporabi pojavijo v drugačnem vrstnem redu in nanje se ni mogoče sklicevati po indeksu ali ključu.</a:t>
            </a:r>
          </a:p>
        </p:txBody>
      </p:sp>
    </p:spTree>
    <p:extLst>
      <p:ext uri="{BB962C8B-B14F-4D97-AF65-F5344CB8AC3E}">
        <p14:creationId xmlns:p14="http://schemas.microsoft.com/office/powerpoint/2010/main" val="215312423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Sets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Elementi </a:t>
            </a:r>
            <a:r>
              <a:rPr lang="sl-SI" dirty="0" err="1"/>
              <a:t>sets</a:t>
            </a:r>
            <a:r>
              <a:rPr lang="sl-SI" dirty="0"/>
              <a:t> so nespremenljivi, kar pomeni, da elementov po ustvarjanju kompleta ne moremo spreminjati.</a:t>
            </a:r>
          </a:p>
          <a:p>
            <a:r>
              <a:rPr lang="sl-SI" dirty="0"/>
              <a:t>Ko je </a:t>
            </a:r>
            <a:r>
              <a:rPr lang="sl-SI" dirty="0" err="1"/>
              <a:t>sets</a:t>
            </a:r>
            <a:r>
              <a:rPr lang="sl-SI" dirty="0"/>
              <a:t> ustvarjen, njegovih elementov ne morete spreminjati, lahko pa odstranite elemente in dodate nove.</a:t>
            </a:r>
          </a:p>
          <a:p>
            <a:r>
              <a:rPr lang="sl-SI" dirty="0">
                <a:solidFill>
                  <a:srgbClr val="000000"/>
                </a:solidFill>
              </a:rPr>
              <a:t>Primer: Podvojene vrednosti ne bodo upoštevane:</a:t>
            </a:r>
          </a:p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</a:rPr>
              <a:t>element jabolko bo izpisan samo enkrat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45454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Sets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/>
              <a:t>Če želite ugotoviti, koliko elementov ima </a:t>
            </a:r>
            <a:r>
              <a:rPr lang="sl-SI" dirty="0" err="1"/>
              <a:t>sets</a:t>
            </a:r>
            <a:r>
              <a:rPr lang="sl-SI" dirty="0"/>
              <a:t>, uporabite metodo len().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t-BR" dirty="0">
                <a:solidFill>
                  <a:srgbClr val="000000"/>
                </a:solidFill>
              </a:rPr>
              <a:t>Pridobi število elementov v nizu: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CD"/>
                </a:solidFill>
                <a:effectLst/>
              </a:rPr>
              <a:t>len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))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  <a:effectLst/>
              </a:rPr>
              <a:t>Elementi </a:t>
            </a:r>
            <a:r>
              <a:rPr lang="sl-SI" dirty="0" err="1">
                <a:solidFill>
                  <a:srgbClr val="000000"/>
                </a:solidFill>
                <a:effectLst/>
              </a:rPr>
              <a:t>sets</a:t>
            </a:r>
            <a:r>
              <a:rPr lang="sl-SI" dirty="0">
                <a:solidFill>
                  <a:srgbClr val="000000"/>
                </a:solidFill>
                <a:effectLst/>
              </a:rPr>
              <a:t> so lahko katere koli podatkovne vrste: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set1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set2 = {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5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7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9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set3 = {</a:t>
            </a:r>
            <a:r>
              <a:rPr lang="sl-SI" dirty="0" err="1">
                <a:solidFill>
                  <a:srgbClr val="0000CD"/>
                </a:solidFill>
                <a:effectLst/>
              </a:rPr>
              <a:t>True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 err="1">
                <a:solidFill>
                  <a:srgbClr val="0000CD"/>
                </a:solidFill>
                <a:effectLst/>
              </a:rPr>
              <a:t>False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 err="1">
                <a:solidFill>
                  <a:srgbClr val="0000CD"/>
                </a:solidFill>
                <a:effectLst/>
              </a:rPr>
              <a:t>False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6508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Sets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/>
              <a:t>Sets</a:t>
            </a:r>
            <a:r>
              <a:rPr lang="sl-SI" dirty="0"/>
              <a:t> lahko vsebuje različne vrste podatkov.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</a:rPr>
              <a:t>set1 = {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 err="1">
                <a:solidFill>
                  <a:srgbClr val="A52A2A"/>
                </a:solidFill>
                <a:effectLst/>
              </a:rPr>
              <a:t>abc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34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0000CD"/>
                </a:solidFill>
                <a:effectLst/>
              </a:rPr>
              <a:t>True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FF0000"/>
                </a:solidFill>
                <a:effectLst/>
              </a:rPr>
              <a:t>40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moski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  <a:effectLst/>
              </a:rPr>
              <a:t>Z vidika </a:t>
            </a:r>
            <a:r>
              <a:rPr lang="sl-SI" dirty="0" err="1">
                <a:solidFill>
                  <a:srgbClr val="000000"/>
                </a:solidFill>
                <a:effectLst/>
              </a:rPr>
              <a:t>Pythona</a:t>
            </a:r>
            <a:r>
              <a:rPr lang="sl-SI" dirty="0">
                <a:solidFill>
                  <a:srgbClr val="000000"/>
                </a:solidFill>
                <a:effectLst/>
              </a:rPr>
              <a:t> so </a:t>
            </a:r>
            <a:r>
              <a:rPr lang="sl-SI" dirty="0" err="1">
                <a:solidFill>
                  <a:srgbClr val="000000"/>
                </a:solidFill>
                <a:effectLst/>
              </a:rPr>
              <a:t>sets</a:t>
            </a:r>
            <a:r>
              <a:rPr lang="sl-SI" dirty="0">
                <a:solidFill>
                  <a:srgbClr val="000000"/>
                </a:solidFill>
                <a:effectLst/>
              </a:rPr>
              <a:t> opredeljeni kot objekti s podatkovno vrsto 'set‘</a:t>
            </a:r>
          </a:p>
          <a:p>
            <a:r>
              <a:rPr lang="sl-SI" dirty="0">
                <a:solidFill>
                  <a:srgbClr val="000000"/>
                </a:solidFill>
              </a:rPr>
              <a:t>Primer: </a:t>
            </a:r>
            <a:r>
              <a:rPr lang="pl-PL" dirty="0">
                <a:solidFill>
                  <a:srgbClr val="000000"/>
                </a:solidFill>
              </a:rPr>
              <a:t>Kakšna je podatkovna vrsta sets?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CD"/>
                </a:solidFill>
                <a:effectLst/>
              </a:rPr>
              <a:t>type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)) -&gt;</a:t>
            </a:r>
            <a:r>
              <a:rPr lang="sl-SI" dirty="0"/>
              <a:t> &lt;</a:t>
            </a:r>
            <a:r>
              <a:rPr lang="sl-SI" dirty="0" err="1"/>
              <a:t>class</a:t>
            </a:r>
            <a:r>
              <a:rPr lang="sl-SI" dirty="0"/>
              <a:t> 'set'&gt;</a:t>
            </a:r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61907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Dostopanje do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Do elementov v </a:t>
            </a:r>
            <a:r>
              <a:rPr lang="sl-SI" dirty="0" err="1">
                <a:solidFill>
                  <a:srgbClr val="000000"/>
                </a:solidFill>
                <a:effectLst/>
              </a:rPr>
              <a:t>sets</a:t>
            </a:r>
            <a:r>
              <a:rPr lang="sl-SI" dirty="0">
                <a:solidFill>
                  <a:srgbClr val="000000"/>
                </a:solidFill>
                <a:effectLst/>
              </a:rPr>
              <a:t> ne morete dostopati s sklicevanjem na indeks ali ključ.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Lahko pa z uporabo zanke </a:t>
            </a:r>
            <a:r>
              <a:rPr lang="sl-SI" dirty="0" err="1">
                <a:solidFill>
                  <a:srgbClr val="000000"/>
                </a:solidFill>
                <a:effectLst/>
              </a:rPr>
              <a:t>for</a:t>
            </a:r>
            <a:r>
              <a:rPr lang="sl-SI" dirty="0">
                <a:solidFill>
                  <a:srgbClr val="000000"/>
                </a:solidFill>
                <a:effectLst/>
              </a:rPr>
              <a:t> za zankate skozi elemente </a:t>
            </a:r>
            <a:r>
              <a:rPr lang="sl-SI" dirty="0" err="1">
                <a:solidFill>
                  <a:srgbClr val="000000"/>
                </a:solidFill>
                <a:effectLst/>
              </a:rPr>
              <a:t>sets</a:t>
            </a:r>
            <a:r>
              <a:rPr lang="sl-SI" dirty="0">
                <a:solidFill>
                  <a:srgbClr val="000000"/>
                </a:solidFill>
                <a:effectLst/>
              </a:rPr>
              <a:t> ali pa vprašate, ali je določena vrednost prisotna v </a:t>
            </a:r>
            <a:r>
              <a:rPr lang="sl-SI" dirty="0" err="1">
                <a:solidFill>
                  <a:srgbClr val="000000"/>
                </a:solidFill>
                <a:effectLst/>
              </a:rPr>
              <a:t>sets</a:t>
            </a:r>
            <a:r>
              <a:rPr lang="sl-SI" dirty="0">
                <a:solidFill>
                  <a:srgbClr val="000000"/>
                </a:solidFill>
                <a:effectLst/>
              </a:rPr>
              <a:t>, tako da uporabite ključno besedo in</a:t>
            </a:r>
          </a:p>
          <a:p>
            <a:r>
              <a:rPr lang="sl-SI" dirty="0">
                <a:solidFill>
                  <a:srgbClr val="000000"/>
                </a:solidFill>
              </a:rPr>
              <a:t>Primer1: Naredite zanko skozi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in izpišite vrednosti: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90944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Dostopanje do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Primer2: Preverite, ali je v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prisotna beseda "banana":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sl-SI" dirty="0">
                <a:solidFill>
                  <a:srgbClr val="0000CD"/>
                </a:solidFill>
                <a:effectLst/>
              </a:rPr>
              <a:t>in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 err="1">
                <a:solidFill>
                  <a:srgbClr val="008000"/>
                </a:solidFill>
              </a:rPr>
              <a:t>True</a:t>
            </a:r>
            <a:r>
              <a:rPr lang="sl-SI" dirty="0">
                <a:solidFill>
                  <a:srgbClr val="008000"/>
                </a:solidFill>
              </a:rPr>
              <a:t> 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Ko je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ustvarjen, njegovih elementov ne morete spreminjati, lahko pa dodajate nove elemente.</a:t>
            </a:r>
          </a:p>
        </p:txBody>
      </p:sp>
    </p:spTree>
    <p:extLst>
      <p:ext uri="{BB962C8B-B14F-4D97-AF65-F5344CB8AC3E}">
        <p14:creationId xmlns:p14="http://schemas.microsoft.com/office/powerpoint/2010/main" val="126124582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Za dodajanje enega elementa v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uporabite metodo </a:t>
            </a:r>
            <a:r>
              <a:rPr lang="sl-SI" dirty="0" err="1">
                <a:solidFill>
                  <a:srgbClr val="000000"/>
                </a:solidFill>
              </a:rPr>
              <a:t>add</a:t>
            </a:r>
            <a:r>
              <a:rPr lang="sl-SI" dirty="0">
                <a:solidFill>
                  <a:srgbClr val="000000"/>
                </a:solidFill>
              </a:rPr>
              <a:t>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Dodajanje elementa v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z metodo </a:t>
            </a:r>
            <a:r>
              <a:rPr lang="sl-SI" dirty="0" err="1">
                <a:solidFill>
                  <a:srgbClr val="000000"/>
                </a:solidFill>
              </a:rPr>
              <a:t>add</a:t>
            </a:r>
            <a:r>
              <a:rPr lang="sl-SI" dirty="0">
                <a:solidFill>
                  <a:srgbClr val="000000"/>
                </a:solidFill>
              </a:rPr>
              <a:t>():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mojseznam.add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266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Če želite elemente iz drugega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dodati v trenutni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, uporabite metodo </a:t>
            </a:r>
            <a:r>
              <a:rPr lang="sl-SI" dirty="0" err="1">
                <a:solidFill>
                  <a:srgbClr val="000000"/>
                </a:solidFill>
              </a:rPr>
              <a:t>update</a:t>
            </a:r>
            <a:r>
              <a:rPr lang="sl-SI" dirty="0">
                <a:solidFill>
                  <a:srgbClr val="000000"/>
                </a:solidFill>
              </a:rPr>
              <a:t>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Dodajte elemente iz tropski v </a:t>
            </a:r>
            <a:r>
              <a:rPr lang="sl-SI" dirty="0" err="1">
                <a:solidFill>
                  <a:srgbClr val="000000"/>
                </a:solidFill>
              </a:rPr>
              <a:t>mojseznam</a:t>
            </a:r>
            <a:r>
              <a:rPr lang="sl-SI" dirty="0">
                <a:solidFill>
                  <a:srgbClr val="000000"/>
                </a:solidFill>
              </a:rPr>
              <a:t>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tropski= {</a:t>
            </a:r>
            <a:r>
              <a:rPr lang="sl-SI" dirty="0">
                <a:solidFill>
                  <a:srgbClr val="A52A2A"/>
                </a:solidFill>
                <a:effectLst/>
              </a:rPr>
              <a:t>"ananas"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"mango"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papaya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mojseznam.update</a:t>
            </a:r>
            <a:r>
              <a:rPr lang="sl-SI" dirty="0">
                <a:solidFill>
                  <a:srgbClr val="000000"/>
                </a:solidFill>
                <a:effectLst/>
              </a:rPr>
              <a:t>(tropski)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80321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Objekt v metodi </a:t>
            </a:r>
            <a:r>
              <a:rPr lang="sl-SI" dirty="0" err="1">
                <a:solidFill>
                  <a:srgbClr val="000000"/>
                </a:solidFill>
              </a:rPr>
              <a:t>update</a:t>
            </a:r>
            <a:r>
              <a:rPr lang="sl-SI" dirty="0">
                <a:solidFill>
                  <a:srgbClr val="000000"/>
                </a:solidFill>
              </a:rPr>
              <a:t>() ni nujno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, ampak je lahko katerikoli </a:t>
            </a:r>
            <a:r>
              <a:rPr lang="sl-SI" dirty="0" err="1">
                <a:solidFill>
                  <a:srgbClr val="000000"/>
                </a:solidFill>
              </a:rPr>
              <a:t>iterabilni</a:t>
            </a:r>
            <a:r>
              <a:rPr lang="sl-SI" dirty="0">
                <a:solidFill>
                  <a:srgbClr val="000000"/>
                </a:solidFill>
              </a:rPr>
              <a:t> objekt (</a:t>
            </a:r>
            <a:r>
              <a:rPr lang="sl-SI" dirty="0" err="1">
                <a:solidFill>
                  <a:srgbClr val="000000"/>
                </a:solidFill>
              </a:rPr>
              <a:t>tuple</a:t>
            </a:r>
            <a:r>
              <a:rPr lang="sl-SI" dirty="0">
                <a:solidFill>
                  <a:srgbClr val="000000"/>
                </a:solidFill>
              </a:rPr>
              <a:t>, seznam, </a:t>
            </a:r>
            <a:r>
              <a:rPr lang="sl-SI" dirty="0" err="1">
                <a:solidFill>
                  <a:srgbClr val="000000"/>
                </a:solidFill>
              </a:rPr>
              <a:t>dict</a:t>
            </a:r>
            <a:r>
              <a:rPr lang="sl-SI" dirty="0">
                <a:solidFill>
                  <a:srgbClr val="000000"/>
                </a:solidFill>
              </a:rPr>
              <a:t> itd.).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seznam1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 err="1">
                <a:solidFill>
                  <a:srgbClr val="008000"/>
                </a:solidFill>
              </a:rPr>
              <a:t>sets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seznam2 = [</a:t>
            </a:r>
            <a:r>
              <a:rPr lang="sl-SI" dirty="0">
                <a:solidFill>
                  <a:srgbClr val="A52A2A"/>
                </a:solidFill>
                <a:effectLst/>
              </a:rPr>
              <a:t>"kivi"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cesnja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]</a:t>
            </a:r>
            <a:r>
              <a:rPr lang="en-US" dirty="0">
                <a:solidFill>
                  <a:srgbClr val="008000"/>
                </a:solidFill>
                <a:effectLst/>
              </a:rPr>
              <a:t> #</a:t>
            </a:r>
            <a:r>
              <a:rPr lang="sl-SI" dirty="0">
                <a:solidFill>
                  <a:srgbClr val="008000"/>
                </a:solidFill>
              </a:rPr>
              <a:t>list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seznam1.update(seznam2)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(seznam1)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75495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Če želite odstraniti element iz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, uporabite metodo </a:t>
            </a:r>
            <a:r>
              <a:rPr lang="sl-SI" dirty="0" err="1">
                <a:solidFill>
                  <a:srgbClr val="000000"/>
                </a:solidFill>
              </a:rPr>
              <a:t>remove</a:t>
            </a:r>
            <a:r>
              <a:rPr lang="sl-SI" dirty="0">
                <a:solidFill>
                  <a:srgbClr val="000000"/>
                </a:solidFill>
              </a:rPr>
              <a:t>() ali </a:t>
            </a:r>
            <a:r>
              <a:rPr lang="sl-SI" dirty="0" err="1">
                <a:solidFill>
                  <a:srgbClr val="000000"/>
                </a:solidFill>
              </a:rPr>
              <a:t>discard</a:t>
            </a:r>
            <a:r>
              <a:rPr lang="sl-SI" dirty="0">
                <a:solidFill>
                  <a:srgbClr val="000000"/>
                </a:solidFill>
              </a:rPr>
              <a:t>().</a:t>
            </a:r>
          </a:p>
          <a:p>
            <a:r>
              <a:rPr lang="sl-SI" dirty="0">
                <a:solidFill>
                  <a:srgbClr val="000000"/>
                </a:solidFill>
              </a:rPr>
              <a:t>Primer1: Z metodo </a:t>
            </a:r>
            <a:r>
              <a:rPr lang="sl-SI" dirty="0" err="1">
                <a:solidFill>
                  <a:srgbClr val="000000"/>
                </a:solidFill>
              </a:rPr>
              <a:t>remove</a:t>
            </a:r>
            <a:r>
              <a:rPr lang="sl-SI" dirty="0">
                <a:solidFill>
                  <a:srgbClr val="000000"/>
                </a:solidFill>
              </a:rPr>
              <a:t>() odstranite "banana":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mojseznam.remove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Opomba: Če element, ki ga želite odstraniti, ne obstaja, bo funkcija </a:t>
            </a:r>
            <a:r>
              <a:rPr lang="sl-SI" dirty="0" err="1">
                <a:solidFill>
                  <a:srgbClr val="000000"/>
                </a:solidFill>
              </a:rPr>
              <a:t>remove</a:t>
            </a:r>
            <a:r>
              <a:rPr lang="sl-SI" dirty="0">
                <a:solidFill>
                  <a:srgbClr val="000000"/>
                </a:solidFill>
              </a:rPr>
              <a:t>() sprožila napako.</a:t>
            </a:r>
          </a:p>
        </p:txBody>
      </p:sp>
    </p:spTree>
    <p:extLst>
      <p:ext uri="{BB962C8B-B14F-4D97-AF65-F5344CB8AC3E}">
        <p14:creationId xmlns:p14="http://schemas.microsoft.com/office/powerpoint/2010/main" val="387167382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Primer 2: </a:t>
            </a:r>
            <a:r>
              <a:rPr lang="it-IT" dirty="0">
                <a:solidFill>
                  <a:srgbClr val="000000"/>
                </a:solidFill>
              </a:rPr>
              <a:t>Z metodo </a:t>
            </a:r>
            <a:r>
              <a:rPr lang="it-IT" dirty="0" err="1">
                <a:solidFill>
                  <a:srgbClr val="000000"/>
                </a:solidFill>
              </a:rPr>
              <a:t>discard</a:t>
            </a:r>
            <a:r>
              <a:rPr lang="it-IT" dirty="0">
                <a:solidFill>
                  <a:srgbClr val="000000"/>
                </a:solidFill>
              </a:rPr>
              <a:t>() </a:t>
            </a:r>
            <a:r>
              <a:rPr lang="it-IT" dirty="0" err="1">
                <a:solidFill>
                  <a:srgbClr val="000000"/>
                </a:solidFill>
              </a:rPr>
              <a:t>odstranite</a:t>
            </a:r>
            <a:r>
              <a:rPr lang="it-IT" dirty="0">
                <a:solidFill>
                  <a:srgbClr val="000000"/>
                </a:solidFill>
              </a:rPr>
              <a:t> "banana":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mojseznam.discard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Opomba: Če element, ki ga želite odstraniti, ne obstaja, funkcija </a:t>
            </a:r>
            <a:r>
              <a:rPr lang="sl-SI" dirty="0" err="1">
                <a:solidFill>
                  <a:srgbClr val="000000"/>
                </a:solidFill>
              </a:rPr>
              <a:t>discard</a:t>
            </a:r>
            <a:r>
              <a:rPr lang="sl-SI" dirty="0">
                <a:solidFill>
                  <a:srgbClr val="000000"/>
                </a:solidFill>
              </a:rPr>
              <a:t>() NE sproži napake.</a:t>
            </a: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14963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Za odstranitev elementa lahko uporabite tudi metodo pop(), vendar bo ta metoda odstranila zadnji element. Ne pozabite, da so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neurejene, zato ne boste vedeli, kateri element bo odstranjen.</a:t>
            </a:r>
          </a:p>
          <a:p>
            <a:r>
              <a:rPr lang="sl-SI" dirty="0">
                <a:solidFill>
                  <a:srgbClr val="000000"/>
                </a:solidFill>
              </a:rPr>
              <a:t>Vrnjena vrednost metode pop() je odstranjeni element.</a:t>
            </a:r>
          </a:p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clear</a:t>
            </a:r>
            <a:r>
              <a:rPr lang="sl-SI" dirty="0">
                <a:solidFill>
                  <a:srgbClr val="000000"/>
                </a:solidFill>
              </a:rPr>
              <a:t>() izprazni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mojseznam.clear</a:t>
            </a:r>
            <a:r>
              <a:rPr lang="sl-SI" dirty="0">
                <a:solidFill>
                  <a:srgbClr val="000000"/>
                </a:solidFill>
                <a:effectLst/>
              </a:rPr>
              <a:t>()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67669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Ključna beseda del popolnoma izbriše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CD"/>
                </a:solidFill>
                <a:effectLst/>
              </a:rPr>
              <a:t>del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  </a:t>
            </a:r>
            <a:r>
              <a:rPr lang="sl-SI" dirty="0">
                <a:solidFill>
                  <a:srgbClr val="008000"/>
                </a:solidFill>
              </a:rPr>
              <a:t>#javi napako, ker </a:t>
            </a:r>
            <a:r>
              <a:rPr lang="sl-SI" dirty="0" err="1">
                <a:solidFill>
                  <a:srgbClr val="008000"/>
                </a:solidFill>
              </a:rPr>
              <a:t>sets</a:t>
            </a:r>
            <a:r>
              <a:rPr lang="sl-SI" dirty="0">
                <a:solidFill>
                  <a:srgbClr val="008000"/>
                </a:solidFill>
              </a:rPr>
              <a:t> ne obstaja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40751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Brisanje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Z zanko </a:t>
            </a:r>
            <a:r>
              <a:rPr lang="sl-SI" dirty="0" err="1">
                <a:solidFill>
                  <a:srgbClr val="000000"/>
                </a:solidFill>
              </a:rPr>
              <a:t>for</a:t>
            </a:r>
            <a:r>
              <a:rPr lang="sl-SI" dirty="0">
                <a:solidFill>
                  <a:srgbClr val="000000"/>
                </a:solidFill>
              </a:rPr>
              <a:t> lahko pregledate elemente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jabolko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"banana"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83374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Združite dva </a:t>
            </a:r>
            <a:r>
              <a:rPr lang="sl-SI" b="1" dirty="0" err="1">
                <a:solidFill>
                  <a:srgbClr val="FF0000"/>
                </a:solidFill>
              </a:rPr>
              <a:t>sets</a:t>
            </a:r>
            <a:r>
              <a:rPr lang="sl-SI" b="1" dirty="0">
                <a:solidFill>
                  <a:srgbClr val="FF0000"/>
                </a:solidFill>
              </a:rPr>
              <a:t>-a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V </a:t>
            </a:r>
            <a:r>
              <a:rPr lang="sl-SI" dirty="0" err="1">
                <a:solidFill>
                  <a:srgbClr val="000000"/>
                </a:solidFill>
              </a:rPr>
              <a:t>Pythonu</a:t>
            </a:r>
            <a:r>
              <a:rPr lang="sl-SI" dirty="0">
                <a:solidFill>
                  <a:srgbClr val="000000"/>
                </a:solidFill>
              </a:rPr>
              <a:t> obstaja več načinov združevanja dveh ali več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Uporabite lahko metodo </a:t>
            </a:r>
            <a:r>
              <a:rPr lang="sl-SI" dirty="0" err="1">
                <a:solidFill>
                  <a:srgbClr val="000000"/>
                </a:solidFill>
              </a:rPr>
              <a:t>union</a:t>
            </a:r>
            <a:r>
              <a:rPr lang="sl-SI" dirty="0">
                <a:solidFill>
                  <a:srgbClr val="000000"/>
                </a:solidFill>
              </a:rPr>
              <a:t>(), ki vrne nov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, ki vsebuje vse elemente iz obeh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, ali metodo </a:t>
            </a:r>
            <a:r>
              <a:rPr lang="sl-SI" dirty="0" err="1">
                <a:solidFill>
                  <a:srgbClr val="000000"/>
                </a:solidFill>
              </a:rPr>
              <a:t>update</a:t>
            </a:r>
            <a:r>
              <a:rPr lang="sl-SI" dirty="0">
                <a:solidFill>
                  <a:srgbClr val="000000"/>
                </a:solidFill>
              </a:rPr>
              <a:t>(), ki vstavi vse elemente iz enega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 v drugega.</a:t>
            </a:r>
          </a:p>
          <a:p>
            <a:r>
              <a:rPr lang="sl-SI" dirty="0">
                <a:solidFill>
                  <a:srgbClr val="000000"/>
                </a:solidFill>
              </a:rPr>
              <a:t>Primer z metodo </a:t>
            </a:r>
            <a:r>
              <a:rPr lang="sl-SI" dirty="0" err="1">
                <a:solidFill>
                  <a:srgbClr val="000000"/>
                </a:solidFill>
              </a:rPr>
              <a:t>union</a:t>
            </a:r>
            <a:r>
              <a:rPr lang="sl-SI" dirty="0">
                <a:solidFill>
                  <a:srgbClr val="000000"/>
                </a:solidFill>
              </a:rPr>
              <a:t>():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set1 = {</a:t>
            </a:r>
            <a:r>
              <a:rPr lang="sl-SI" dirty="0">
                <a:solidFill>
                  <a:srgbClr val="A52A2A"/>
                </a:solidFill>
                <a:effectLst/>
              </a:rPr>
              <a:t>"a"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"b"</a:t>
            </a:r>
            <a:r>
              <a:rPr lang="sl-SI" dirty="0">
                <a:solidFill>
                  <a:srgbClr val="000000"/>
                </a:solidFill>
                <a:effectLst/>
              </a:rPr>
              <a:t> , </a:t>
            </a:r>
            <a:r>
              <a:rPr lang="sl-SI" dirty="0">
                <a:solidFill>
                  <a:srgbClr val="A52A2A"/>
                </a:solidFill>
                <a:effectLst/>
              </a:rPr>
              <a:t>"c"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set2 = {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set3 = set1.union(set2)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(set3)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14085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Združite dva </a:t>
            </a:r>
            <a:r>
              <a:rPr lang="sl-SI" b="1" dirty="0" err="1">
                <a:solidFill>
                  <a:srgbClr val="FF0000"/>
                </a:solidFill>
              </a:rPr>
              <a:t>sets</a:t>
            </a:r>
            <a:r>
              <a:rPr lang="sl-SI" b="1" dirty="0">
                <a:solidFill>
                  <a:srgbClr val="FF0000"/>
                </a:solidFill>
              </a:rPr>
              <a:t>-a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Primer z metodo </a:t>
            </a:r>
            <a:r>
              <a:rPr lang="sl-SI" dirty="0" err="1">
                <a:solidFill>
                  <a:srgbClr val="000000"/>
                </a:solidFill>
              </a:rPr>
              <a:t>update</a:t>
            </a:r>
            <a:r>
              <a:rPr lang="sl-SI" dirty="0">
                <a:solidFill>
                  <a:srgbClr val="000000"/>
                </a:solidFill>
              </a:rPr>
              <a:t>():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set1 = {</a:t>
            </a:r>
            <a:r>
              <a:rPr lang="sl-SI" dirty="0">
                <a:solidFill>
                  <a:srgbClr val="A52A2A"/>
                </a:solidFill>
                <a:effectLst/>
              </a:rPr>
              <a:t>"a"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"b"</a:t>
            </a:r>
            <a:r>
              <a:rPr lang="sl-SI" dirty="0">
                <a:solidFill>
                  <a:srgbClr val="000000"/>
                </a:solidFill>
                <a:effectLst/>
              </a:rPr>
              <a:t> , </a:t>
            </a:r>
            <a:r>
              <a:rPr lang="sl-SI" dirty="0">
                <a:solidFill>
                  <a:srgbClr val="A52A2A"/>
                </a:solidFill>
                <a:effectLst/>
              </a:rPr>
              <a:t>"c"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set2 = {</a:t>
            </a:r>
            <a:r>
              <a:rPr lang="sl-SI" dirty="0">
                <a:solidFill>
                  <a:srgbClr val="FF0000"/>
                </a:solidFill>
                <a:effectLst/>
              </a:rPr>
              <a:t>1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2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FF0000"/>
                </a:solidFill>
                <a:effectLst/>
              </a:rPr>
              <a:t>3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set1.update(set2)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(set1)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Opomba: Funkciji </a:t>
            </a:r>
            <a:r>
              <a:rPr lang="sl-SI" dirty="0" err="1">
                <a:solidFill>
                  <a:srgbClr val="000000"/>
                </a:solidFill>
              </a:rPr>
              <a:t>union</a:t>
            </a:r>
            <a:r>
              <a:rPr lang="sl-SI" dirty="0">
                <a:solidFill>
                  <a:srgbClr val="000000"/>
                </a:solidFill>
              </a:rPr>
              <a:t>() in </a:t>
            </a:r>
            <a:r>
              <a:rPr lang="sl-SI" dirty="0" err="1">
                <a:solidFill>
                  <a:srgbClr val="000000"/>
                </a:solidFill>
              </a:rPr>
              <a:t>update</a:t>
            </a:r>
            <a:r>
              <a:rPr lang="sl-SI" dirty="0">
                <a:solidFill>
                  <a:srgbClr val="000000"/>
                </a:solidFill>
              </a:rPr>
              <a:t>() izključita vse podvojene elemente.</a:t>
            </a:r>
          </a:p>
        </p:txBody>
      </p:sp>
    </p:spTree>
    <p:extLst>
      <p:ext uri="{BB962C8B-B14F-4D97-AF65-F5344CB8AC3E}">
        <p14:creationId xmlns:p14="http://schemas.microsoft.com/office/powerpoint/2010/main" val="197430005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Združite dva </a:t>
            </a:r>
            <a:r>
              <a:rPr lang="sl-SI" b="1" dirty="0" err="1">
                <a:solidFill>
                  <a:srgbClr val="FF0000"/>
                </a:solidFill>
              </a:rPr>
              <a:t>sets</a:t>
            </a:r>
            <a:r>
              <a:rPr lang="sl-SI" b="1" dirty="0">
                <a:solidFill>
                  <a:srgbClr val="FF0000"/>
                </a:solidFill>
              </a:rPr>
              <a:t>-a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intersection_update</a:t>
            </a:r>
            <a:r>
              <a:rPr lang="sl-SI" dirty="0">
                <a:solidFill>
                  <a:srgbClr val="000000"/>
                </a:solidFill>
              </a:rPr>
              <a:t>() ohrani samo elemente, ki so prisotni v obeh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Ohranite predmete, ki obstajajo tako v set x kot v set y: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y = {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google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microsoft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x.intersection_update</a:t>
            </a:r>
            <a:r>
              <a:rPr lang="sl-SI" dirty="0">
                <a:solidFill>
                  <a:srgbClr val="000000"/>
                </a:solidFill>
                <a:effectLst/>
              </a:rPr>
              <a:t>(y)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(x)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intersection_update</a:t>
            </a:r>
            <a:r>
              <a:rPr lang="sl-SI" dirty="0">
                <a:solidFill>
                  <a:srgbClr val="000000"/>
                </a:solidFill>
              </a:rPr>
              <a:t>() vrne nov set, ki vsebuje samo elemente, ki so prisotni v obeh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544517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Združite dva </a:t>
            </a:r>
            <a:r>
              <a:rPr lang="sl-SI" b="1" dirty="0" err="1">
                <a:solidFill>
                  <a:srgbClr val="FF0000"/>
                </a:solidFill>
              </a:rPr>
              <a:t>sets</a:t>
            </a:r>
            <a:r>
              <a:rPr lang="sl-SI" b="1" dirty="0">
                <a:solidFill>
                  <a:srgbClr val="FF0000"/>
                </a:solidFill>
              </a:rPr>
              <a:t>-a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symmetric_difference_update</a:t>
            </a:r>
            <a:r>
              <a:rPr lang="sl-SI" dirty="0">
                <a:solidFill>
                  <a:srgbClr val="000000"/>
                </a:solidFill>
              </a:rPr>
              <a:t>() ohrani samo elemente, ki NISO prisotni v obeh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Primer: Predmete, ki jih ni v obeh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, obdržite: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 = {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"banana"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visnja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y = {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google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microsoft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 </a:t>
            </a:r>
            <a:r>
              <a:rPr lang="sl-SI" dirty="0">
                <a:solidFill>
                  <a:srgbClr val="A52A2A"/>
                </a:solidFill>
                <a:effectLst/>
              </a:rPr>
              <a:t>"jabolko"</a:t>
            </a: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x.symmetric_difference_update</a:t>
            </a:r>
            <a:r>
              <a:rPr lang="sl-SI" dirty="0">
                <a:solidFill>
                  <a:srgbClr val="000000"/>
                </a:solidFill>
                <a:effectLst/>
              </a:rPr>
              <a:t>(y)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(x) </a:t>
            </a:r>
            <a:r>
              <a:rPr lang="sl-SI" dirty="0">
                <a:solidFill>
                  <a:srgbClr val="008000"/>
                </a:solidFill>
              </a:rPr>
              <a:t>#jabolko ni zraven </a:t>
            </a:r>
          </a:p>
          <a:p>
            <a:pPr marL="0" indent="0">
              <a:buNone/>
            </a:pPr>
            <a:endParaRPr lang="sl-SI" dirty="0">
              <a:solidFill>
                <a:srgbClr val="008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symmetric_difference</a:t>
            </a:r>
            <a:r>
              <a:rPr lang="sl-SI" dirty="0">
                <a:solidFill>
                  <a:srgbClr val="000000"/>
                </a:solidFill>
              </a:rPr>
              <a:t>() vrne nov set, ki vsebuje samo elemente, ki NISO prisotni v obeh </a:t>
            </a:r>
            <a:r>
              <a:rPr lang="sl-SI" dirty="0" err="1">
                <a:solidFill>
                  <a:srgbClr val="000000"/>
                </a:solidFill>
              </a:rPr>
              <a:t>sets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1649853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Python</a:t>
            </a:r>
            <a:r>
              <a:rPr lang="sl-SI" b="1" dirty="0">
                <a:solidFill>
                  <a:srgbClr val="FF0000"/>
                </a:solidFill>
              </a:rPr>
              <a:t> </a:t>
            </a:r>
            <a:r>
              <a:rPr lang="sl-SI" b="1" dirty="0" err="1">
                <a:solidFill>
                  <a:srgbClr val="FF0000"/>
                </a:solidFill>
              </a:rPr>
              <a:t>Dictionaries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Slovarji se uporabljajo za shranjevanje podatkovnih vrednosti v parih </a:t>
            </a:r>
            <a:r>
              <a:rPr lang="sl-SI" dirty="0" err="1">
                <a:solidFill>
                  <a:srgbClr val="000000"/>
                </a:solidFill>
              </a:rPr>
              <a:t>ključ:vrednost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Slovar je zbirka, ki je urejena, spremenljiva in ne dopušča podvajanja.</a:t>
            </a:r>
          </a:p>
          <a:p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Od različice </a:t>
            </a:r>
            <a:r>
              <a:rPr lang="sl-SI" dirty="0" err="1">
                <a:solidFill>
                  <a:srgbClr val="000000"/>
                </a:solidFill>
              </a:rPr>
              <a:t>Python</a:t>
            </a:r>
            <a:r>
              <a:rPr lang="sl-SI" dirty="0">
                <a:solidFill>
                  <a:srgbClr val="000000"/>
                </a:solidFill>
              </a:rPr>
              <a:t> 3.7 so slovarji urejeni. V različici </a:t>
            </a:r>
            <a:r>
              <a:rPr lang="sl-SI" dirty="0" err="1">
                <a:solidFill>
                  <a:srgbClr val="000000"/>
                </a:solidFill>
              </a:rPr>
              <a:t>Python</a:t>
            </a:r>
            <a:r>
              <a:rPr lang="sl-SI" dirty="0">
                <a:solidFill>
                  <a:srgbClr val="000000"/>
                </a:solidFill>
              </a:rPr>
              <a:t> 3.6 in prejšnjih so slovarji neurejeni.</a:t>
            </a:r>
          </a:p>
          <a:p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Slovarji so zapisani v zavitih oklepajih in imajo ključe in vrednosti.</a:t>
            </a:r>
          </a:p>
        </p:txBody>
      </p:sp>
    </p:spTree>
    <p:extLst>
      <p:ext uri="{BB962C8B-B14F-4D97-AF65-F5344CB8AC3E}">
        <p14:creationId xmlns:p14="http://schemas.microsoft.com/office/powerpoint/2010/main" val="17577731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Ustvarite in izpišite slovar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Elementi slovarja so urejeni, spremenljivi in ne dopuščajo podvajanja.</a:t>
            </a:r>
          </a:p>
          <a:p>
            <a:r>
              <a:rPr lang="sl-SI" dirty="0">
                <a:solidFill>
                  <a:srgbClr val="000000"/>
                </a:solidFill>
              </a:rPr>
              <a:t>Elementi slovarja so predstavljeni v parih </a:t>
            </a:r>
            <a:r>
              <a:rPr lang="sl-SI" dirty="0" err="1">
                <a:solidFill>
                  <a:srgbClr val="000000"/>
                </a:solidFill>
              </a:rPr>
              <a:t>ključ:vrednost</a:t>
            </a:r>
            <a:r>
              <a:rPr lang="sl-SI" dirty="0">
                <a:solidFill>
                  <a:srgbClr val="000000"/>
                </a:solidFill>
              </a:rPr>
              <a:t> in nanje se lahko sklicujete z uporabo imena ključa.</a:t>
            </a:r>
          </a:p>
        </p:txBody>
      </p:sp>
    </p:spTree>
    <p:extLst>
      <p:ext uri="{BB962C8B-B14F-4D97-AF65-F5344CB8AC3E}">
        <p14:creationId xmlns:p14="http://schemas.microsoft.com/office/powerpoint/2010/main" val="10174472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Ustvarite in izpišite slovar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Primer: Izpiše vrednost "znamke" v slovarju: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35760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Ustvarite in izpišite slovar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  <a:effectLst/>
              </a:rPr>
              <a:t>Ko rečemo, da so slovarji urejeni, to pomeni, da imajo elementi določen vrstni red, ki se ne spreminja.</a:t>
            </a:r>
          </a:p>
          <a:p>
            <a:r>
              <a:rPr lang="sl-SI" dirty="0">
                <a:solidFill>
                  <a:srgbClr val="000000"/>
                </a:solidFill>
                <a:effectLst/>
              </a:rPr>
              <a:t>Neurejen pomeni, da predmeti nimajo določenega vrstnega reda in da se na predmet ne morete sklicevati z indeksom.</a:t>
            </a:r>
          </a:p>
          <a:p>
            <a:r>
              <a:rPr lang="sl-SI" dirty="0">
                <a:solidFill>
                  <a:srgbClr val="000000"/>
                </a:solidFill>
              </a:rPr>
              <a:t>Slovarji so spremenljivi, kar pomeni, da lahko po ustvarjenem slovarju spreminjamo, dodajamo ali odstranjujemo elemente.</a:t>
            </a: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13781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Ustvarite in izpišite slovar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V slovarjih ne moreta biti dva elementa z istim ključem.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  <a:effectLst/>
              </a:rPr>
              <a:t>Podvojene vrednosti prepišejo obstoječe vrednosti.</a:t>
            </a:r>
          </a:p>
          <a:p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 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sl-SI" dirty="0">
                <a:solidFill>
                  <a:srgbClr val="A52A2A"/>
                </a:solidFill>
                <a:effectLst/>
              </a:rPr>
              <a:t>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2020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  <a:r>
              <a:rPr lang="sl-SI" dirty="0">
                <a:solidFill>
                  <a:srgbClr val="008000"/>
                </a:solidFill>
              </a:rPr>
              <a:t>#prepiše se ta vrednost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02073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Ustvarite in izpišite slovar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Če želite ugotoviti, koliko elementov ima slovar, uporabite funkcijo len().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Izpiše število elementov v slovarju: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0000CD"/>
                </a:solidFill>
                <a:effectLst/>
              </a:rPr>
              <a:t>len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))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</a:p>
          <a:p>
            <a:r>
              <a:rPr lang="sl-SI" dirty="0"/>
              <a:t>Vrednosti v postavkah slovarja so lahko poljubne podatkovne vrste.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elektricen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0000CD"/>
                </a:solidFill>
                <a:effectLst/>
              </a:rPr>
              <a:t>False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barva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[</a:t>
            </a:r>
            <a:r>
              <a:rPr lang="en-US" dirty="0">
                <a:solidFill>
                  <a:srgbClr val="A52A2A"/>
                </a:solidFill>
                <a:effectLst/>
              </a:rPr>
              <a:t>"red"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"white"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>
                <a:solidFill>
                  <a:srgbClr val="A52A2A"/>
                </a:solidFill>
                <a:effectLst/>
              </a:rPr>
              <a:t>"blue"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CD"/>
                </a:solidFill>
                <a:effectLst/>
              </a:rPr>
              <a:t>print</a:t>
            </a:r>
            <a:r>
              <a:rPr lang="sl-SI" dirty="0"/>
              <a:t>(</a:t>
            </a:r>
            <a:r>
              <a:rPr lang="sl-SI" dirty="0" err="1"/>
              <a:t>mojseznam</a:t>
            </a:r>
            <a:r>
              <a:rPr lang="sl-SI" dirty="0"/>
              <a:t>)</a:t>
            </a:r>
          </a:p>
          <a:p>
            <a:endParaRPr lang="sl-SI" dirty="0"/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1746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Ustvarite in izpišite slovar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Z vidika </a:t>
            </a:r>
            <a:r>
              <a:rPr lang="sl-SI" dirty="0" err="1">
                <a:solidFill>
                  <a:srgbClr val="000000"/>
                </a:solidFill>
              </a:rPr>
              <a:t>Pythona</a:t>
            </a:r>
            <a:r>
              <a:rPr lang="sl-SI" dirty="0">
                <a:solidFill>
                  <a:srgbClr val="000000"/>
                </a:solidFill>
              </a:rPr>
              <a:t> so slovarji definirani kot objekti s podatkovnim tipom '</a:t>
            </a:r>
            <a:r>
              <a:rPr lang="sl-SI" dirty="0" err="1">
                <a:solidFill>
                  <a:srgbClr val="000000"/>
                </a:solidFill>
              </a:rPr>
              <a:t>dict</a:t>
            </a:r>
            <a:r>
              <a:rPr lang="sl-SI" dirty="0">
                <a:solidFill>
                  <a:srgbClr val="000000"/>
                </a:solidFill>
              </a:rPr>
              <a:t>‘.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en-US" dirty="0">
                <a:solidFill>
                  <a:srgbClr val="0000CD"/>
                </a:solidFill>
                <a:effectLst/>
              </a:rPr>
              <a:t>type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))</a:t>
            </a:r>
            <a:r>
              <a:rPr lang="sl-SI" dirty="0">
                <a:solidFill>
                  <a:srgbClr val="000000"/>
                </a:solidFill>
                <a:effectLst/>
              </a:rPr>
              <a:t> -&gt;</a:t>
            </a:r>
            <a:r>
              <a:rPr lang="sl-SI" dirty="0"/>
              <a:t> &lt;</a:t>
            </a:r>
            <a:r>
              <a:rPr lang="sl-SI" dirty="0" err="1"/>
              <a:t>class</a:t>
            </a:r>
            <a:r>
              <a:rPr lang="sl-SI" dirty="0"/>
              <a:t> '</a:t>
            </a:r>
            <a:r>
              <a:rPr lang="sl-SI" dirty="0" err="1"/>
              <a:t>dict</a:t>
            </a:r>
            <a:r>
              <a:rPr lang="sl-SI" dirty="0"/>
              <a:t>'&gt;</a:t>
            </a:r>
          </a:p>
          <a:p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3205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 do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Do elementov slovarja lahko dostopate tako, da se sklicujete na ime ključa v oglatih oklepajih.</a:t>
            </a:r>
          </a:p>
          <a:p>
            <a:r>
              <a:rPr lang="sl-SI" dirty="0">
                <a:solidFill>
                  <a:srgbClr val="000000"/>
                </a:solidFill>
              </a:rPr>
              <a:t>Primer: Pridobite vrednost ključa "model":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80334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 do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>
                <a:solidFill>
                  <a:srgbClr val="000000"/>
                </a:solidFill>
              </a:rPr>
              <a:t>Na voljo je tudi metoda get(), ki vam bo dala enak rezultat</a:t>
            </a:r>
            <a:r>
              <a:rPr lang="sl-SI" dirty="0">
                <a:solidFill>
                  <a:srgbClr val="000000"/>
                </a:solidFill>
              </a:rPr>
              <a:t>.</a:t>
            </a:r>
            <a:endParaRPr lang="sv-SE" dirty="0">
              <a:solidFill>
                <a:srgbClr val="000000"/>
              </a:solidFill>
            </a:endParaRPr>
          </a:p>
          <a:p>
            <a:r>
              <a:rPr lang="sv-SE" dirty="0">
                <a:solidFill>
                  <a:srgbClr val="000000"/>
                </a:solidFill>
              </a:rPr>
              <a:t>Primer</a:t>
            </a:r>
            <a:r>
              <a:rPr lang="sl-SI" dirty="0">
                <a:solidFill>
                  <a:srgbClr val="000000"/>
                </a:solidFill>
              </a:rPr>
              <a:t>: </a:t>
            </a:r>
            <a:r>
              <a:rPr lang="sv-SE" dirty="0">
                <a:solidFill>
                  <a:srgbClr val="000000"/>
                </a:solidFill>
              </a:rPr>
              <a:t>Pridobite vrednost ključa "model":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 =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mojseznam.get</a:t>
            </a:r>
            <a:r>
              <a:rPr lang="sl-SI" dirty="0">
                <a:solidFill>
                  <a:srgbClr val="000000"/>
                </a:solidFill>
                <a:effectLst/>
              </a:rPr>
              <a:t>(</a:t>
            </a:r>
            <a:r>
              <a:rPr lang="sl-SI" dirty="0">
                <a:solidFill>
                  <a:srgbClr val="A52A2A"/>
                </a:solidFill>
                <a:effectLst/>
              </a:rPr>
              <a:t>"model"</a:t>
            </a:r>
            <a:r>
              <a:rPr lang="sl-SI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keys</a:t>
            </a:r>
            <a:r>
              <a:rPr lang="sl-SI" dirty="0">
                <a:solidFill>
                  <a:srgbClr val="000000"/>
                </a:solidFill>
              </a:rPr>
              <a:t>() vrne seznam vseh ključev v slovarju.</a:t>
            </a:r>
          </a:p>
          <a:p>
            <a:r>
              <a:rPr lang="sl-SI" dirty="0">
                <a:solidFill>
                  <a:srgbClr val="000000"/>
                </a:solidFill>
              </a:rPr>
              <a:t>Primer: Pridobi seznam ključev: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x =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mojseznam.keys</a:t>
            </a:r>
            <a:r>
              <a:rPr lang="sl-SI" dirty="0">
                <a:solidFill>
                  <a:srgbClr val="000000"/>
                </a:solidFill>
                <a:effectLst/>
              </a:rPr>
              <a:t>()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66819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Dostop do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v-SE" dirty="0">
                <a:solidFill>
                  <a:srgbClr val="000000"/>
                </a:solidFill>
              </a:rPr>
              <a:t>Seznam ključev je pogled na slovar, kar pomeni, da se bodo vse spremembe v slovarju odražale v seznamu ključev.</a:t>
            </a:r>
          </a:p>
          <a:p>
            <a:r>
              <a:rPr lang="sv-SE" dirty="0">
                <a:solidFill>
                  <a:srgbClr val="000000"/>
                </a:solidFill>
              </a:rPr>
              <a:t>Primer</a:t>
            </a:r>
            <a:r>
              <a:rPr lang="sl-SI" dirty="0">
                <a:solidFill>
                  <a:srgbClr val="000000"/>
                </a:solidFill>
              </a:rPr>
              <a:t>: D</a:t>
            </a:r>
            <a:r>
              <a:rPr lang="sv-SE" dirty="0">
                <a:solidFill>
                  <a:srgbClr val="000000"/>
                </a:solidFill>
              </a:rPr>
              <a:t>odajte nov element v prvotni slovar in preverite, da se posodobi tudi seznam ključev: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avto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x = </a:t>
            </a:r>
            <a:r>
              <a:rPr lang="sl-SI" dirty="0">
                <a:solidFill>
                  <a:srgbClr val="000000"/>
                </a:solidFill>
                <a:effectLst/>
              </a:rPr>
              <a:t>avto</a:t>
            </a:r>
            <a:r>
              <a:rPr lang="en-US" dirty="0">
                <a:solidFill>
                  <a:srgbClr val="000000"/>
                </a:solidFill>
                <a:effectLst/>
              </a:rPr>
              <a:t>.keys()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 pred spremembo</a:t>
            </a:r>
            <a:br>
              <a:rPr lang="en-US" dirty="0">
                <a:solidFill>
                  <a:srgbClr val="008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avto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barva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bela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izpis po spremembi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56942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Sprememba vrednosti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>
                <a:solidFill>
                  <a:srgbClr val="000000"/>
                </a:solidFill>
              </a:rPr>
              <a:t>Vrednost določenega elementa lahko spremenite tako, da se sklicujete na ime njegovega ključa:</a:t>
            </a:r>
          </a:p>
          <a:p>
            <a:r>
              <a:rPr lang="sv-SE" dirty="0">
                <a:solidFill>
                  <a:srgbClr val="000000"/>
                </a:solidFill>
              </a:rPr>
              <a:t>Primer: "Leto" spremenite v 2018: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 = </a:t>
            </a:r>
            <a:r>
              <a:rPr lang="en-US" dirty="0">
                <a:solidFill>
                  <a:srgbClr val="FF0000"/>
                </a:solidFill>
                <a:effectLst/>
              </a:rPr>
              <a:t>2018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577192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Sprememba vrednosti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>
                <a:solidFill>
                  <a:srgbClr val="000000"/>
                </a:solidFill>
              </a:rPr>
              <a:t>Metoda update() posodobi slovar z elementi iz danega argumenta.</a:t>
            </a:r>
          </a:p>
          <a:p>
            <a:r>
              <a:rPr lang="sv-SE" dirty="0">
                <a:solidFill>
                  <a:srgbClr val="000000"/>
                </a:solidFill>
              </a:rPr>
              <a:t>Argument mora biti slovar ali iterabilni objekt s pari ključ:vrednost.</a:t>
            </a:r>
          </a:p>
          <a:p>
            <a:r>
              <a:rPr lang="sv-SE" dirty="0">
                <a:solidFill>
                  <a:srgbClr val="000000"/>
                </a:solidFill>
              </a:rPr>
              <a:t>Primer</a:t>
            </a:r>
            <a:r>
              <a:rPr lang="sl-SI" dirty="0">
                <a:solidFill>
                  <a:srgbClr val="000000"/>
                </a:solidFill>
              </a:rPr>
              <a:t>: </a:t>
            </a:r>
            <a:r>
              <a:rPr lang="sv-SE" dirty="0">
                <a:solidFill>
                  <a:srgbClr val="000000"/>
                </a:solidFill>
              </a:rPr>
              <a:t>Posodobite "leto</a:t>
            </a:r>
            <a:r>
              <a:rPr lang="sl-SI" dirty="0">
                <a:solidFill>
                  <a:srgbClr val="000000"/>
                </a:solidFill>
              </a:rPr>
              <a:t>_izdelave</a:t>
            </a:r>
            <a:r>
              <a:rPr lang="sv-SE" dirty="0">
                <a:solidFill>
                  <a:srgbClr val="000000"/>
                </a:solidFill>
              </a:rPr>
              <a:t>" avtomobila z uporabo metode update():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{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</a:t>
            </a:r>
            <a:r>
              <a:rPr lang="sl-SI" dirty="0">
                <a:solidFill>
                  <a:srgbClr val="A52A2A"/>
                </a:solidFill>
                <a:effectLst/>
              </a:rPr>
              <a:t>"znamka"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A52A2A"/>
                </a:solidFill>
                <a:effectLst/>
              </a:rPr>
              <a:t>"Ford"</a:t>
            </a:r>
            <a:r>
              <a:rPr lang="sl-SI" dirty="0">
                <a:solidFill>
                  <a:srgbClr val="000000"/>
                </a:solidFill>
                <a:effectLst/>
              </a:rPr>
              <a:t>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</a:t>
            </a:r>
            <a:r>
              <a:rPr lang="sl-SI" dirty="0">
                <a:solidFill>
                  <a:srgbClr val="A52A2A"/>
                </a:solidFill>
                <a:effectLst/>
              </a:rPr>
              <a:t>"model"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A52A2A"/>
                </a:solidFill>
                <a:effectLst/>
              </a:rPr>
              <a:t>"Mustang"</a:t>
            </a:r>
            <a:r>
              <a:rPr lang="sl-SI" dirty="0">
                <a:solidFill>
                  <a:srgbClr val="000000"/>
                </a:solidFill>
                <a:effectLst/>
              </a:rPr>
              <a:t>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FF0000"/>
                </a:solidFill>
                <a:effectLst/>
              </a:rPr>
              <a:t>1964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mojseznam.update</a:t>
            </a:r>
            <a:r>
              <a:rPr lang="sl-SI" dirty="0">
                <a:solidFill>
                  <a:srgbClr val="000000"/>
                </a:solidFill>
                <a:effectLst/>
              </a:rPr>
              <a:t>({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FF0000"/>
                </a:solidFill>
                <a:effectLst/>
              </a:rPr>
              <a:t>2020</a:t>
            </a:r>
            <a:r>
              <a:rPr lang="sl-SI" dirty="0">
                <a:solidFill>
                  <a:srgbClr val="000000"/>
                </a:solidFill>
                <a:effectLst/>
              </a:rPr>
              <a:t>})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sl-SI" dirty="0">
                <a:solidFill>
                  <a:srgbClr val="000000"/>
                </a:solidFill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</a:rPr>
              <a:t>)</a:t>
            </a:r>
          </a:p>
          <a:p>
            <a:pPr marL="0" indent="0">
              <a:buNone/>
            </a:pP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17040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>
                <a:solidFill>
                  <a:srgbClr val="000000"/>
                </a:solidFill>
              </a:rPr>
              <a:t>Dodajanje elementa v slovar poteka tako, da uporabite nov indeksni ključ in mu dodelite vrednost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barva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] =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rdeca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115033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Dodajanje elementov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>
                <a:solidFill>
                  <a:srgbClr val="000000"/>
                </a:solidFill>
              </a:rPr>
              <a:t>Metoda update() posodobi slovar z elementi iz danega argumenta. Če element ne obstaja, bo dodan.</a:t>
            </a:r>
          </a:p>
          <a:p>
            <a:r>
              <a:rPr lang="sv-SE" dirty="0">
                <a:solidFill>
                  <a:srgbClr val="000000"/>
                </a:solidFill>
              </a:rPr>
              <a:t>Argument mora biti slovar ali iterabilni objekt s pari ključ:vrednost.</a:t>
            </a:r>
          </a:p>
          <a:p>
            <a:r>
              <a:rPr lang="sv-SE" dirty="0">
                <a:solidFill>
                  <a:srgbClr val="000000"/>
                </a:solidFill>
              </a:rPr>
              <a:t>Primer</a:t>
            </a:r>
            <a:r>
              <a:rPr lang="sl-SI" dirty="0">
                <a:solidFill>
                  <a:srgbClr val="000000"/>
                </a:solidFill>
              </a:rPr>
              <a:t>: </a:t>
            </a:r>
            <a:r>
              <a:rPr lang="sv-SE" dirty="0">
                <a:solidFill>
                  <a:srgbClr val="000000"/>
                </a:solidFill>
              </a:rPr>
              <a:t>Dodajte barvni element v slovar z metodo update():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=</a:t>
            </a:r>
            <a:r>
              <a:rPr lang="sl-SI" dirty="0">
                <a:solidFill>
                  <a:srgbClr val="FF0000"/>
                </a:solidFill>
                <a:effectLst/>
              </a:rPr>
              <a:t> </a:t>
            </a:r>
            <a:r>
              <a:rPr lang="sl-SI" dirty="0">
                <a:solidFill>
                  <a:srgbClr val="000000"/>
                </a:solidFill>
                <a:effectLst/>
              </a:rPr>
              <a:t>{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</a:t>
            </a:r>
            <a:r>
              <a:rPr lang="sl-SI" dirty="0">
                <a:solidFill>
                  <a:srgbClr val="A52A2A"/>
                </a:solidFill>
                <a:effectLst/>
              </a:rPr>
              <a:t>"znamka"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A52A2A"/>
                </a:solidFill>
                <a:effectLst/>
              </a:rPr>
              <a:t>"Ford"</a:t>
            </a:r>
            <a:r>
              <a:rPr lang="sl-SI" dirty="0">
                <a:solidFill>
                  <a:srgbClr val="000000"/>
                </a:solidFill>
                <a:effectLst/>
              </a:rPr>
              <a:t>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</a:t>
            </a:r>
            <a:r>
              <a:rPr lang="sl-SI" dirty="0">
                <a:solidFill>
                  <a:srgbClr val="A52A2A"/>
                </a:solidFill>
                <a:effectLst/>
              </a:rPr>
              <a:t>"model"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A52A2A"/>
                </a:solidFill>
                <a:effectLst/>
              </a:rPr>
              <a:t>"Mustang"</a:t>
            </a:r>
            <a:r>
              <a:rPr lang="sl-SI" dirty="0">
                <a:solidFill>
                  <a:srgbClr val="000000"/>
                </a:solidFill>
                <a:effectLst/>
              </a:rPr>
              <a:t>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FF0000"/>
                </a:solidFill>
                <a:effectLst/>
              </a:rPr>
              <a:t>1964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mojseznam.update</a:t>
            </a:r>
            <a:r>
              <a:rPr lang="sl-SI" dirty="0">
                <a:solidFill>
                  <a:srgbClr val="000000"/>
                </a:solidFill>
                <a:effectLst/>
              </a:rPr>
              <a:t>({</a:t>
            </a:r>
            <a:r>
              <a:rPr lang="sl-SI" dirty="0">
                <a:solidFill>
                  <a:srgbClr val="A52A2A"/>
                </a:solidFill>
                <a:effectLst/>
              </a:rPr>
              <a:t>"barva"</a:t>
            </a:r>
            <a:r>
              <a:rPr lang="sl-SI" dirty="0">
                <a:solidFill>
                  <a:srgbClr val="000000"/>
                </a:solidFill>
                <a:effectLst/>
              </a:rPr>
              <a:t>: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rdeca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})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69608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>
                <a:solidFill>
                  <a:srgbClr val="FF0000"/>
                </a:solidFill>
              </a:rPr>
              <a:t>Odstranjevanje elementov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>
                <a:solidFill>
                  <a:srgbClr val="000000"/>
                </a:solidFill>
              </a:rPr>
              <a:t>Za odstranjevanje elementov iz slovarja obstaja več načinov</a:t>
            </a:r>
            <a:r>
              <a:rPr lang="sl-SI" dirty="0">
                <a:solidFill>
                  <a:srgbClr val="000000"/>
                </a:solidFill>
              </a:rPr>
              <a:t>.</a:t>
            </a:r>
            <a:endParaRPr lang="sv-SE" dirty="0">
              <a:solidFill>
                <a:srgbClr val="000000"/>
              </a:solidFill>
            </a:endParaRPr>
          </a:p>
          <a:p>
            <a:r>
              <a:rPr lang="sv-SE" dirty="0">
                <a:solidFill>
                  <a:srgbClr val="000000"/>
                </a:solidFill>
              </a:rPr>
              <a:t>Primer</a:t>
            </a:r>
            <a:r>
              <a:rPr lang="sl-SI" dirty="0">
                <a:solidFill>
                  <a:srgbClr val="000000"/>
                </a:solidFill>
              </a:rPr>
              <a:t>: </a:t>
            </a:r>
            <a:r>
              <a:rPr lang="sv-SE" dirty="0">
                <a:solidFill>
                  <a:srgbClr val="000000"/>
                </a:solidFill>
              </a:rPr>
              <a:t>Metoda pop() odstrani element z navedenim imenom ključa:</a:t>
            </a:r>
            <a:endParaRPr lang="sl-SI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.pop(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84664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>
                <a:solidFill>
                  <a:srgbClr val="FF0000"/>
                </a:solidFill>
              </a:rPr>
              <a:t>Odstranjevanje elementov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>
                <a:solidFill>
                  <a:srgbClr val="000000"/>
                </a:solidFill>
              </a:rPr>
              <a:t>Metoda popitem() odstrani zadnji vstavljeni element (v različicah pred 3.7 se namesto tega odstrani naključni element)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r>
              <a:rPr lang="en-US" dirty="0" err="1">
                <a:solidFill>
                  <a:srgbClr val="000000"/>
                </a:solidFill>
                <a:effectLst/>
              </a:rPr>
              <a:t>popitem</a:t>
            </a:r>
            <a:r>
              <a:rPr lang="en-US" dirty="0">
                <a:solidFill>
                  <a:srgbClr val="000000"/>
                </a:solidFill>
                <a:effectLst/>
              </a:rPr>
              <a:t>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8708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>
                <a:solidFill>
                  <a:srgbClr val="FF0000"/>
                </a:solidFill>
              </a:rPr>
              <a:t>Odstranjevanje elementov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>
                <a:solidFill>
                  <a:srgbClr val="000000"/>
                </a:solidFill>
              </a:rPr>
              <a:t>Ključna beseda del odstrani element z navedenim imenom ključa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del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]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552284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>
                <a:solidFill>
                  <a:srgbClr val="FF0000"/>
                </a:solidFill>
              </a:rPr>
              <a:t>Odstranjevanje elementov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S ključno besedo del lahko slovar tudi popolnoma izbrišete.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del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 </a:t>
            </a:r>
            <a:r>
              <a:rPr lang="en-US" dirty="0">
                <a:solidFill>
                  <a:srgbClr val="008000"/>
                </a:solidFill>
                <a:effectLst/>
              </a:rPr>
              <a:t>#</a:t>
            </a:r>
            <a:r>
              <a:rPr lang="sl-SI" dirty="0">
                <a:solidFill>
                  <a:srgbClr val="008000"/>
                </a:solidFill>
                <a:effectLst/>
              </a:rPr>
              <a:t>pojavi se napaka, saj seznam ne obstaja več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76693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>
                <a:solidFill>
                  <a:srgbClr val="FF0000"/>
                </a:solidFill>
              </a:rPr>
              <a:t>Odstranjevanje elementov</a:t>
            </a:r>
            <a:endParaRPr lang="sl-SI" b="1" dirty="0">
              <a:solidFill>
                <a:srgbClr val="FF0000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Metoda </a:t>
            </a:r>
            <a:r>
              <a:rPr lang="sl-SI" dirty="0" err="1">
                <a:solidFill>
                  <a:srgbClr val="000000"/>
                </a:solidFill>
              </a:rPr>
              <a:t>clear</a:t>
            </a:r>
            <a:r>
              <a:rPr lang="sl-SI" dirty="0">
                <a:solidFill>
                  <a:srgbClr val="000000"/>
                </a:solidFill>
              </a:rPr>
              <a:t>() izprazni slovar.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.clear()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25611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v slovarju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Po slovarju lahko krožite z zanko </a:t>
            </a:r>
            <a:r>
              <a:rPr lang="sl-SI" dirty="0" err="1">
                <a:solidFill>
                  <a:srgbClr val="000000"/>
                </a:solidFill>
              </a:rPr>
              <a:t>for</a:t>
            </a:r>
            <a:r>
              <a:rPr lang="sl-SI" dirty="0">
                <a:solidFill>
                  <a:srgbClr val="000000"/>
                </a:solidFill>
              </a:rPr>
              <a:t>.</a:t>
            </a:r>
          </a:p>
          <a:p>
            <a:r>
              <a:rPr lang="sl-SI" dirty="0">
                <a:solidFill>
                  <a:srgbClr val="000000"/>
                </a:solidFill>
              </a:rPr>
              <a:t>Pri kroženju skozi zanko v slovarju so vrnjena vrednost ključi slovarja, vendar obstajajo tudi metode za vračanje vrednosti.</a:t>
            </a:r>
          </a:p>
          <a:p>
            <a:r>
              <a:rPr lang="sl-SI" dirty="0">
                <a:solidFill>
                  <a:srgbClr val="000000"/>
                </a:solidFill>
              </a:rPr>
              <a:t>Primer1: Izpišite vsa imena ključev v slovarju, enega za drugim: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Primer2:Izpišite vse vrednosti v slovarju, eno za drugo: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sl-SI" dirty="0">
                <a:solidFill>
                  <a:srgbClr val="00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[x])</a:t>
            </a:r>
            <a:endParaRPr lang="sl-SI" dirty="0">
              <a:solidFill>
                <a:srgbClr val="000000"/>
              </a:solidFill>
            </a:endParaRPr>
          </a:p>
          <a:p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63912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Zanka v slovarju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Metodo </a:t>
            </a:r>
            <a:r>
              <a:rPr lang="sl-SI" dirty="0" err="1">
                <a:solidFill>
                  <a:srgbClr val="000000"/>
                </a:solidFill>
              </a:rPr>
              <a:t>values</a:t>
            </a:r>
            <a:r>
              <a:rPr lang="sl-SI" dirty="0">
                <a:solidFill>
                  <a:srgbClr val="000000"/>
                </a:solidFill>
              </a:rPr>
              <a:t>() lahko uporabite tudi za vračanje vrednosti slovarja.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.values():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</a:endParaRPr>
          </a:p>
          <a:p>
            <a:r>
              <a:rPr lang="sl-SI" dirty="0">
                <a:solidFill>
                  <a:srgbClr val="000000"/>
                </a:solidFill>
              </a:rPr>
              <a:t>Z metodo </a:t>
            </a:r>
            <a:r>
              <a:rPr lang="sl-SI" dirty="0" err="1">
                <a:solidFill>
                  <a:srgbClr val="000000"/>
                </a:solidFill>
              </a:rPr>
              <a:t>keys</a:t>
            </a:r>
            <a:r>
              <a:rPr lang="sl-SI" dirty="0">
                <a:solidFill>
                  <a:srgbClr val="000000"/>
                </a:solidFill>
              </a:rPr>
              <a:t>() lahko vrnete ključe slovarja: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.keys():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(x)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r>
              <a:rPr lang="sl-SI" dirty="0">
                <a:solidFill>
                  <a:srgbClr val="000000"/>
                </a:solidFill>
              </a:rPr>
              <a:t>Z metodo </a:t>
            </a:r>
            <a:r>
              <a:rPr lang="sl-SI" dirty="0" err="1">
                <a:solidFill>
                  <a:srgbClr val="000000"/>
                </a:solidFill>
              </a:rPr>
              <a:t>items</a:t>
            </a:r>
            <a:r>
              <a:rPr lang="sl-SI" dirty="0">
                <a:solidFill>
                  <a:srgbClr val="000000"/>
                </a:solidFill>
              </a:rPr>
              <a:t>() naredite zanko za ključe in vrednosti: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</a:rPr>
              <a:t> x, y </a:t>
            </a:r>
            <a:r>
              <a:rPr lang="en-US" dirty="0">
                <a:solidFill>
                  <a:srgbClr val="0000CD"/>
                </a:solidFill>
                <a:effectLst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.items():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(x, y)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09906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Kopiranje slovarja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Slovarja ne morete kopirati tako, da preprosto vnesete dict2 = dict1, ker: dict2 bo samo referenca na dict1 in spremembe, opravljene v dict1, bodo samodejno opravljene tudi v dict2.</a:t>
            </a:r>
          </a:p>
          <a:p>
            <a:r>
              <a:rPr lang="sl-SI" dirty="0">
                <a:solidFill>
                  <a:srgbClr val="000000"/>
                </a:solidFill>
              </a:rPr>
              <a:t>Obstajajo načini za kopiranje, eden od njih je uporaba vgrajene slovarske metode </a:t>
            </a:r>
            <a:r>
              <a:rPr lang="sl-SI" dirty="0" err="1">
                <a:solidFill>
                  <a:srgbClr val="000000"/>
                </a:solidFill>
              </a:rPr>
              <a:t>copy</a:t>
            </a:r>
            <a:r>
              <a:rPr lang="sl-SI" dirty="0">
                <a:solidFill>
                  <a:srgbClr val="000000"/>
                </a:solidFill>
              </a:rPr>
              <a:t>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Naredite kopijo slovarja z metodo </a:t>
            </a:r>
            <a:r>
              <a:rPr lang="sl-SI" dirty="0" err="1">
                <a:solidFill>
                  <a:srgbClr val="000000"/>
                </a:solidFill>
              </a:rPr>
              <a:t>copy</a:t>
            </a:r>
            <a:r>
              <a:rPr lang="sl-SI" dirty="0">
                <a:solidFill>
                  <a:srgbClr val="000000"/>
                </a:solidFill>
              </a:rPr>
              <a:t>():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.copy()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57188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>
                <a:solidFill>
                  <a:srgbClr val="FF0000"/>
                </a:solidFill>
              </a:rPr>
              <a:t>Kopiranje slovarja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rgbClr val="000000"/>
                </a:solidFill>
              </a:rPr>
              <a:t>Drug način za izdelavo kopije je uporaba vgrajene funkcije </a:t>
            </a:r>
            <a:r>
              <a:rPr lang="sl-SI" dirty="0" err="1">
                <a:solidFill>
                  <a:srgbClr val="000000"/>
                </a:solidFill>
              </a:rPr>
              <a:t>dict</a:t>
            </a:r>
            <a:r>
              <a:rPr lang="sl-SI" dirty="0">
                <a:solidFill>
                  <a:srgbClr val="000000"/>
                </a:solidFill>
              </a:rPr>
              <a:t>().</a:t>
            </a:r>
          </a:p>
          <a:p>
            <a:r>
              <a:rPr lang="sl-SI" dirty="0">
                <a:solidFill>
                  <a:srgbClr val="000000"/>
                </a:solidFill>
              </a:rPr>
              <a:t>Primer: S funkcijo </a:t>
            </a:r>
            <a:r>
              <a:rPr lang="sl-SI" dirty="0" err="1">
                <a:solidFill>
                  <a:srgbClr val="000000"/>
                </a:solidFill>
              </a:rPr>
              <a:t>dict</a:t>
            </a:r>
            <a:r>
              <a:rPr lang="sl-SI" dirty="0">
                <a:solidFill>
                  <a:srgbClr val="000000"/>
                </a:solidFill>
              </a:rPr>
              <a:t>() naredite kopijo slovarja: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 =</a:t>
            </a:r>
            <a:r>
              <a:rPr lang="en-US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</a:rPr>
              <a:t>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znamka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"Ford"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"model"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A52A2A"/>
                </a:solidFill>
                <a:effectLst/>
              </a:rPr>
              <a:t>"Mustang"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 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leto_izdelave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: </a:t>
            </a:r>
            <a:r>
              <a:rPr lang="en-US" dirty="0">
                <a:solidFill>
                  <a:srgbClr val="FF0000"/>
                </a:solidFill>
                <a:effectLst/>
              </a:rPr>
              <a:t>1964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 = </a:t>
            </a:r>
            <a:r>
              <a:rPr lang="en-US" dirty="0" err="1">
                <a:solidFill>
                  <a:srgbClr val="0000CD"/>
                </a:solidFill>
                <a:effectLst/>
              </a:rPr>
              <a:t>dict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mojseznam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en-US" dirty="0">
                <a:solidFill>
                  <a:srgbClr val="000000"/>
                </a:solidFill>
                <a:effectLst/>
              </a:rPr>
              <a:t>(</a:t>
            </a:r>
            <a:r>
              <a:rPr lang="sl-SI" dirty="0" err="1">
                <a:solidFill>
                  <a:srgbClr val="000000"/>
                </a:solidFill>
                <a:effectLst/>
              </a:rPr>
              <a:t>nov_seznam</a:t>
            </a:r>
            <a:r>
              <a:rPr lang="en-US" dirty="0">
                <a:solidFill>
                  <a:srgbClr val="000000"/>
                </a:solidFill>
                <a:effectLst/>
              </a:rPr>
              <a:t>)</a:t>
            </a:r>
            <a:endParaRPr lang="sl-SI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13789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Vgnezdeni</a:t>
            </a:r>
            <a:r>
              <a:rPr lang="sl-SI" b="1" dirty="0">
                <a:solidFill>
                  <a:srgbClr val="FF0000"/>
                </a:solidFill>
              </a:rPr>
              <a:t> slovarji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Slovar lahko vsebuje slovarje, kar se imenuje </a:t>
            </a:r>
            <a:r>
              <a:rPr lang="sl-SI" dirty="0" err="1">
                <a:solidFill>
                  <a:srgbClr val="000000"/>
                </a:solidFill>
              </a:rPr>
              <a:t>vgnezdeni</a:t>
            </a:r>
            <a:r>
              <a:rPr lang="sl-SI" dirty="0">
                <a:solidFill>
                  <a:srgbClr val="000000"/>
                </a:solidFill>
              </a:rPr>
              <a:t> slovarji.</a:t>
            </a:r>
          </a:p>
          <a:p>
            <a:r>
              <a:rPr lang="sl-SI" dirty="0">
                <a:solidFill>
                  <a:srgbClr val="000000"/>
                </a:solidFill>
              </a:rPr>
              <a:t>Primer: Ustvarite slovar, ki vsebuje tri slovarje:</a:t>
            </a:r>
          </a:p>
          <a:p>
            <a:pPr marL="0" indent="0">
              <a:buNone/>
            </a:pPr>
            <a:r>
              <a:rPr lang="sl-SI" dirty="0" err="1">
                <a:solidFill>
                  <a:srgbClr val="000000"/>
                </a:solidFill>
                <a:effectLst/>
              </a:rPr>
              <a:t>mojadruzina</a:t>
            </a:r>
            <a:r>
              <a:rPr lang="sl-SI" dirty="0">
                <a:solidFill>
                  <a:srgbClr val="000000"/>
                </a:solidFill>
                <a:effectLst/>
              </a:rPr>
              <a:t> = {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>
                <a:solidFill>
                  <a:srgbClr val="A52A2A"/>
                </a:solidFill>
                <a:effectLst/>
              </a:rPr>
              <a:t>"otrok1"</a:t>
            </a:r>
            <a:r>
              <a:rPr lang="sl-SI" dirty="0">
                <a:solidFill>
                  <a:srgbClr val="000000"/>
                </a:solidFill>
                <a:effectLst/>
              </a:rPr>
              <a:t> : {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>
                <a:solidFill>
                  <a:srgbClr val="A52A2A"/>
                </a:solidFill>
                <a:effectLst/>
              </a:rPr>
              <a:t>"ime"</a:t>
            </a:r>
            <a:r>
              <a:rPr lang="sl-SI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Blaz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leto_rojstva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FF0000"/>
                </a:solidFill>
                <a:effectLst/>
              </a:rPr>
              <a:t>2010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},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>
                <a:solidFill>
                  <a:srgbClr val="A52A2A"/>
                </a:solidFill>
                <a:effectLst/>
              </a:rPr>
              <a:t>"otrok2"</a:t>
            </a:r>
            <a:r>
              <a:rPr lang="sl-SI" dirty="0">
                <a:solidFill>
                  <a:srgbClr val="000000"/>
                </a:solidFill>
                <a:effectLst/>
              </a:rPr>
              <a:t> : {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>
                <a:solidFill>
                  <a:srgbClr val="A52A2A"/>
                </a:solidFill>
                <a:effectLst/>
              </a:rPr>
              <a:t>"ime"</a:t>
            </a:r>
            <a:r>
              <a:rPr lang="sl-SI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A52A2A"/>
                </a:solidFill>
                <a:effectLst/>
              </a:rPr>
              <a:t>"Jaka"</a:t>
            </a:r>
            <a:r>
              <a:rPr lang="sl-SI" dirty="0">
                <a:solidFill>
                  <a:srgbClr val="000000"/>
                </a:solidFill>
                <a:effectLst/>
              </a:rPr>
              <a:t>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leto_rojstva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FF0000"/>
                </a:solidFill>
                <a:effectLst/>
              </a:rPr>
              <a:t>2007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},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</a:t>
            </a:r>
            <a:r>
              <a:rPr lang="sl-SI" dirty="0">
                <a:solidFill>
                  <a:srgbClr val="A52A2A"/>
                </a:solidFill>
                <a:effectLst/>
              </a:rPr>
              <a:t>"otrok3"</a:t>
            </a:r>
            <a:r>
              <a:rPr lang="sl-SI" dirty="0">
                <a:solidFill>
                  <a:srgbClr val="000000"/>
                </a:solidFill>
                <a:effectLst/>
              </a:rPr>
              <a:t> : {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>
                <a:solidFill>
                  <a:srgbClr val="A52A2A"/>
                </a:solidFill>
                <a:effectLst/>
              </a:rPr>
              <a:t>"ime"</a:t>
            </a:r>
            <a:r>
              <a:rPr lang="sl-SI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A52A2A"/>
                </a:solidFill>
                <a:effectLst/>
              </a:rPr>
              <a:t>"Luka"</a:t>
            </a:r>
            <a:r>
              <a:rPr lang="sl-SI" dirty="0">
                <a:solidFill>
                  <a:srgbClr val="000000"/>
                </a:solidFill>
                <a:effectLst/>
              </a:rPr>
              <a:t>,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   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leto_rojstva</a:t>
            </a:r>
            <a:r>
              <a:rPr lang="sl-SI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FF0000"/>
                </a:solidFill>
                <a:effectLst/>
              </a:rPr>
              <a:t>2011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  }</a:t>
            </a:r>
            <a:br>
              <a:rPr lang="sl-SI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sl-SI" dirty="0"/>
              <a:t>(</a:t>
            </a:r>
            <a:r>
              <a:rPr lang="sl-SI" dirty="0" err="1"/>
              <a:t>mojadruzina</a:t>
            </a:r>
            <a:r>
              <a:rPr lang="sl-SI" dirty="0"/>
              <a:t>)</a:t>
            </a:r>
            <a:r>
              <a:rPr lang="sl-SI" dirty="0">
                <a:effectLst/>
              </a:rPr>
              <a:t>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63578619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7A1CF9-05DD-44E3-AD39-E0FB143C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sl-SI" b="1" dirty="0" err="1">
                <a:solidFill>
                  <a:srgbClr val="FF0000"/>
                </a:solidFill>
              </a:rPr>
              <a:t>Vgnezdeni</a:t>
            </a:r>
            <a:r>
              <a:rPr lang="sl-SI" b="1" dirty="0">
                <a:solidFill>
                  <a:srgbClr val="FF0000"/>
                </a:solidFill>
              </a:rPr>
              <a:t> slovarji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17E3FF2-C2AE-455A-A90C-171B8E11F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sl-SI" dirty="0">
                <a:solidFill>
                  <a:srgbClr val="000000"/>
                </a:solidFill>
              </a:rPr>
              <a:t>Ali če želite dodati tri slovarje v nov slovar:</a:t>
            </a:r>
          </a:p>
          <a:p>
            <a:r>
              <a:rPr lang="sl-SI" dirty="0">
                <a:solidFill>
                  <a:srgbClr val="000000"/>
                </a:solidFill>
              </a:rPr>
              <a:t>Primer: Ustvarite tri slovarje, nato pa ustvarite en slovar, ki bo vseboval druge tri slovarje:</a:t>
            </a:r>
          </a:p>
          <a:p>
            <a:pPr marL="0" indent="0">
              <a:buNone/>
            </a:pPr>
            <a:r>
              <a:rPr lang="sl-SI" dirty="0">
                <a:solidFill>
                  <a:srgbClr val="000000"/>
                </a:solidFill>
                <a:effectLst/>
              </a:rPr>
              <a:t>otrok1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ime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Blaz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leto_rojstva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en-US" dirty="0">
                <a:solidFill>
                  <a:srgbClr val="FF0000"/>
                </a:solidFill>
                <a:effectLst/>
              </a:rPr>
              <a:t>2004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otrok2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ime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Jaka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leto_rojstva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en-US" dirty="0">
                <a:solidFill>
                  <a:srgbClr val="FF0000"/>
                </a:solidFill>
                <a:effectLst/>
              </a:rPr>
              <a:t>2007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>
                <a:solidFill>
                  <a:srgbClr val="000000"/>
                </a:solidFill>
                <a:effectLst/>
              </a:rPr>
              <a:t>otrok3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ime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>
                <a:solidFill>
                  <a:srgbClr val="A52A2A"/>
                </a:solidFill>
                <a:effectLst/>
              </a:rPr>
              <a:t>Luka</a:t>
            </a:r>
            <a:r>
              <a:rPr lang="en-US">
                <a:solidFill>
                  <a:srgbClr val="A52A2A"/>
                </a:solidFill>
                <a:effectLst/>
              </a:rPr>
              <a:t>"</a:t>
            </a:r>
            <a:r>
              <a:rPr lang="en-US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 err="1">
                <a:solidFill>
                  <a:srgbClr val="A52A2A"/>
                </a:solidFill>
                <a:effectLst/>
              </a:rPr>
              <a:t>leto_rojstva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en-US" dirty="0">
                <a:solidFill>
                  <a:srgbClr val="FF0000"/>
                </a:solidFill>
                <a:effectLst/>
              </a:rPr>
              <a:t>2011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sl-SI" dirty="0" err="1">
                <a:solidFill>
                  <a:srgbClr val="000000"/>
                </a:solidFill>
                <a:effectLst/>
              </a:rPr>
              <a:t>mojadruzina</a:t>
            </a:r>
            <a:r>
              <a:rPr lang="en-US" dirty="0">
                <a:solidFill>
                  <a:srgbClr val="000000"/>
                </a:solidFill>
                <a:effectLst/>
              </a:rPr>
              <a:t> = {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otrok1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000000"/>
                </a:solidFill>
                <a:effectLst/>
              </a:rPr>
              <a:t>otrok1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otrok2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000000"/>
                </a:solidFill>
                <a:effectLst/>
              </a:rPr>
              <a:t>otrok2</a:t>
            </a:r>
            <a:r>
              <a:rPr lang="en-US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  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sl-SI" dirty="0">
                <a:solidFill>
                  <a:srgbClr val="A52A2A"/>
                </a:solidFill>
                <a:effectLst/>
              </a:rPr>
              <a:t>otrok3</a:t>
            </a:r>
            <a:r>
              <a:rPr lang="en-US" dirty="0">
                <a:solidFill>
                  <a:srgbClr val="A52A2A"/>
                </a:solidFill>
                <a:effectLst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</a:rPr>
              <a:t> : </a:t>
            </a:r>
            <a:r>
              <a:rPr lang="sl-SI" dirty="0">
                <a:solidFill>
                  <a:srgbClr val="000000"/>
                </a:solidFill>
                <a:effectLst/>
              </a:rPr>
              <a:t>otrok3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}</a:t>
            </a:r>
            <a:endParaRPr lang="sl-SI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effectLst/>
              </a:rPr>
              <a:t>print</a:t>
            </a:r>
            <a:r>
              <a:rPr lang="sl-SI" dirty="0"/>
              <a:t>(</a:t>
            </a:r>
            <a:r>
              <a:rPr lang="sl-SI" dirty="0" err="1"/>
              <a:t>mojadruzina</a:t>
            </a:r>
            <a:r>
              <a:rPr lang="sl-SI" dirty="0"/>
              <a:t>)</a:t>
            </a:r>
            <a:r>
              <a:rPr lang="sl-SI" dirty="0">
                <a:effectLst/>
              </a:rPr>
              <a:t> </a:t>
            </a:r>
            <a:endParaRPr lang="sl-SI" dirty="0"/>
          </a:p>
          <a:p>
            <a:pPr marL="0" indent="0">
              <a:buNone/>
            </a:pP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635175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13582</Words>
  <Application>Microsoft Office PowerPoint</Application>
  <PresentationFormat>Širokozaslonsko</PresentationFormat>
  <Paragraphs>1047</Paragraphs>
  <Slides>195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195</vt:i4>
      </vt:variant>
    </vt:vector>
  </HeadingPairs>
  <TitlesOfParts>
    <vt:vector size="200" baseType="lpstr">
      <vt:lpstr>Arial</vt:lpstr>
      <vt:lpstr>Calibri</vt:lpstr>
      <vt:lpstr>Calibri Light</vt:lpstr>
      <vt:lpstr>Wingdings</vt:lpstr>
      <vt:lpstr>Officeova tema</vt:lpstr>
      <vt:lpstr>Spoznajmo Python</vt:lpstr>
      <vt:lpstr>Kaj je Python?</vt:lpstr>
      <vt:lpstr>Kaj zna Python?</vt:lpstr>
      <vt:lpstr>Zakaj Python?</vt:lpstr>
      <vt:lpstr>Dobro je vedeti</vt:lpstr>
      <vt:lpstr>Sintaksa Pythona v primerjavi z drugimi programskimi jeziki</vt:lpstr>
      <vt:lpstr>Namestitev Pythona</vt:lpstr>
      <vt:lpstr>Namestitev Pythona</vt:lpstr>
      <vt:lpstr>Hitri začetek programa Python</vt:lpstr>
      <vt:lpstr>Hitri začetek programa Python</vt:lpstr>
      <vt:lpstr>Sintaksa Pythona</vt:lpstr>
      <vt:lpstr>Odstavek v programu Python</vt:lpstr>
      <vt:lpstr>Odstavek v programu Python</vt:lpstr>
      <vt:lpstr>Odstavek v programu Python</vt:lpstr>
      <vt:lpstr>Python komentarji</vt:lpstr>
      <vt:lpstr>Ustvarjanje komentarja</vt:lpstr>
      <vt:lpstr>Več vrstični komentarji</vt:lpstr>
      <vt:lpstr>Več vrstični komentarji</vt:lpstr>
      <vt:lpstr>Spremenljivke Pythona</vt:lpstr>
      <vt:lpstr>Spremenljivke Pythona</vt:lpstr>
      <vt:lpstr>Prirejanje tipa spremenljivk</vt:lpstr>
      <vt:lpstr>Prirejanje tipa spremenljivk</vt:lpstr>
      <vt:lpstr>Enojni ali dvojni narekovaji?</vt:lpstr>
      <vt:lpstr>Občutljivost na velikost črk</vt:lpstr>
      <vt:lpstr>Imena spremenljivk</vt:lpstr>
      <vt:lpstr>Imena spremenljivk</vt:lpstr>
      <vt:lpstr>Večbesedna imena spremenljivk</vt:lpstr>
      <vt:lpstr>Spremenljivke Python - pripisovanje več vrednosti</vt:lpstr>
      <vt:lpstr>Ena vrednost za več spremenljivk</vt:lpstr>
      <vt:lpstr>Razpakiranje zbirke</vt:lpstr>
      <vt:lpstr>Izhodni podatki</vt:lpstr>
      <vt:lpstr>Izhodni podatki</vt:lpstr>
      <vt:lpstr>Globalne spremenljivke</vt:lpstr>
      <vt:lpstr>Globalne spremenljivke</vt:lpstr>
      <vt:lpstr>Globalna ključna beseda</vt:lpstr>
      <vt:lpstr>Globalna ključna beseda</vt:lpstr>
      <vt:lpstr>Podatkovni tipi v Pythonu</vt:lpstr>
      <vt:lpstr>Podatkovni tipi v Pythonu</vt:lpstr>
      <vt:lpstr>Podatkovni tipi v Pythonu</vt:lpstr>
      <vt:lpstr>Nizi v Pythonu</vt:lpstr>
      <vt:lpstr>Več vrstični nizi</vt:lpstr>
      <vt:lpstr>Nizi so polja</vt:lpstr>
      <vt:lpstr>Zanka skozi niz</vt:lpstr>
      <vt:lpstr>Preverjanje niza</vt:lpstr>
      <vt:lpstr>Rezanje niza</vt:lpstr>
      <vt:lpstr>Rezanje niza</vt:lpstr>
      <vt:lpstr>Spreminjanje niza</vt:lpstr>
      <vt:lpstr>Spreminjanje niza</vt:lpstr>
      <vt:lpstr>Spreminjanje niza</vt:lpstr>
      <vt:lpstr>Združevanje nizov</vt:lpstr>
      <vt:lpstr>Oblika niza</vt:lpstr>
      <vt:lpstr>Oblika niza</vt:lpstr>
      <vt:lpstr>Oblika niza</vt:lpstr>
      <vt:lpstr>Operatorji v jeziku Python</vt:lpstr>
      <vt:lpstr>Aritmetični operatorji v programu Python</vt:lpstr>
      <vt:lpstr>Operatorji za pripisovanje v jeziku Python</vt:lpstr>
      <vt:lpstr>Primerjalni operatorji v jeziku Python</vt:lpstr>
      <vt:lpstr>Logični operatorji v programu Python</vt:lpstr>
      <vt:lpstr>Operatorji identitete v programu Python</vt:lpstr>
      <vt:lpstr>Operatorji članstva v programu Python</vt:lpstr>
      <vt:lpstr>Bitni operatorji v Pythonu</vt:lpstr>
      <vt:lpstr>Pogoji in stavki If v jeziku Python</vt:lpstr>
      <vt:lpstr>Pogoji in stavki If v jeziku Python</vt:lpstr>
      <vt:lpstr>Pogoji in stavki If v jeziku Python</vt:lpstr>
      <vt:lpstr>Elif</vt:lpstr>
      <vt:lpstr>Else</vt:lpstr>
      <vt:lpstr>Else</vt:lpstr>
      <vt:lpstr>Hitra uporaba stavka if</vt:lpstr>
      <vt:lpstr>AND</vt:lpstr>
      <vt:lpstr>OR</vt:lpstr>
      <vt:lpstr>Gnezdeni if</vt:lpstr>
      <vt:lpstr>Python zanke</vt:lpstr>
      <vt:lpstr>Python zanke (while)</vt:lpstr>
      <vt:lpstr>Python zanke (while in break)</vt:lpstr>
      <vt:lpstr>Python zanke (for)</vt:lpstr>
      <vt:lpstr>Python zanke (for)</vt:lpstr>
      <vt:lpstr>Zanka skozi niz in break</vt:lpstr>
      <vt:lpstr>Zanka skozi niz in break</vt:lpstr>
      <vt:lpstr>Ukaz continue</vt:lpstr>
      <vt:lpstr>Funkcija range()</vt:lpstr>
      <vt:lpstr>Funkcija range()</vt:lpstr>
      <vt:lpstr>Else v zanki for</vt:lpstr>
      <vt:lpstr>Else v zanki for</vt:lpstr>
      <vt:lpstr>Vgnezdene zanke</vt:lpstr>
      <vt:lpstr>Izjava pass</vt:lpstr>
      <vt:lpstr>Zbirke Python (polja)</vt:lpstr>
      <vt:lpstr>Zbirke Python (polja)</vt:lpstr>
      <vt:lpstr>Seznami v programu Python</vt:lpstr>
      <vt:lpstr>Seznami v programu Python (List)</vt:lpstr>
      <vt:lpstr>Seznami v programu Python (List)</vt:lpstr>
      <vt:lpstr>Seznami v programu Python (List)</vt:lpstr>
      <vt:lpstr>Elementi za dostop</vt:lpstr>
      <vt:lpstr>Negativno indeksiranje</vt:lpstr>
      <vt:lpstr>Obseg indeksov</vt:lpstr>
      <vt:lpstr>Obseg indeksov</vt:lpstr>
      <vt:lpstr>Preverjanje obstoja elementa</vt:lpstr>
      <vt:lpstr>Sprememba vrednosti elementa</vt:lpstr>
      <vt:lpstr>Spreminjanje razpona vrednosti elementov</vt:lpstr>
      <vt:lpstr>Spreminjanje razpona vrednosti elementov</vt:lpstr>
      <vt:lpstr>Spreminjanje razpona vrednosti elementov</vt:lpstr>
      <vt:lpstr>Vstavljanje elementov</vt:lpstr>
      <vt:lpstr>Dodajanje elementov</vt:lpstr>
      <vt:lpstr>Brisanje elementov</vt:lpstr>
      <vt:lpstr>Brisanje elementov</vt:lpstr>
      <vt:lpstr>Brisanje elementov</vt:lpstr>
      <vt:lpstr>Zanka skozi seznam (for)</vt:lpstr>
      <vt:lpstr>Zanka skozi seznam (for)</vt:lpstr>
      <vt:lpstr>Zanka skozi seznam (while)</vt:lpstr>
      <vt:lpstr>Razumevanje seznama</vt:lpstr>
      <vt:lpstr>Razumevanje seznama</vt:lpstr>
      <vt:lpstr>Razumevanje seznama (sintaksa)</vt:lpstr>
      <vt:lpstr>Razumevanje seznama (sintaksa)</vt:lpstr>
      <vt:lpstr>Razumevanje seznama (sintaksa)</vt:lpstr>
      <vt:lpstr>Razumevanje seznama (sintaksa)</vt:lpstr>
      <vt:lpstr>Abecedno-številčno razvrščanje seznama</vt:lpstr>
      <vt:lpstr>Abecedno-številčno razvrščanje seznama</vt:lpstr>
      <vt:lpstr>Abecedno-številčno razvrščanje seznama</vt:lpstr>
      <vt:lpstr>Abecedno-številčno razvrščanje seznama</vt:lpstr>
      <vt:lpstr>Abecedno-številčno razvrščanje seznama</vt:lpstr>
      <vt:lpstr>Abecedno-številčno razvrščanje seznama</vt:lpstr>
      <vt:lpstr>Abecedno-številčno razvrščanje seznama</vt:lpstr>
      <vt:lpstr>Kopiranje seznama</vt:lpstr>
      <vt:lpstr>Kopiranje seznama</vt:lpstr>
      <vt:lpstr>Združevanje seznamov</vt:lpstr>
      <vt:lpstr>Združevanje seznamov</vt:lpstr>
      <vt:lpstr>Združevanje seznamov</vt:lpstr>
      <vt:lpstr>Python Tuples</vt:lpstr>
      <vt:lpstr>Ustvari tuple</vt:lpstr>
      <vt:lpstr>Ustvari tuple</vt:lpstr>
      <vt:lpstr>Ustvari tuple</vt:lpstr>
      <vt:lpstr>Ustvari tuple</vt:lpstr>
      <vt:lpstr>Ustvari tuple</vt:lpstr>
      <vt:lpstr>Dostop do elementov tupla</vt:lpstr>
      <vt:lpstr>Dostop do elementov tupla</vt:lpstr>
      <vt:lpstr>Dostop do elementov tupla</vt:lpstr>
      <vt:lpstr>Dostop do elementov tupla</vt:lpstr>
      <vt:lpstr>Posodabljanje tuplov</vt:lpstr>
      <vt:lpstr>Dodajanje elementov</vt:lpstr>
      <vt:lpstr>Dodajanje elementov</vt:lpstr>
      <vt:lpstr>Dodajanje elementov</vt:lpstr>
      <vt:lpstr>Brisanje elementov</vt:lpstr>
      <vt:lpstr>Brisanje elementov</vt:lpstr>
      <vt:lpstr>Razpakiranje tupla</vt:lpstr>
      <vt:lpstr>Uporaba zvezdice (*)</vt:lpstr>
      <vt:lpstr>Uporaba zvezdice (*)</vt:lpstr>
      <vt:lpstr>Zanka skozi tuple</vt:lpstr>
      <vt:lpstr>Zanka skozi tuple</vt:lpstr>
      <vt:lpstr>Uporaba zanke While</vt:lpstr>
      <vt:lpstr>Združevanje dveh tuplov</vt:lpstr>
      <vt:lpstr>Združevanje dveh tuplov</vt:lpstr>
      <vt:lpstr>Metode tuplov</vt:lpstr>
      <vt:lpstr>Sets</vt:lpstr>
      <vt:lpstr>Sets</vt:lpstr>
      <vt:lpstr>Sets</vt:lpstr>
      <vt:lpstr>Sets</vt:lpstr>
      <vt:lpstr>Sets</vt:lpstr>
      <vt:lpstr>Dostopanje do elementov</vt:lpstr>
      <vt:lpstr>Dostopanje do elementov</vt:lpstr>
      <vt:lpstr>Dodajanje elementov</vt:lpstr>
      <vt:lpstr>Dodajanje elementov</vt:lpstr>
      <vt:lpstr>Dodajanje elementov</vt:lpstr>
      <vt:lpstr>Brisanje elementov</vt:lpstr>
      <vt:lpstr>Brisanje elementov</vt:lpstr>
      <vt:lpstr>Brisanje elementov</vt:lpstr>
      <vt:lpstr>Brisanje elementov</vt:lpstr>
      <vt:lpstr>Brisanje elementov</vt:lpstr>
      <vt:lpstr>Združite dva sets-a</vt:lpstr>
      <vt:lpstr>Združite dva sets-a</vt:lpstr>
      <vt:lpstr>Združite dva sets-a</vt:lpstr>
      <vt:lpstr>Združite dva sets-a</vt:lpstr>
      <vt:lpstr>Python Dictionaries</vt:lpstr>
      <vt:lpstr>Ustvarite in izpišite slovar</vt:lpstr>
      <vt:lpstr>Ustvarite in izpišite slovar</vt:lpstr>
      <vt:lpstr>Ustvarite in izpišite slovar</vt:lpstr>
      <vt:lpstr>Ustvarite in izpišite slovar</vt:lpstr>
      <vt:lpstr>Ustvarite in izpišite slovar</vt:lpstr>
      <vt:lpstr>Ustvarite in izpišite slovar</vt:lpstr>
      <vt:lpstr>Dostop do elementov</vt:lpstr>
      <vt:lpstr>Dostop do elementov</vt:lpstr>
      <vt:lpstr>Dostop do elementov</vt:lpstr>
      <vt:lpstr>Sprememba vrednosti</vt:lpstr>
      <vt:lpstr>Sprememba vrednosti</vt:lpstr>
      <vt:lpstr>Dodajanje elementov</vt:lpstr>
      <vt:lpstr>Dodajanje elementov</vt:lpstr>
      <vt:lpstr>Odstranjevanje elementov</vt:lpstr>
      <vt:lpstr>Odstranjevanje elementov</vt:lpstr>
      <vt:lpstr>Odstranjevanje elementov</vt:lpstr>
      <vt:lpstr>Odstranjevanje elementov</vt:lpstr>
      <vt:lpstr>Odstranjevanje elementov</vt:lpstr>
      <vt:lpstr>Zanka v slovarju</vt:lpstr>
      <vt:lpstr>Zanka v slovarju</vt:lpstr>
      <vt:lpstr>Kopiranje slovarja</vt:lpstr>
      <vt:lpstr>Kopiranje slovarja</vt:lpstr>
      <vt:lpstr>Vgnezdeni slovarji</vt:lpstr>
      <vt:lpstr>Vgnezdeni slovarji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Spoznajmo Python</dc:title>
  <dc:creator>Lubej Boštjan</dc:creator>
  <cp:lastModifiedBy>Svetelšek Patricija</cp:lastModifiedBy>
  <cp:revision>34</cp:revision>
  <dcterms:created xsi:type="dcterms:W3CDTF">2021-11-09T07:08:05Z</dcterms:created>
  <dcterms:modified xsi:type="dcterms:W3CDTF">2026-09-02T06:58:18Z</dcterms:modified>
</cp:coreProperties>
</file>